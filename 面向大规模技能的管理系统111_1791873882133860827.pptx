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sz="quarter" idx="3"/>
          </p:nvPr>
        </p:nvSpPr>
        <p:spPr/>
        <p:txBody>
          <a:bodyPr/>
          <a:lstStyle/>
          <a:p>
            <a:r>
              <a:t>【建议用时】：建议用时：40秒 (累计 00:40)</a:t>
            </a:r>
          </a:p>
          <a:p>
            <a:r>
              <a:t>【演讲提示】：【仪态提示】：站姿端正从容，语速平稳适中（约200字/分），开场向评委礼貌致意并点题，不讲虚话套话。</a:t>
            </a:r>
          </a:p>
          <a:p/>
          <a:p>
            <a:r>
              <a:t>【演讲逐字稿】：</a:t>
            </a:r>
          </a:p>
          <a:p>
            <a:r>
              <a:t>各位评委老师、专家们：大家上午好！我是本次项目的汇报人刘璨玮，我们项目组成员包括我和冯维</a:t>
            </a:r>
            <a:r>
              <a:rPr lang="zh-CN"/>
              <a:t>依</a:t>
            </a:r>
            <a:r>
              <a:t>同学。今天我汇报的课题是——《面向大规模技能（Agent Skill）的管理系统》。</a:t>
            </a:r>
          </a:p>
          <a:p/>
          <a:p>
            <a:r>
              <a:t>随着大模型智能体执行的任务越来越复杂，Agent 必须调用外部技能（Skill）来扩展能力。然而，当一个系统里的技能从几十个增长到成百上千甚至上万时，现有的平台在技能的注册、组织、检索、调度和更新上，都出现了严重的问题。</a:t>
            </a:r>
          </a:p>
          <a:p/>
          <a:p>
            <a:r>
              <a:t>针对赛题七的要求，我们从真实交互中的长对话失效和接口变更出发，设计了一套落地可靠的技能索引与治理系统，并完成了生产级系统的研发与真实数据集实测。下面我将逐一展开汇报。</a:t>
            </a:r>
          </a:p>
        </p:txBody>
      </p:sp>
      <p:sp>
        <p:nvSpPr>
          <p:cNvPr id="4" name="Slide Number Placeholder 3"/>
          <p:cNvSpPr>
            <a:spLocks noGrp="1"/>
          </p:cNvSpPr>
          <p:nvPr>
            <p:ph type="sldNum" sz="quarter" idx="5"/>
          </p:nvPr>
        </p:nvSpPr>
        <p:spPr/>
        <p:txBody>
          <a:body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42" name="Slide Image Placeholder 1"/>
          <p:cNvSpPr>
            <a:spLocks noGrp="1"/>
          </p:cNvSpPr>
          <p:nvPr>
            <p:ph type="sldImg" idx="2"/>
          </p:nvPr>
        </p:nvSpPr>
        <p:spPr/>
        <p:txBody>
          <a:bodyPr/>
          <a:p/>
        </p:txBody>
      </p:sp>
      <p:sp>
        <p:nvSpPr>
          <p:cNvPr id="43" name="Notes Placeholder 2"/>
          <p:cNvSpPr>
            <a:spLocks noGrp="1"/>
          </p:cNvSpPr>
          <p:nvPr>
            <p:ph type="body" sz="quarter" idx="3"/>
          </p:nvPr>
        </p:nvSpPr>
        <p:spPr/>
        <p:txBody>
          <a:bodyPr/>
          <a:lstStyle/>
          <a:p>
            <a:r>
              <a:t>【建议用时】：建议用时：50秒 (累计 01:30)</a:t>
            </a:r>
          </a:p>
          <a:p>
            <a:r>
              <a:t>【演讲提示】：【专业度展现】：精准点评 OpenAI 和 Claude 的优缺点，重点点出“数千技能下元数据撑爆 System Prompt”这个核心洞察。</a:t>
            </a:r>
          </a:p>
          <a:p/>
          <a:p>
            <a:r>
              <a:t>【演讲逐字稿】：</a:t>
            </a:r>
          </a:p>
          <a:p>
            <a:r>
              <a:t>首先请大家看我们对行业两大标杆——OpenAI 和 Claude 的技能管理调研。</a:t>
            </a:r>
          </a:p>
          <a:p>
            <a:r>
              <a:t>当前行业已经解决了技能的创建问题，但在超大规模技能库下，瓶颈非常明显：</a:t>
            </a:r>
          </a:p>
          <a:p/>
          <a:p>
            <a:r>
              <a:t>OpenAI 的管理方式主要是给人类管理员看的，通过标签和页面筛选来查找技能，模型自身缺乏自治调度机制；</a:t>
            </a:r>
          </a:p>
          <a:p>
            <a:r>
              <a:t>Claude 提出了非常优秀的“渐进式披露”理念，把长篇说明书推迟到使用时再加载。但大家深入看就会发现：它的第一级元数据——也就是每个技能的名字和简要描述，在开局时依然需要全量加载到大模型的系统提示词里！</a:t>
            </a:r>
          </a:p>
          <a:p/>
          <a:p>
            <a:r>
              <a:t>如果技能库里有 3000 个技能，光是这些名字和简介就会消耗大量的上下文空间，不仅成本高昂，模型更容易在海量选项中看花眼。</a:t>
            </a:r>
          </a:p>
          <a:p>
            <a:r>
              <a:t>这说明：单纯靠现有的目录和渐进式披露，无法承载真正的大规模生产级应用。</a:t>
            </a:r>
          </a:p>
        </p:txBody>
      </p:sp>
      <p:sp>
        <p:nvSpPr>
          <p:cNvPr id="44" name="Slide Number Placeholder 3"/>
          <p:cNvSpPr>
            <a:spLocks noGrp="1"/>
          </p:cNvSpPr>
          <p:nvPr>
            <p:ph type="sldNum" sz="quarter" idx="5"/>
          </p:nvPr>
        </p:nvSpPr>
        <p:spPr/>
        <p:txBody>
          <a:body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46" name="Slide Image Placeholder 1"/>
          <p:cNvSpPr>
            <a:spLocks noGrp="1"/>
          </p:cNvSpPr>
          <p:nvPr>
            <p:ph type="sldImg" idx="2"/>
          </p:nvPr>
        </p:nvSpPr>
        <p:spPr/>
        <p:txBody>
          <a:bodyPr/>
          <a:p/>
        </p:txBody>
      </p:sp>
      <p:sp>
        <p:nvSpPr>
          <p:cNvPr id="47" name="Notes Placeholder 2"/>
          <p:cNvSpPr>
            <a:spLocks noGrp="1"/>
          </p:cNvSpPr>
          <p:nvPr>
            <p:ph type="body" sz="quarter" idx="3"/>
          </p:nvPr>
        </p:nvSpPr>
        <p:spPr/>
        <p:txBody>
          <a:bodyPr/>
          <a:lstStyle/>
          <a:p>
            <a:r>
              <a:t>【建议用时】：建议用时：50秒 (累计 02:20)</a:t>
            </a:r>
          </a:p>
          <a:p>
            <a:r>
              <a:t>【演讲提示】：【问题一阐述】：按【问题、分析、解决方案】结构清晰表述，语速适中，举例直观。</a:t>
            </a:r>
          </a:p>
          <a:p/>
          <a:p>
            <a:r>
              <a:t>【演讲逐字稿】：</a:t>
            </a:r>
          </a:p>
          <a:p>
            <a:r>
              <a:t>在实际使用大模型时，我们经常遇到长对话答非所问的现象。我们深入排查后，提炼出了第一个核心问题：</a:t>
            </a:r>
          </a:p>
          <a:p/>
          <a:p>
            <a:r>
              <a:t>【问题表现】：比如用户前一句在问流程，后一句突然问概念，但模型却依然在回答上一轮的流程问题，出现了明显的时序滞后。</a:t>
            </a:r>
          </a:p>
          <a:p>
            <a:r>
              <a:t>【原因分析】：这是因为上一个技能的会话状态没有及时注销。大模型有着强烈的思维惯性，以为用户还在继续上一个任务，导致答非所问。如果每一轮都简单粗暴地把技能全清空，面对连续追问又会白白浪费算力。</a:t>
            </a:r>
          </a:p>
          <a:p>
            <a:r>
              <a:t>【解决方案】：我们设计了三道轻量级判定门禁：第一，检查新输入脱离上下文能否独立执行；第二，检查参数有没有修改关系；第三，判断旧技能是否超纲。一旦确认用户开启了新任务，系统立即强制打断并注销旧技能，彻底解决答非所问。</a:t>
            </a:r>
          </a:p>
        </p:txBody>
      </p:sp>
      <p:sp>
        <p:nvSpPr>
          <p:cNvPr id="48" name="Slide Number Placeholder 3"/>
          <p:cNvSpPr>
            <a:spLocks noGrp="1"/>
          </p:cNvSpPr>
          <p:nvPr>
            <p:ph type="sldNum" sz="quarter" idx="5"/>
          </p:nvPr>
        </p:nvSpPr>
        <p:spPr/>
        <p:txBody>
          <a:body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50" name="Slide Image Placeholder 1"/>
          <p:cNvSpPr>
            <a:spLocks noGrp="1"/>
          </p:cNvSpPr>
          <p:nvPr>
            <p:ph type="sldImg" idx="2"/>
          </p:nvPr>
        </p:nvSpPr>
        <p:spPr/>
        <p:txBody>
          <a:bodyPr/>
          <a:p/>
        </p:txBody>
      </p:sp>
      <p:sp>
        <p:nvSpPr>
          <p:cNvPr id="51" name="Notes Placeholder 2"/>
          <p:cNvSpPr>
            <a:spLocks noGrp="1"/>
          </p:cNvSpPr>
          <p:nvPr>
            <p:ph type="body" sz="quarter" idx="3"/>
          </p:nvPr>
        </p:nvSpPr>
        <p:spPr/>
        <p:txBody>
          <a:bodyPr/>
          <a:lstStyle/>
          <a:p>
            <a:r>
              <a:t>【建议用时】：建议用时：50秒 (累计 03:10)</a:t>
            </a:r>
          </a:p>
          <a:p>
            <a:r>
              <a:t>【演讲提示】：【问题二阐述】：点出“语义贪婪”和“0.90 门禁”，突出反面示例的巧妙作用。</a:t>
            </a:r>
          </a:p>
          <a:p/>
          <a:p>
            <a:r>
              <a:t>【演讲逐字稿】：</a:t>
            </a:r>
          </a:p>
          <a:p>
            <a:r>
              <a:t>随着技能越写越多，第二个大问题随之而来：技能冲突与语义踩踏。</a:t>
            </a:r>
          </a:p>
          <a:p/>
          <a:p>
            <a:r>
              <a:t>【问题表现】：技能库一大，名字和功能相似的技能不可避免地扎堆。很多写得很宽泛的通用技能，因为匹配范围大，长期霸占调用权；而真正专业的垂直技能反而永远轮不到调用。</a:t>
            </a:r>
          </a:p>
          <a:p>
            <a:r>
              <a:t>【原因分析】：这在学术上叫“语义贪婪”。因为很多技能在编写时没有设定能力边界，什么任务都能沾一点边，模型在检索时就会产生混淆。</a:t>
            </a:r>
          </a:p>
          <a:p>
            <a:r>
              <a:t>【解决方案】：我们的策略非常接地气：第一，在技能注册时进行向量相似度排他比对，超过 0.90 直接驳回，强制开发者说明自己和现有技能的区别；第二，强制引入反面示例，在说明中写清楚“什么情况下绝对别调我”；第三，在调度时强制分配 10% 的机会给冷门技能，防止马太效应。</a:t>
            </a:r>
          </a:p>
        </p:txBody>
      </p:sp>
      <p:sp>
        <p:nvSpPr>
          <p:cNvPr id="52" name="Slide Number Placeholder 3"/>
          <p:cNvSpPr>
            <a:spLocks noGrp="1"/>
          </p:cNvSpPr>
          <p:nvPr>
            <p:ph type="sldNum" sz="quarter" idx="5"/>
          </p:nvPr>
        </p:nvSpPr>
        <p:spPr/>
        <p:txBody>
          <a:body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54" name="Slide Image Placeholder 1"/>
          <p:cNvSpPr>
            <a:spLocks noGrp="1"/>
          </p:cNvSpPr>
          <p:nvPr>
            <p:ph type="sldImg" idx="2"/>
          </p:nvPr>
        </p:nvSpPr>
        <p:spPr/>
        <p:txBody>
          <a:bodyPr/>
          <a:p/>
        </p:txBody>
      </p:sp>
      <p:sp>
        <p:nvSpPr>
          <p:cNvPr id="55" name="Notes Placeholder 2"/>
          <p:cNvSpPr>
            <a:spLocks noGrp="1"/>
          </p:cNvSpPr>
          <p:nvPr>
            <p:ph type="body" sz="quarter" idx="3"/>
          </p:nvPr>
        </p:nvSpPr>
        <p:spPr/>
        <p:txBody>
          <a:bodyPr/>
          <a:lstStyle/>
          <a:p>
            <a:r>
              <a:t>【建议用时】：建议用时：50秒 (累计 04:00)</a:t>
            </a:r>
          </a:p>
          <a:p>
            <a:r>
              <a:t>【演讲提示】：【问题三阐述】：用“资深程序员查阅更新日志”的朴实比喻，通俗易懂地解释模式漂移自愈。</a:t>
            </a:r>
          </a:p>
          <a:p/>
          <a:p>
            <a:r>
              <a:t>【演讲逐字稿】：</a:t>
            </a:r>
          </a:p>
          <a:p>
            <a:r>
              <a:t>第三个核心问题是外部接口变化带来的模式漂移。</a:t>
            </a:r>
          </a:p>
          <a:p/>
          <a:p>
            <a:r>
              <a:t>【问题表现】：智能体的技能经常需要连接外部业务系统。外部系统的工程师升级了接口，比如把接口名从 query 换成了 search，或者改了参数名，但技能文档没有及时更新。Agent 就会按照老办法去调，结果频繁报 404，甚至胡乱编造参数引发幻觉。</a:t>
            </a:r>
          </a:p>
          <a:p>
            <a:r>
              <a:t>【原因分析】：系统缺乏对外部变更的主动感知能力，完全依赖人工手动维护，滞后性极大。</a:t>
            </a:r>
          </a:p>
          <a:p>
            <a:r>
              <a:t>【解决方案】：我们参考了资深工程师排查故障的真实经验：第一，在隔离沙箱中做定期的自动化预检；第二，为每个技能记录来源文档指针。当接口报错时，系统顺着指针去查最新的变更日志，大模型自动把新旧参数对应起来并在沙箱中验证，验证成功直接打上热补丁，实现无感自愈。</a:t>
            </a:r>
          </a:p>
        </p:txBody>
      </p:sp>
      <p:sp>
        <p:nvSpPr>
          <p:cNvPr id="56" name="Slide Number Placeholder 3"/>
          <p:cNvSpPr>
            <a:spLocks noGrp="1"/>
          </p:cNvSpPr>
          <p:nvPr>
            <p:ph type="sldNum" sz="quarter" idx="5"/>
          </p:nvPr>
        </p:nvSpPr>
        <p:spPr/>
        <p:txBody>
          <a:body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58" name="Slide Image Placeholder 1"/>
          <p:cNvSpPr>
            <a:spLocks noGrp="1"/>
          </p:cNvSpPr>
          <p:nvPr>
            <p:ph type="sldImg" idx="2"/>
          </p:nvPr>
        </p:nvSpPr>
        <p:spPr/>
        <p:txBody>
          <a:bodyPr/>
          <a:p/>
        </p:txBody>
      </p:sp>
      <p:sp>
        <p:nvSpPr>
          <p:cNvPr id="59" name="Notes Placeholder 2"/>
          <p:cNvSpPr>
            <a:spLocks noGrp="1"/>
          </p:cNvSpPr>
          <p:nvPr>
            <p:ph type="body" sz="quarter" idx="3"/>
          </p:nvPr>
        </p:nvSpPr>
        <p:spPr/>
        <p:txBody>
          <a:bodyPr/>
          <a:lstStyle/>
          <a:p>
            <a:r>
              <a:t>【建议用时】：建议用时：50秒 (累计 04:50)</a:t>
            </a:r>
          </a:p>
          <a:p>
            <a:r>
              <a:t>【演讲提示】：【表格导读】：对照 PPT 上的表 2，从开发者、使用者、管理者三个视角清晰展开。</a:t>
            </a:r>
          </a:p>
          <a:p/>
          <a:p>
            <a:r>
              <a:t>【演讲逐字稿】：</a:t>
            </a:r>
          </a:p>
          <a:p>
            <a:r>
              <a:t>基于上面三个核心问题，我们进行了严谨的需求梳理，整理成了论文中的表2和表3。</a:t>
            </a:r>
          </a:p>
          <a:p/>
          <a:p>
            <a:r>
              <a:t>我们的目标用户主要有三类：</a:t>
            </a:r>
          </a:p>
          <a:p>
            <a:r>
              <a:t>第一类是技能开发者，他们最需要的是知道自己的技能过没过期、接口还能不能用，新技能上线时有没有和别人撞车；</a:t>
            </a:r>
          </a:p>
          <a:p>
            <a:r>
              <a:t>第二类是 Agent 使用者，他们最看重的是稳定性，特别是在多轮长对话中，技能千万不能用着用着就错乱了；</a:t>
            </a:r>
          </a:p>
          <a:p>
            <a:r>
              <a:t>第三类是整个系统的管理者，面对成百上千的技能，必须有一份直观的全局健康风险报告。</a:t>
            </a:r>
          </a:p>
          <a:p/>
          <a:p>
            <a:r>
              <a:t>同时，在表3中，我们严格区分了“已调研确认的客观事实”与“技术场景下的待验证假设”，通过明确的边界来指导后续的产品规划，杜绝拍脑袋做产品。</a:t>
            </a:r>
          </a:p>
        </p:txBody>
      </p:sp>
      <p:sp>
        <p:nvSpPr>
          <p:cNvPr id="60" name="Slide Number Placeholder 3"/>
          <p:cNvSpPr>
            <a:spLocks noGrp="1"/>
          </p:cNvSpPr>
          <p:nvPr>
            <p:ph type="sldNum" sz="quarter" idx="5"/>
          </p:nvPr>
        </p:nvSpPr>
        <p:spPr/>
        <p:txBody>
          <a:body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62" name="Slide Image Placeholder 1"/>
          <p:cNvSpPr>
            <a:spLocks noGrp="1"/>
          </p:cNvSpPr>
          <p:nvPr>
            <p:ph type="sldImg" idx="2"/>
          </p:nvPr>
        </p:nvSpPr>
        <p:spPr/>
        <p:txBody>
          <a:bodyPr/>
          <a:p/>
        </p:txBody>
      </p:sp>
      <p:sp>
        <p:nvSpPr>
          <p:cNvPr id="63" name="Notes Placeholder 2"/>
          <p:cNvSpPr>
            <a:spLocks noGrp="1"/>
          </p:cNvSpPr>
          <p:nvPr>
            <p:ph type="body" sz="quarter" idx="3"/>
          </p:nvPr>
        </p:nvSpPr>
        <p:spPr/>
        <p:txBody>
          <a:bodyPr/>
          <a:lstStyle/>
          <a:p>
            <a:r>
              <a:t>【建议用时】：建议用时：50秒 (累计 05:40)</a:t>
            </a:r>
          </a:p>
          <a:p>
            <a:r>
              <a:t>【演讲提示】：【逻辑清晰】：突出需求剪裁的克制，解释为什么 Must 集中在这 5 项，展现成熟产品人思维。</a:t>
            </a:r>
          </a:p>
          <a:p/>
          <a:p>
            <a:r>
              <a:t>【演讲逐字稿】：</a:t>
            </a:r>
          </a:p>
          <a:p>
            <a:r>
              <a:t>有了需求之后，怎么决定第一版 MVP 做什么？我们严格采用了国际通行的 MoSCoW 模型进行优先级划分，如论文表4所示。</a:t>
            </a:r>
          </a:p>
          <a:p/>
          <a:p>
            <a:r>
              <a:t>我们非常克制地界定了 MVP 的核心：</a:t>
            </a:r>
          </a:p>
          <a:p>
            <a:r>
              <a:t>凡是属于“没它系统根本跑不起来”的功能，全部列为 Must 级核心：包括技能基础元数据检查、版本时间检查、API 连通性健康检查、长对话测试以及最终的风险报告。这五项构成了我们 MVP 的坚实骨架；</a:t>
            </a:r>
          </a:p>
          <a:p>
            <a:r>
              <a:t>而对于难度极高、涉及复杂调优的“技能冲突深度检测”，我们明确列为第二期的 Should 阶段；</a:t>
            </a:r>
          </a:p>
          <a:p>
            <a:r>
              <a:t>至于自动重写元数据、自动重训大模型，我们果断划入 Could 和 Won't，坚决不画大饼，确保第一版方案在工程上 100% 可落地、可交付。</a:t>
            </a:r>
          </a:p>
        </p:txBody>
      </p:sp>
      <p:sp>
        <p:nvSpPr>
          <p:cNvPr id="64" name="Slide Number Placeholder 3"/>
          <p:cNvSpPr>
            <a:spLocks noGrp="1"/>
          </p:cNvSpPr>
          <p:nvPr>
            <p:ph type="sldNum" sz="quarter" idx="5"/>
          </p:nvPr>
        </p:nvSpPr>
        <p:spPr/>
        <p:txBody>
          <a:body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66" name="Slide Image Placeholder 1"/>
          <p:cNvSpPr>
            <a:spLocks noGrp="1"/>
          </p:cNvSpPr>
          <p:nvPr>
            <p:ph type="sldImg" idx="2"/>
          </p:nvPr>
        </p:nvSpPr>
        <p:spPr/>
        <p:txBody>
          <a:bodyPr/>
          <a:p/>
        </p:txBody>
      </p:sp>
      <p:sp>
        <p:nvSpPr>
          <p:cNvPr id="67" name="Notes Placeholder 2"/>
          <p:cNvSpPr>
            <a:spLocks noGrp="1"/>
          </p:cNvSpPr>
          <p:nvPr>
            <p:ph type="body" sz="quarter" idx="3"/>
          </p:nvPr>
        </p:nvSpPr>
        <p:spPr/>
        <p:txBody>
          <a:bodyPr/>
          <a:lstStyle/>
          <a:p>
            <a:r>
              <a:t>【建议用时】：建议用时：45秒 (累计 06:25)</a:t>
            </a:r>
          </a:p>
          <a:p>
            <a:r>
              <a:t>【演讲提示】：【结构串联】：语调沉稳，快速串联起注册、组织、检索调度、更新治理四大版块。</a:t>
            </a:r>
          </a:p>
          <a:p/>
          <a:p>
            <a:r>
              <a:t>【演讲逐字稿】：</a:t>
            </a:r>
          </a:p>
          <a:p>
            <a:r>
              <a:t>根据前面的分析，我们设计出了本课题的核心产品方案——“AI 辅助索引结合人机协同治理框架”。</a:t>
            </a:r>
          </a:p>
          <a:p/>
          <a:p>
            <a:r>
              <a:t>整个系统涵盖了技能从上线到退役的完整生命周期，分为四个有机衔接的部分：</a:t>
            </a:r>
          </a:p>
          <a:p>
            <a:r>
              <a:t>第一部分是“技能注册”，把好入口关，防止垃圾和重复技能进门；</a:t>
            </a:r>
          </a:p>
          <a:p>
            <a:r>
              <a:t>第二部分是“技能组织”，构建科学的技能索引，按领域分门别类形成技能工会；</a:t>
            </a:r>
          </a:p>
          <a:p>
            <a:r>
              <a:t>第三部分是“技能检索与调度”，通过微名片快速粗筛，动态裁剪出只包含 4 个工具的干净沙箱给模型使用；</a:t>
            </a:r>
          </a:p>
          <a:p>
            <a:r>
              <a:t>第四部分是“技能更新与治理”，建立报错监控与人机协同自愈机制。</a:t>
            </a:r>
          </a:p>
          <a:p/>
          <a:p>
            <a:r>
              <a:t>下面我将按照【问题、分析、解决方案】的结构，逐一汇报这四个部分的具体设计。</a:t>
            </a:r>
          </a:p>
        </p:txBody>
      </p:sp>
      <p:sp>
        <p:nvSpPr>
          <p:cNvPr id="68" name="Slide Number Placeholder 3"/>
          <p:cNvSpPr>
            <a:spLocks noGrp="1"/>
          </p:cNvSpPr>
          <p:nvPr>
            <p:ph type="sldNum" sz="quarter" idx="5"/>
          </p:nvPr>
        </p:nvSpPr>
        <p:spPr/>
        <p:txBody>
          <a:body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70" name="Slide Image Placeholder 1"/>
          <p:cNvSpPr>
            <a:spLocks noGrp="1"/>
          </p:cNvSpPr>
          <p:nvPr>
            <p:ph type="sldImg" idx="2"/>
          </p:nvPr>
        </p:nvSpPr>
        <p:spPr/>
        <p:txBody>
          <a:bodyPr/>
          <a:p/>
        </p:txBody>
      </p:sp>
      <p:sp>
        <p:nvSpPr>
          <p:cNvPr id="71" name="Notes Placeholder 2"/>
          <p:cNvSpPr>
            <a:spLocks noGrp="1"/>
          </p:cNvSpPr>
          <p:nvPr>
            <p:ph type="body" sz="quarter" idx="3"/>
          </p:nvPr>
        </p:nvSpPr>
        <p:spPr/>
        <p:txBody>
          <a:bodyPr/>
          <a:lstStyle/>
          <a:p>
            <a:r>
              <a:t>【建议用时】：建议用时：50秒 (累计 07:15)</a:t>
            </a:r>
          </a:p>
          <a:p>
            <a:r>
              <a:t>【演讲提示】：【方案一汇报】：声音坚定，强调“0.90 门禁”和“反面示例”对于大模型选错的立竿见影效果。</a:t>
            </a:r>
          </a:p>
          <a:p/>
          <a:p>
            <a:r>
              <a:t>【演讲逐字稿】：</a:t>
            </a:r>
          </a:p>
          <a:p>
            <a:r>
              <a:t>首先来看第一部分：技能注册。</a:t>
            </a:r>
          </a:p>
          <a:p/>
          <a:p>
            <a:r>
              <a:t>【面临问题】：过去的系统对技能注册来者不拒，开发者提交什么就录入什么，导致库里很快充斥着大量高度相似的同质化技能。</a:t>
            </a:r>
          </a:p>
          <a:p>
            <a:r>
              <a:t>【根因分析】：根本原因在于注册端缺乏准入门禁，大家描述能力时都往大了写，缺少清晰的能力边界。</a:t>
            </a:r>
          </a:p>
          <a:p>
            <a:r>
              <a:t>【解决方案】：我们在注册端设立了“防碰撞排他门禁”：新技能提交时，系统自动与库内已有技能做向量比对。一旦相似度超过 0.90，直接拦截！开发者必须补充“消歧专有属性”，并强制写明“反面示例”，明确注明在什么场景下严禁调用自己。这招极大地提升了大模型的选对率。</a:t>
            </a:r>
          </a:p>
        </p:txBody>
      </p:sp>
      <p:sp>
        <p:nvSpPr>
          <p:cNvPr id="72" name="Slide Number Placeholder 3"/>
          <p:cNvSpPr>
            <a:spLocks noGrp="1"/>
          </p:cNvSpPr>
          <p:nvPr>
            <p:ph type="sldNum" sz="quarter" idx="5"/>
          </p:nvPr>
        </p:nvSpPr>
        <p:spPr/>
        <p:txBody>
          <a:body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Slide Image Placeholder 1"/>
          <p:cNvSpPr>
            <a:spLocks noGrp="1"/>
          </p:cNvSpPr>
          <p:nvPr>
            <p:ph type="sldImg" idx="2"/>
          </p:nvPr>
        </p:nvSpPr>
        <p:spPr/>
        <p:txBody>
          <a:bodyPr/>
          <a:p/>
        </p:txBody>
      </p:sp>
      <p:sp>
        <p:nvSpPr>
          <p:cNvPr id="7" name="Notes Placeholder 2"/>
          <p:cNvSpPr>
            <a:spLocks noGrp="1"/>
          </p:cNvSpPr>
          <p:nvPr>
            <p:ph type="body" sz="quarter" idx="3"/>
          </p:nvPr>
        </p:nvSpPr>
        <p:spPr/>
        <p:txBody>
          <a:bodyPr/>
          <a:lstStyle/>
          <a:p>
            <a:r>
              <a:t>【建议用时】：建议用时：50秒 (累计 08:05)</a:t>
            </a:r>
          </a:p>
          <a:p>
            <a:r>
              <a:t>【演讲提示】：【方案二汇报】：强调从“给人看的目录”转向“为模型构建高维索引”。</a:t>
            </a:r>
          </a:p>
          <a:p/>
          <a:p>
            <a:r>
              <a:t>【演讲逐字稿】：</a:t>
            </a:r>
          </a:p>
          <a:p>
            <a:r>
              <a:t>第二部分是：技能组织。</a:t>
            </a:r>
          </a:p>
          <a:p/>
          <a:p>
            <a:r>
              <a:t>【面临问题】：如果把几千个技能像大杂烩一样堆在同一个文件夹里，大模型每接一个任务都要在全库里大海捞针，不仅慢，而且极易出现选择混乱。</a:t>
            </a:r>
          </a:p>
          <a:p>
            <a:r>
              <a:t>【根因分析】：现有的分类方式都是按照人的习惯建文件夹，并不是为了大模型的高效检索设计的。</a:t>
            </a:r>
          </a:p>
          <a:p>
            <a:r>
              <a:t>【解决方案】：我们提出了“构建技能索引系统（Skill Index）”的核心设想：利用语义模型对技能进行多维度的“重叠聚类”，形成类似工会一样的“技能簇（Skill Pods）”。一个技能可以同时打上业务领域标签和工具类型标签。当用户提出任务时，模型首先定位到特定的技能工会，直接把候选范围缩小一个数量级，省时又省算力。</a:t>
            </a:r>
          </a:p>
        </p:txBody>
      </p:sp>
      <p:sp>
        <p:nvSpPr>
          <p:cNvPr id="8" name="Slide Number Placeholder 3"/>
          <p:cNvSpPr>
            <a:spLocks noGrp="1"/>
          </p:cNvSpPr>
          <p:nvPr>
            <p:ph type="sldNum" sz="quarter" idx="5"/>
          </p:nvPr>
        </p:nvSpPr>
        <p:spPr/>
        <p:txBody>
          <a:body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9" name=""/>
        <p:cNvGrpSpPr/>
        <p:nvPr/>
      </p:nvGrpSpPr>
      <p:grpSpPr>
        <a:xfrm>
          <a:off x="0" y="0"/>
          <a:ext cx="0" cy="0"/>
          <a:chOff x="0" y="0"/>
          <a:chExt cx="0" cy="0"/>
        </a:xfrm>
      </p:grpSpPr>
      <p:sp>
        <p:nvSpPr>
          <p:cNvPr id="10" name="Slide Image Placeholder 1"/>
          <p:cNvSpPr>
            <a:spLocks noGrp="1"/>
          </p:cNvSpPr>
          <p:nvPr>
            <p:ph type="sldImg" idx="2"/>
          </p:nvPr>
        </p:nvSpPr>
        <p:spPr/>
        <p:txBody>
          <a:bodyPr/>
          <a:p/>
        </p:txBody>
      </p:sp>
      <p:sp>
        <p:nvSpPr>
          <p:cNvPr id="11" name="Notes Placeholder 2"/>
          <p:cNvSpPr>
            <a:spLocks noGrp="1"/>
          </p:cNvSpPr>
          <p:nvPr>
            <p:ph type="body" sz="quarter" idx="3"/>
          </p:nvPr>
        </p:nvSpPr>
        <p:spPr/>
        <p:txBody>
          <a:bodyPr/>
          <a:lstStyle/>
          <a:p>
            <a:r>
              <a:t>【建议用时】：建议用时：55秒 (累计 09:00)</a:t>
            </a:r>
          </a:p>
          <a:p>
            <a:r>
              <a:t>【演讲提示】：【方案三汇报】：加重读出“Token 压缩 87.5%”和“Top-4 裁剪沙箱”，突出核心调度价值。</a:t>
            </a:r>
          </a:p>
          <a:p/>
          <a:p>
            <a:r>
              <a:t>【演讲逐字稿】：</a:t>
            </a:r>
          </a:p>
          <a:p>
            <a:r>
              <a:t>第三部分是：技能检索与调度。</a:t>
            </a:r>
          </a:p>
          <a:p/>
          <a:p>
            <a:r>
              <a:t>【面临问题】：传统做法是在模型面前一股脑摆上几十个工具声明，面对多轮复杂任务，模型非常容易被长长的工具列表分散注意力，出现误选。</a:t>
            </a:r>
          </a:p>
          <a:p>
            <a:r>
              <a:t>【根因分析】：大模型的注意力资源极其宝贵，无关工具的详细参数直接构成了上下文噪声。</a:t>
            </a:r>
          </a:p>
          <a:p>
            <a:r>
              <a:t>【解决方案】：我们设计了“双层微检索 + Top-4 裁剪沙箱”机制：</a:t>
            </a:r>
          </a:p>
          <a:p>
            <a:r>
              <a:t>平时大模型脑子里只有十几字极其简短的“微名片”；</a:t>
            </a:r>
          </a:p>
          <a:p>
            <a:r>
              <a:t>一旦识别到用户意图，系统只提取最相关的 Top-4 个工具的操作手册，装入临时沙箱交给模型使用。这样一来，输入 Token 消耗直接砍掉了 87.5%！</a:t>
            </a:r>
          </a:p>
          <a:p>
            <a:r>
              <a:t>同时，我们在调度中规定必须给冷门技能保留 10% 的探索机会，彻底杜绝优秀的小众技能被埋没。</a:t>
            </a:r>
          </a:p>
        </p:txBody>
      </p:sp>
      <p:sp>
        <p:nvSpPr>
          <p:cNvPr id="12" name="Slide Number Placeholder 3"/>
          <p:cNvSpPr>
            <a:spLocks noGrp="1"/>
          </p:cNvSpPr>
          <p:nvPr>
            <p:ph type="sldNum" sz="quarter" idx="5"/>
          </p:nvPr>
        </p:nvSpPr>
        <p:spPr/>
        <p:txBody>
          <a:body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Slide Image Placeholder 1"/>
          <p:cNvSpPr>
            <a:spLocks noGrp="1"/>
          </p:cNvSpPr>
          <p:nvPr>
            <p:ph type="sldImg" idx="2"/>
          </p:nvPr>
        </p:nvSpPr>
        <p:spPr/>
        <p:txBody>
          <a:bodyPr/>
          <a:p/>
        </p:txBody>
      </p:sp>
      <p:sp>
        <p:nvSpPr>
          <p:cNvPr id="15" name="Notes Placeholder 2"/>
          <p:cNvSpPr>
            <a:spLocks noGrp="1"/>
          </p:cNvSpPr>
          <p:nvPr>
            <p:ph type="body" sz="quarter" idx="3"/>
          </p:nvPr>
        </p:nvSpPr>
        <p:spPr/>
        <p:txBody>
          <a:bodyPr/>
          <a:lstStyle/>
          <a:p>
            <a:r>
              <a:t>【建议用时】：建议用时：50秒 (累计 09:50)</a:t>
            </a:r>
          </a:p>
          <a:p>
            <a:r>
              <a:t>【演讲提示】：【方案四汇报】：解释人机协同（HITL）的必要性，体现不盲信全自动的务实工程态度。</a:t>
            </a:r>
          </a:p>
          <a:p/>
          <a:p>
            <a:r>
              <a:t>【演讲逐字稿】：</a:t>
            </a:r>
          </a:p>
          <a:p>
            <a:r>
              <a:t>第四部分是：技能更新与治理。</a:t>
            </a:r>
          </a:p>
          <a:p/>
          <a:p>
            <a:r>
              <a:t>【面临问题】：外部接口一改，技能就瘫痪，人工维护往往慢半拍；但如果全交给大模型自动去改代码，又容易越改越乱。</a:t>
            </a:r>
          </a:p>
          <a:p>
            <a:r>
              <a:t>【根因分析】：缺乏科学的报错分级，也没有记录技能当初是从哪个 API 文档派生出来的。</a:t>
            </a:r>
          </a:p>
          <a:p>
            <a:r>
              <a:t>【解决方案】：我们提出了“人机协同治理（HITL）与溯源自愈”：</a:t>
            </a:r>
          </a:p>
          <a:p>
            <a:r>
              <a:t>首先，建立三级报错体系，精确把脉是技能坏了、分类错了还是选错工具了；</a:t>
            </a:r>
          </a:p>
          <a:p>
            <a:r>
              <a:t>其次，利用技能自带的“溯源指针”，当接口 404 时，大模型顺着指针查阅最新的更新日志，自动找出新接口并在沙箱中验证，通过后生成热补丁；</a:t>
            </a:r>
          </a:p>
          <a:p>
            <a:r>
              <a:t>最后，由管理员把关确认，既保证了自动化的高效，又守住了生产环境的安全底线。</a:t>
            </a:r>
          </a:p>
        </p:txBody>
      </p:sp>
      <p:sp>
        <p:nvSpPr>
          <p:cNvPr id="16" name="Slide Number Placeholder 3"/>
          <p:cNvSpPr>
            <a:spLocks noGrp="1"/>
          </p:cNvSpPr>
          <p:nvPr>
            <p:ph type="sldNum" sz="quarter" idx="5"/>
          </p:nvPr>
        </p:nvSpPr>
        <p:spPr/>
        <p:txBody>
          <a:body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8" name="Slide Image Placeholder 1"/>
          <p:cNvSpPr>
            <a:spLocks noGrp="1"/>
          </p:cNvSpPr>
          <p:nvPr>
            <p:ph type="sldImg" idx="2"/>
          </p:nvPr>
        </p:nvSpPr>
        <p:spPr/>
        <p:txBody>
          <a:bodyPr/>
          <a:p/>
        </p:txBody>
      </p:sp>
      <p:sp>
        <p:nvSpPr>
          <p:cNvPr id="19" name="Notes Placeholder 2"/>
          <p:cNvSpPr>
            <a:spLocks noGrp="1"/>
          </p:cNvSpPr>
          <p:nvPr>
            <p:ph type="body" sz="quarter" idx="3"/>
          </p:nvPr>
        </p:nvSpPr>
        <p:spPr/>
        <p:txBody>
          <a:bodyPr/>
          <a:lstStyle/>
          <a:p>
            <a:r>
              <a:t>【建议用时】：建议用时：65秒 (累计 10:55)</a:t>
            </a:r>
          </a:p>
          <a:p>
            <a:r>
              <a:t>【演讲提示】：【产品展示】：如数家珍地向评委介绍已上线的四个功能板块，突出与前面 MoSCoW Must 的一一对应。</a:t>
            </a:r>
          </a:p>
          <a:p/>
          <a:p>
            <a:r>
              <a:t>【演讲逐字稿】：</a:t>
            </a:r>
          </a:p>
          <a:p>
            <a:r>
              <a:t>光有理论方案不够，我们把上述设计完完整整做成了一套可运行的产品——MVP-Agent 系统。目前系统已经部署上线，欢迎大家直接访问体验。</a:t>
            </a:r>
          </a:p>
          <a:p/>
          <a:p>
            <a:r>
              <a:t>整个产品严格对照我们前面 MoSCoW 的 Must 级清单，打造了四大开箱即用的功能模块：</a:t>
            </a:r>
          </a:p>
          <a:p>
            <a:r>
              <a:t>第一个是“技能健康巡检”：管理员点一下按钮，系统就会自动对库里的所有技能进行体检，检查参数齐不齐、API 还能不能连通，秒级标出失效技能；</a:t>
            </a:r>
          </a:p>
          <a:p>
            <a:r>
              <a:t>第二个是“冲突与消歧中心”：开发者新增技能时，系统会实时给出相似度评分，若超标就会提醒其补充反面示例；</a:t>
            </a:r>
          </a:p>
          <a:p>
            <a:r>
              <a:t>第三个是“长对话压测实验室”：我们在前端把论文的实验环境做成了可视化测试台，大家可以自由调节对话轮次，亲眼观察模型在什么时候会选错工具；</a:t>
            </a:r>
          </a:p>
          <a:p>
            <a:r>
              <a:t>第四个是“自动化风险报告”：一键导出当前技能库的风险清单和维护建议。</a:t>
            </a:r>
          </a:p>
          <a:p>
            <a:r>
              <a:t>四大模块完全围绕真实痛点打造，操作简便直观。</a:t>
            </a:r>
          </a:p>
        </p:txBody>
      </p:sp>
      <p:sp>
        <p:nvSpPr>
          <p:cNvPr id="20" name="Slide Number Placeholder 3"/>
          <p:cNvSpPr>
            <a:spLocks noGrp="1"/>
          </p:cNvSpPr>
          <p:nvPr>
            <p:ph type="sldNum" sz="quarter" idx="5"/>
          </p:nvPr>
        </p:nvSpPr>
        <p:spPr/>
        <p:txBody>
          <a:body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22" name="Slide Image Placeholder 1"/>
          <p:cNvSpPr>
            <a:spLocks noGrp="1"/>
          </p:cNvSpPr>
          <p:nvPr>
            <p:ph type="sldImg" idx="2"/>
          </p:nvPr>
        </p:nvSpPr>
        <p:spPr/>
        <p:txBody>
          <a:bodyPr/>
          <a:p/>
        </p:txBody>
      </p:sp>
      <p:sp>
        <p:nvSpPr>
          <p:cNvPr id="23" name="Notes Placeholder 2"/>
          <p:cNvSpPr>
            <a:spLocks noGrp="1"/>
          </p:cNvSpPr>
          <p:nvPr>
            <p:ph type="body" sz="quarter" idx="3"/>
          </p:nvPr>
        </p:nvSpPr>
        <p:spPr/>
        <p:txBody>
          <a:bodyPr/>
          <a:lstStyle/>
          <a:p>
            <a:r>
              <a:t>【建议用时】：建议用时：50秒 (累计 11:45)</a:t>
            </a:r>
          </a:p>
          <a:p>
            <a:r>
              <a:t>【演讲提示】：【实验导入】：语气转入严谨学术风，重点说明对照组（79全量工具）和实验组（Top-4沙箱）的严控变量设置。</a:t>
            </a:r>
          </a:p>
          <a:p/>
          <a:p>
            <a:r>
              <a:t>【演讲逐字稿】：</a:t>
            </a:r>
          </a:p>
          <a:p>
            <a:r>
              <a:t>为了用事实说话，我们进行了严密的对照实验。</a:t>
            </a:r>
          </a:p>
          <a:p>
            <a:r>
              <a:t>我们以业界权威的 GAIA 智能体评测集为基础，设计了包含 1 到 20 轮的真实长对话任务，模拟用户反复追加要求、修改条件的真实场景；</a:t>
            </a:r>
          </a:p>
          <a:p/>
          <a:p>
            <a:r>
              <a:t>实验严格控制变量：</a:t>
            </a:r>
          </a:p>
          <a:p>
            <a:r>
              <a:t>对照组采用原生的主流大模型，一次性把库里的 79 个工具声明全部塞给它，模拟目前行业普遍采用的暴力调用；</a:t>
            </a:r>
          </a:p>
          <a:p>
            <a:r>
              <a:t>实验组则是接入了我们研发的 Skill Index System，只向模型暴露经过索引裁剪后的 Top-4 个工具；</a:t>
            </a:r>
          </a:p>
          <a:p>
            <a:r>
              <a:t>与此同时，我们在两组的候选库里都故意掺入了大量功能非常接近的干扰技能，全面测试它们在长上下文环境下的抗干扰抗混淆能力。所有测试均在真机环境多轮独立运行留痕。</a:t>
            </a:r>
          </a:p>
        </p:txBody>
      </p:sp>
      <p:sp>
        <p:nvSpPr>
          <p:cNvPr id="24" name="Slide Number Placeholder 3"/>
          <p:cNvSpPr>
            <a:spLocks noGrp="1"/>
          </p:cNvSpPr>
          <p:nvPr>
            <p:ph type="sldNum" sz="quarter" idx="5"/>
          </p:nvPr>
        </p:nvSpPr>
        <p:spPr/>
        <p:txBody>
          <a:body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26" name="Slide Image Placeholder 1"/>
          <p:cNvSpPr>
            <a:spLocks noGrp="1"/>
          </p:cNvSpPr>
          <p:nvPr>
            <p:ph type="sldImg" idx="2"/>
          </p:nvPr>
        </p:nvSpPr>
        <p:spPr/>
        <p:txBody>
          <a:bodyPr/>
          <a:p/>
        </p:txBody>
      </p:sp>
      <p:sp>
        <p:nvSpPr>
          <p:cNvPr id="27" name="Notes Placeholder 2"/>
          <p:cNvSpPr>
            <a:spLocks noGrp="1"/>
          </p:cNvSpPr>
          <p:nvPr>
            <p:ph type="body" sz="quarter" idx="3"/>
          </p:nvPr>
        </p:nvSpPr>
        <p:spPr/>
        <p:txBody>
          <a:bodyPr/>
          <a:lstStyle/>
          <a:p>
            <a:r>
              <a:t>【建议用时】：建议用时：70秒 (累计 12:55)</a:t>
            </a:r>
          </a:p>
          <a:p>
            <a:r>
              <a:t>【演讲提示】：【重磅讲解折线图】：用手势引导评委看折线图！加重语气对比第 10 轮的垂直飙升与绿线的稳居 0%！全场高潮！</a:t>
            </a:r>
          </a:p>
          <a:p/>
          <a:p>
            <a:r>
              <a:t>【演讲逐字稿】：</a:t>
            </a:r>
          </a:p>
          <a:p>
            <a:r>
              <a:t>大家请看屏幕中央这张根据我们论文表5实测数据绘制的【错误率对比折线图】，结果非常震撼：</a:t>
            </a:r>
          </a:p>
          <a:p/>
          <a:p>
            <a:r>
              <a:t>请大家紧盯中间由黄转红的折线——这是对照组的表现：</a:t>
            </a:r>
          </a:p>
          <a:p>
            <a:r>
              <a:t>在第 1 到第 6 轮的前期对话中，因为上下文很干净，两组都能较好地完成调用；</a:t>
            </a:r>
          </a:p>
          <a:p>
            <a:r>
              <a:t>但是，一旦对话推进到第 8 轮到第 10 轮，红色折线出现了断崖式的恶化！</a:t>
            </a:r>
          </a:p>
          <a:p>
            <a:r>
              <a:t>到了第 10 轮，对照组发生了灾难性的“注意力劫持”！因为之前的对话里提到过出差，模型误以为用户又要查天气，错误率直接垂直飙升到了 66.7% 甚至在部分任务中达到 100% 误选！</a:t>
            </a:r>
          </a:p>
          <a:p/>
          <a:p>
            <a:r>
              <a:t>而看下面那条平直的绿色实线——接入了我们 SIS 系统的实验组，凭借语义分簇和负向消歧，自始至终稳稳保持在 0% 的错误率，精准命中了正确的邮件网关！</a:t>
            </a:r>
          </a:p>
          <a:p>
            <a:r>
              <a:t>到了第 20 轮，对照组因为背负了 79 个工具声明，推理时间膨胀到了 6.8 秒；而我们的系统始终保持在 1.1 秒的极速响应，并且实现了 87.5% 的恒定 Token 压缩！</a:t>
            </a:r>
          </a:p>
          <a:p/>
          <a:p>
            <a:r>
              <a:t>这条折线图雄辩地证明：长对话在第 8~10 轮存在致命的质变临界点，没有技能索引和沙箱隔离，长流程 Agent 根本不可能在生产环境中稳定运行！</a:t>
            </a:r>
          </a:p>
        </p:txBody>
      </p:sp>
      <p:sp>
        <p:nvSpPr>
          <p:cNvPr id="28" name="Slide Number Placeholder 3"/>
          <p:cNvSpPr>
            <a:spLocks noGrp="1"/>
          </p:cNvSpPr>
          <p:nvPr>
            <p:ph type="sldNum" sz="quarter" idx="5"/>
          </p:nvPr>
        </p:nvSpPr>
        <p:spPr/>
        <p:txBody>
          <a:body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30" name="Slide Image Placeholder 1"/>
          <p:cNvSpPr>
            <a:spLocks noGrp="1"/>
          </p:cNvSpPr>
          <p:nvPr>
            <p:ph type="sldImg" idx="2"/>
          </p:nvPr>
        </p:nvSpPr>
        <p:spPr/>
        <p:txBody>
          <a:bodyPr/>
          <a:p/>
        </p:txBody>
      </p:sp>
      <p:sp>
        <p:nvSpPr>
          <p:cNvPr id="31" name="Notes Placeholder 2"/>
          <p:cNvSpPr>
            <a:spLocks noGrp="1"/>
          </p:cNvSpPr>
          <p:nvPr>
            <p:ph type="body" sz="quarter" idx="3"/>
          </p:nvPr>
        </p:nvSpPr>
        <p:spPr/>
        <p:txBody>
          <a:bodyPr/>
          <a:lstStyle/>
          <a:p>
            <a:r>
              <a:t>【建议用时】：建议用时：45秒 (累计 13:40)</a:t>
            </a:r>
          </a:p>
          <a:p>
            <a:r>
              <a:t>【演讲提示】：【商业宣讲】：语调自信有力，念出 Slogan 时掷地有声，展现成熟商业眼光。</a:t>
            </a:r>
          </a:p>
          <a:p/>
          <a:p>
            <a:r>
              <a:t>【演讲逐字稿】：</a:t>
            </a:r>
          </a:p>
          <a:p>
            <a:r>
              <a:t>在商业价值与市场定位上，我们的系统构筑了非常清晰的差异化护城河：</a:t>
            </a:r>
          </a:p>
          <a:p/>
          <a:p>
            <a:r>
              <a:t>现有的主流平台大多停留在“怎么把技能创建出来”的初级阶段：Custom GPT 靠人工翻找，Claude 存在上下文上限，Coze 缺乏外部变更自愈机制。</a:t>
            </a:r>
          </a:p>
          <a:p>
            <a:r>
              <a:t>而我们的系统直接定位于“生产级技能治理底座”——专门解决技能规模暴增之后，怎么防止选错、怎么保障长对话不翻车、怎么让坏掉的接口自己修好。</a:t>
            </a:r>
          </a:p>
          <a:p/>
          <a:p>
            <a:r>
              <a:t>为此，我们提炼了一句可以直接用于商业推广的产品口号：</a:t>
            </a:r>
          </a:p>
          <a:p>
            <a:r>
              <a:t>“让海量技能召得准、跑得稳、能自愈！”</a:t>
            </a:r>
          </a:p>
          <a:p>
            <a:r>
              <a:t>这句话凝练了我们在检索精度、长程稳定性和运维自愈力上的三大核心商业价值。</a:t>
            </a:r>
          </a:p>
        </p:txBody>
      </p:sp>
      <p:sp>
        <p:nvSpPr>
          <p:cNvPr id="32" name="Slide Number Placeholder 3"/>
          <p:cNvSpPr>
            <a:spLocks noGrp="1"/>
          </p:cNvSpPr>
          <p:nvPr>
            <p:ph type="sldNum" sz="quarter" idx="5"/>
          </p:nvPr>
        </p:nvSpPr>
        <p:spPr/>
        <p:txBody>
          <a:body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34" name="Slide Image Placeholder 1"/>
          <p:cNvSpPr>
            <a:spLocks noGrp="1"/>
          </p:cNvSpPr>
          <p:nvPr>
            <p:ph type="sldImg" idx="2"/>
          </p:nvPr>
        </p:nvSpPr>
        <p:spPr/>
        <p:txBody>
          <a:bodyPr/>
          <a:p/>
        </p:txBody>
      </p:sp>
      <p:sp>
        <p:nvSpPr>
          <p:cNvPr id="35" name="Notes Placeholder 2"/>
          <p:cNvSpPr>
            <a:spLocks noGrp="1"/>
          </p:cNvSpPr>
          <p:nvPr>
            <p:ph type="body" sz="quarter" idx="3"/>
          </p:nvPr>
        </p:nvSpPr>
        <p:spPr/>
        <p:txBody>
          <a:bodyPr/>
          <a:lstStyle/>
          <a:p>
            <a:r>
              <a:t>【建议用时】：建议用时：40秒 (累计 14:20)</a:t>
            </a:r>
          </a:p>
          <a:p>
            <a:r>
              <a:t>【演讲提示】：【圆满收尾】：身体前倾致敬评委，语气谦逊真诚，为互动提问留出整整 40 秒准备时间。</a:t>
            </a:r>
          </a:p>
          <a:p/>
          <a:p>
            <a:r>
              <a:t>【演讲逐字稿】：</a:t>
            </a:r>
          </a:p>
          <a:p>
            <a:r>
              <a:t>各位评委老师，总结今天的汇报，我们交出了一份“定位清晰、方案务实、实测数据严谨、工程验证完备”的答卷：</a:t>
            </a:r>
          </a:p>
          <a:p/>
          <a:p>
            <a:r>
              <a:t>我们剖析了行业主流产品的深层盲区，锁定了长对话失效和接口漂移的核心根因；构建了 AI 辅助索引与人机协同治理的完整闭环；通过真实数据集的深度实验，拿出了扎实的折线图实测数据，并交付了完整部署的系统！</a:t>
            </a:r>
          </a:p>
          <a:p/>
          <a:p>
            <a:r>
              <a:t>感谢各位评委专家的悉心评审！我和项目组成员冯维一同学恳请各位老师批评指正，谢谢大家！</a:t>
            </a:r>
          </a:p>
        </p:txBody>
      </p:sp>
      <p:sp>
        <p:nvSpPr>
          <p:cNvPr id="36" name="Slide Number Placeholder 3"/>
          <p:cNvSpPr>
            <a:spLocks noGrp="1"/>
          </p:cNvSpPr>
          <p:nvPr>
            <p:ph type="sldNum" sz="quarter" idx="5"/>
          </p:nvPr>
        </p:nvSpPr>
        <p:spPr/>
        <p:txBody>
          <a:body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38" name="Slide Image Placeholder 1"/>
          <p:cNvSpPr>
            <a:spLocks noGrp="1"/>
          </p:cNvSpPr>
          <p:nvPr>
            <p:ph type="sldImg" idx="2"/>
          </p:nvPr>
        </p:nvSpPr>
        <p:spPr/>
        <p:txBody>
          <a:bodyPr/>
          <a:p/>
        </p:txBody>
      </p:sp>
      <p:sp>
        <p:nvSpPr>
          <p:cNvPr id="39" name="Notes Placeholder 2"/>
          <p:cNvSpPr>
            <a:spLocks noGrp="1"/>
          </p:cNvSpPr>
          <p:nvPr>
            <p:ph type="body" sz="quarter" idx="3"/>
          </p:nvPr>
        </p:nvSpPr>
        <p:spPr/>
        <p:txBody>
          <a:bodyPr/>
          <a:lstStyle/>
          <a:p>
            <a:r>
              <a:t>【建议用时】：建议用时：40秒 (累计 15:00，进入 Q&amp;A 互动)</a:t>
            </a:r>
          </a:p>
          <a:p>
            <a:r>
              <a:t>【演讲提示】：【从容备答】：微笑着注视全场评委，准备在纸笔上记录老师提出的问题核心关键词。</a:t>
            </a:r>
          </a:p>
          <a:p/>
          <a:p>
            <a:r>
              <a:t>【演讲逐字稿】：</a:t>
            </a:r>
          </a:p>
          <a:p>
            <a:r>
              <a:t>（此页为答辩 Q&amp;A 备用速查附录页）</a:t>
            </a:r>
          </a:p>
          <a:p/>
          <a:p>
            <a:r>
              <a:t>各位评委老师，我们已经针对冷门技能配额机制、接口自愈耗时控制、人机协同运维成本等高频关切准备了详实的数据和测试日志。</a:t>
            </a:r>
          </a:p>
          <a:p>
            <a:r>
              <a:t>非常欢迎各位老师就论文分析机理、实验实测数据或 MVP 系统的具体功能进行深入交流！请各位老师提问。</a:t>
            </a:r>
          </a:p>
        </p:txBody>
      </p:sp>
      <p:sp>
        <p:nvSpPr>
          <p:cNvPr id="40" name="Slide Number Placeholder 3"/>
          <p:cNvSpPr>
            <a:spLocks noGrp="1"/>
          </p:cNvSpPr>
          <p:nvPr>
            <p:ph type="sldNum" sz="quarter" idx="5"/>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7" name=""/>
        <p:cNvGrpSpPr/>
        <p:nvPr/>
      </p:nvGrpSpPr>
      <p:grpSpPr>
        <a:xfrm>
          <a:off x="0" y="0"/>
          <a:ext cx="0" cy="0"/>
          <a:chOff x="0" y="0"/>
          <a:chExt cx="0" cy="0"/>
        </a:xfrm>
      </p:grpSpPr>
      <p:sp>
        <p:nvSpPr>
          <p:cNvPr id="8" name="Title 1"/>
          <p:cNvSpPr>
            <a:spLocks noGrp="1"/>
          </p:cNvSpPr>
          <p:nvPr>
            <p:ph type="title"/>
          </p:nvPr>
        </p:nvSpPr>
        <p:spPr/>
        <p:txBody>
          <a:bodyPr/>
          <a:lstStyle/>
          <a:p>
            <a:r>
              <a:rPr lang="en-US" smtClean="0"/>
              <a:t>Click to edit Master title style</a:t>
            </a:r>
            <a:endParaRPr lang="en-US"/>
          </a:p>
        </p:txBody>
      </p:sp>
      <p:sp>
        <p:nvSpPr>
          <p:cNvPr id="9"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11" name="Footer Placeholder 4"/>
          <p:cNvSpPr>
            <a:spLocks noGrp="1"/>
          </p:cNvSpPr>
          <p:nvPr>
            <p:ph type="ftr" sz="quarter" idx="11"/>
          </p:nvPr>
        </p:nvSpPr>
        <p:spPr/>
        <p:txBody>
          <a:bodyPr/>
          <a:lstStyle/>
          <a:p>
            <a:endParaRPr lang="en-US"/>
          </a:p>
        </p:txBody>
      </p:sp>
      <p:sp>
        <p:nvSpPr>
          <p:cNvPr id="12"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9" name=""/>
        <p:cNvGrpSpPr/>
        <p:nvPr/>
      </p:nvGrpSpPr>
      <p:grpSpPr>
        <a:xfrm>
          <a:off x="0" y="0"/>
          <a:ext cx="0" cy="0"/>
          <a:chOff x="0" y="0"/>
          <a:chExt cx="0" cy="0"/>
        </a:xfrm>
      </p:grpSpPr>
      <p:sp>
        <p:nvSpPr>
          <p:cNvPr id="20"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21"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22"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23" name="Footer Placeholder 4"/>
          <p:cNvSpPr>
            <a:spLocks noGrp="1"/>
          </p:cNvSpPr>
          <p:nvPr>
            <p:ph type="ftr" sz="quarter" idx="11"/>
          </p:nvPr>
        </p:nvSpPr>
        <p:spPr/>
        <p:txBody>
          <a:bodyPr/>
          <a:lstStyle/>
          <a:p>
            <a:endParaRPr lang="en-US"/>
          </a:p>
        </p:txBody>
      </p:sp>
      <p:sp>
        <p:nvSpPr>
          <p:cNvPr id="24"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25" name=""/>
        <p:cNvGrpSpPr/>
        <p:nvPr/>
      </p:nvGrpSpPr>
      <p:grpSpPr>
        <a:xfrm>
          <a:off x="0" y="0"/>
          <a:ext cx="0" cy="0"/>
          <a:chOff x="0" y="0"/>
          <a:chExt cx="0" cy="0"/>
        </a:xfrm>
      </p:grpSpPr>
      <p:sp>
        <p:nvSpPr>
          <p:cNvPr id="26" name="Title 1"/>
          <p:cNvSpPr>
            <a:spLocks noGrp="1"/>
          </p:cNvSpPr>
          <p:nvPr>
            <p:ph type="title"/>
          </p:nvPr>
        </p:nvSpPr>
        <p:spPr/>
        <p:txBody>
          <a:bodyPr/>
          <a:lstStyle/>
          <a:p>
            <a:r>
              <a:rPr lang="en-US" smtClean="0"/>
              <a:t>Click to edit Master title style</a:t>
            </a:r>
            <a:endParaRPr lang="en-US"/>
          </a:p>
        </p:txBody>
      </p:sp>
      <p:sp>
        <p:nvSpPr>
          <p:cNvPr id="27"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28"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29"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30" name="Footer Placeholder 5"/>
          <p:cNvSpPr>
            <a:spLocks noGrp="1"/>
          </p:cNvSpPr>
          <p:nvPr>
            <p:ph type="ftr" sz="quarter" idx="11"/>
          </p:nvPr>
        </p:nvSpPr>
        <p:spPr/>
        <p:txBody>
          <a:bodyPr/>
          <a:lstStyle/>
          <a:p>
            <a:endParaRPr lang="en-US"/>
          </a:p>
        </p:txBody>
      </p:sp>
      <p:sp>
        <p:nvSpPr>
          <p:cNvPr id="31"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32" name=""/>
        <p:cNvGrpSpPr/>
        <p:nvPr/>
      </p:nvGrpSpPr>
      <p:grpSpPr>
        <a:xfrm>
          <a:off x="0" y="0"/>
          <a:ext cx="0" cy="0"/>
          <a:chOff x="0" y="0"/>
          <a:chExt cx="0" cy="0"/>
        </a:xfrm>
      </p:grpSpPr>
      <p:sp>
        <p:nvSpPr>
          <p:cNvPr id="33" name="Title 1"/>
          <p:cNvSpPr>
            <a:spLocks noGrp="1"/>
          </p:cNvSpPr>
          <p:nvPr>
            <p:ph type="title"/>
          </p:nvPr>
        </p:nvSpPr>
        <p:spPr/>
        <p:txBody>
          <a:bodyPr/>
          <a:lstStyle>
            <a:lvl1pPr>
              <a:defRPr/>
            </a:lvl1pPr>
          </a:lstStyle>
          <a:p>
            <a:r>
              <a:rPr lang="en-US" smtClean="0"/>
              <a:t>Click to edit Master title style</a:t>
            </a:r>
            <a:endParaRPr lang="en-US"/>
          </a:p>
        </p:txBody>
      </p:sp>
      <p:sp>
        <p:nvSpPr>
          <p:cNvPr id="34"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35"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6"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37"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8"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39" name="Footer Placeholder 7"/>
          <p:cNvSpPr>
            <a:spLocks noGrp="1"/>
          </p:cNvSpPr>
          <p:nvPr>
            <p:ph type="ftr" sz="quarter" idx="11"/>
          </p:nvPr>
        </p:nvSpPr>
        <p:spPr/>
        <p:txBody>
          <a:bodyPr/>
          <a:lstStyle/>
          <a:p>
            <a:endParaRPr lang="en-US"/>
          </a:p>
        </p:txBody>
      </p:sp>
      <p:sp>
        <p:nvSpPr>
          <p:cNvPr id="40"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41" name=""/>
        <p:cNvGrpSpPr/>
        <p:nvPr/>
      </p:nvGrpSpPr>
      <p:grpSpPr>
        <a:xfrm>
          <a:off x="0" y="0"/>
          <a:ext cx="0" cy="0"/>
          <a:chOff x="0" y="0"/>
          <a:chExt cx="0" cy="0"/>
        </a:xfrm>
      </p:grpSpPr>
      <p:sp>
        <p:nvSpPr>
          <p:cNvPr id="42" name="Title 1"/>
          <p:cNvSpPr>
            <a:spLocks noGrp="1"/>
          </p:cNvSpPr>
          <p:nvPr>
            <p:ph type="title"/>
          </p:nvPr>
        </p:nvSpPr>
        <p:spPr/>
        <p:txBody>
          <a:bodyPr/>
          <a:lstStyle/>
          <a:p>
            <a:r>
              <a:rPr lang="en-US" smtClean="0"/>
              <a:t>Click to edit Master title style</a:t>
            </a:r>
            <a:endParaRPr lang="en-US"/>
          </a:p>
        </p:txBody>
      </p:sp>
      <p:sp>
        <p:nvSpPr>
          <p:cNvPr id="4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4" name="Footer Placeholder 3"/>
          <p:cNvSpPr>
            <a:spLocks noGrp="1"/>
          </p:cNvSpPr>
          <p:nvPr>
            <p:ph type="ftr" sz="quarter" idx="11"/>
          </p:nvPr>
        </p:nvSpPr>
        <p:spPr/>
        <p:txBody>
          <a:bodyPr/>
          <a:lstStyle/>
          <a:p>
            <a:endParaRPr lang="en-US"/>
          </a:p>
        </p:txBody>
      </p:sp>
      <p:sp>
        <p:nvSpPr>
          <p:cNvPr id="4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46" name=""/>
        <p:cNvGrpSpPr/>
        <p:nvPr/>
      </p:nvGrpSpPr>
      <p:grpSpPr>
        <a:xfrm>
          <a:off x="0" y="0"/>
          <a:ext cx="0" cy="0"/>
          <a:chOff x="0" y="0"/>
          <a:chExt cx="0" cy="0"/>
        </a:xfrm>
      </p:grpSpPr>
      <p:sp>
        <p:nvSpPr>
          <p:cNvPr id="47"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48" name="Footer Placeholder 2"/>
          <p:cNvSpPr>
            <a:spLocks noGrp="1"/>
          </p:cNvSpPr>
          <p:nvPr>
            <p:ph type="ftr" sz="quarter" idx="11"/>
          </p:nvPr>
        </p:nvSpPr>
        <p:spPr/>
        <p:txBody>
          <a:bodyPr/>
          <a:lstStyle/>
          <a:p>
            <a:endParaRPr lang="en-US"/>
          </a:p>
        </p:txBody>
      </p:sp>
      <p:sp>
        <p:nvSpPr>
          <p:cNvPr id="49"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50" name=""/>
        <p:cNvGrpSpPr/>
        <p:nvPr/>
      </p:nvGrpSpPr>
      <p:grpSpPr>
        <a:xfrm>
          <a:off x="0" y="0"/>
          <a:ext cx="0" cy="0"/>
          <a:chOff x="0" y="0"/>
          <a:chExt cx="0" cy="0"/>
        </a:xfrm>
      </p:grpSpPr>
      <p:sp>
        <p:nvSpPr>
          <p:cNvPr id="51"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5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3"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4"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55" name="Footer Placeholder 5"/>
          <p:cNvSpPr>
            <a:spLocks noGrp="1"/>
          </p:cNvSpPr>
          <p:nvPr>
            <p:ph type="ftr" sz="quarter" idx="11"/>
          </p:nvPr>
        </p:nvSpPr>
        <p:spPr/>
        <p:txBody>
          <a:bodyPr/>
          <a:lstStyle/>
          <a:p>
            <a:endParaRPr lang="en-US"/>
          </a:p>
        </p:txBody>
      </p:sp>
      <p:sp>
        <p:nvSpPr>
          <p:cNvPr id="56"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57" name=""/>
        <p:cNvGrpSpPr/>
        <p:nvPr/>
      </p:nvGrpSpPr>
      <p:grpSpPr>
        <a:xfrm>
          <a:off x="0" y="0"/>
          <a:ext cx="0" cy="0"/>
          <a:chOff x="0" y="0"/>
          <a:chExt cx="0" cy="0"/>
        </a:xfrm>
      </p:grpSpPr>
      <p:sp>
        <p:nvSpPr>
          <p:cNvPr id="58"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5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61"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2" name="Footer Placeholder 5"/>
          <p:cNvSpPr>
            <a:spLocks noGrp="1"/>
          </p:cNvSpPr>
          <p:nvPr>
            <p:ph type="ftr" sz="quarter" idx="11"/>
          </p:nvPr>
        </p:nvSpPr>
        <p:spPr/>
        <p:txBody>
          <a:bodyPr/>
          <a:lstStyle/>
          <a:p>
            <a:endParaRPr lang="en-US"/>
          </a:p>
        </p:txBody>
      </p:sp>
      <p:sp>
        <p:nvSpPr>
          <p:cNvPr id="63"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64" name=""/>
        <p:cNvGrpSpPr/>
        <p:nvPr/>
      </p:nvGrpSpPr>
      <p:grpSpPr>
        <a:xfrm>
          <a:off x="0" y="0"/>
          <a:ext cx="0" cy="0"/>
          <a:chOff x="0" y="0"/>
          <a:chExt cx="0" cy="0"/>
        </a:xfrm>
      </p:grpSpPr>
      <p:sp>
        <p:nvSpPr>
          <p:cNvPr id="65" name="Title 1"/>
          <p:cNvSpPr>
            <a:spLocks noGrp="1"/>
          </p:cNvSpPr>
          <p:nvPr>
            <p:ph type="title"/>
          </p:nvPr>
        </p:nvSpPr>
        <p:spPr/>
        <p:txBody>
          <a:bodyPr/>
          <a:lstStyle/>
          <a:p>
            <a:r>
              <a:rPr lang="en-US" smtClean="0"/>
              <a:t>Click to edit Master title style</a:t>
            </a:r>
            <a:endParaRPr lang="en-US"/>
          </a:p>
        </p:txBody>
      </p:sp>
      <p:sp>
        <p:nvSpPr>
          <p:cNvPr id="66"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7"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68" name="Footer Placeholder 4"/>
          <p:cNvSpPr>
            <a:spLocks noGrp="1"/>
          </p:cNvSpPr>
          <p:nvPr>
            <p:ph type="ftr" sz="quarter" idx="11"/>
          </p:nvPr>
        </p:nvSpPr>
        <p:spPr/>
        <p:txBody>
          <a:bodyPr/>
          <a:lstStyle/>
          <a:p>
            <a:endParaRPr lang="en-US"/>
          </a:p>
        </p:txBody>
      </p:sp>
      <p:sp>
        <p:nvSpPr>
          <p:cNvPr id="69"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3" name=""/>
        <p:cNvGrpSpPr/>
        <p:nvPr/>
      </p:nvGrpSpPr>
      <p:grpSpPr>
        <a:xfrm>
          <a:off x="0" y="0"/>
          <a:ext cx="0" cy="0"/>
          <a:chOff x="0" y="0"/>
          <a:chExt cx="0" cy="0"/>
        </a:xfrm>
      </p:grpSpPr>
      <p:sp>
        <p:nvSpPr>
          <p:cNvPr id="14"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15"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6"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17" name="Footer Placeholder 4"/>
          <p:cNvSpPr>
            <a:spLocks noGrp="1"/>
          </p:cNvSpPr>
          <p:nvPr>
            <p:ph type="ftr" sz="quarter" idx="11"/>
          </p:nvPr>
        </p:nvSpPr>
        <p:spPr/>
        <p:txBody>
          <a:bodyPr/>
          <a:lstStyle/>
          <a:p>
            <a:endParaRPr lang="en-US"/>
          </a:p>
        </p:txBody>
      </p:sp>
      <p:sp>
        <p:nvSpPr>
          <p:cNvPr id="18"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hyperlink" Target="https://docs.google.com/document/d/1ZZ1gq1I1B7SQ4rXWsBu_vDkaY6EXApfIhnthgZDIuHk/edit?usp=sharing"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73152"/>
            <a:ext cx="3657600" cy="2743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188720"/>
            <a:ext cx="9966960" cy="320040"/>
          </a:xfrm>
          <a:prstGeom prst="rect">
            <a:avLst/>
          </a:prstGeom>
          <a:noFill/>
        </p:spPr>
        <p:txBody>
          <a:bodyPr wrap="square" lIns="0" tIns="0" rIns="0" bIns="0">
            <a:spAutoFit/>
          </a:bodyPr>
          <a:lstStyle/>
          <a:p>
            <a:r>
              <a:rPr sz="1350" b="1">
                <a:solidFill>
                  <a:srgbClr val="C2410C"/>
                </a:solidFill>
                <a:latin typeface="Noto Sans CJK SC"/>
              </a:rPr>
              <a:t>赛题七 高级挑战 · 项目答辩成果汇报</a:t>
            </a:r>
            <a:endParaRPr sz="1350" b="1">
              <a:solidFill>
                <a:srgbClr val="C2410C"/>
              </a:solidFill>
              <a:latin typeface="Noto Sans CJK SC"/>
            </a:endParaRPr>
          </a:p>
        </p:txBody>
      </p:sp>
      <p:sp>
        <p:nvSpPr>
          <p:cNvPr id="7" name="TextBox 6"/>
          <p:cNvSpPr txBox="1"/>
          <p:nvPr/>
        </p:nvSpPr>
        <p:spPr>
          <a:xfrm>
            <a:off x="1097280" y="1691640"/>
            <a:ext cx="9966960" cy="1188720"/>
          </a:xfrm>
          <a:prstGeom prst="rect">
            <a:avLst/>
          </a:prstGeom>
          <a:noFill/>
        </p:spPr>
        <p:txBody>
          <a:bodyPr wrap="square" lIns="0" tIns="0" rIns="0" bIns="0">
            <a:spAutoFit/>
          </a:bodyPr>
          <a:lstStyle/>
          <a:p>
            <a:r>
              <a:rPr sz="3200" b="1">
                <a:solidFill>
                  <a:srgbClr val="1C1917"/>
                </a:solidFill>
                <a:latin typeface="Noto Sans CJK SC"/>
              </a:rPr>
              <a:t>面向大规模技能（Agent Skill）的管理系统</a:t>
            </a:r>
            <a:endParaRPr sz="3200" b="1">
              <a:solidFill>
                <a:srgbClr val="1C1917"/>
              </a:solidFill>
              <a:latin typeface="Noto Sans CJK SC"/>
            </a:endParaRPr>
          </a:p>
        </p:txBody>
      </p:sp>
      <p:sp>
        <p:nvSpPr>
          <p:cNvPr id="8" name="TextBox 7"/>
          <p:cNvSpPr txBox="1"/>
          <p:nvPr/>
        </p:nvSpPr>
        <p:spPr>
          <a:xfrm>
            <a:off x="1097280" y="2880360"/>
            <a:ext cx="9966960" cy="411480"/>
          </a:xfrm>
          <a:prstGeom prst="rect">
            <a:avLst/>
          </a:prstGeom>
          <a:noFill/>
        </p:spPr>
        <p:txBody>
          <a:bodyPr wrap="square" lIns="0" tIns="0" rIns="0" bIns="0">
            <a:spAutoFit/>
          </a:bodyPr>
          <a:lstStyle/>
          <a:p>
            <a:r>
              <a:rPr sz="1650" b="1">
                <a:solidFill>
                  <a:srgbClr val="C2410C"/>
                </a:solidFill>
                <a:latin typeface="Noto Sans CJK SC"/>
              </a:rPr>
              <a:t>Skill Index System (SIS)：AI 辅助索引与人机协同治理架构</a:t>
            </a:r>
            <a:endParaRPr sz="1650" b="1">
              <a:solidFill>
                <a:srgbClr val="C2410C"/>
              </a:solidFill>
              <a:latin typeface="Noto Sans CJK SC"/>
            </a:endParaRPr>
          </a:p>
        </p:txBody>
      </p:sp>
      <p:sp>
        <p:nvSpPr>
          <p:cNvPr id="9" name="Rectangle 8"/>
          <p:cNvSpPr/>
          <p:nvPr/>
        </p:nvSpPr>
        <p:spPr>
          <a:xfrm>
            <a:off x="1097280" y="3474720"/>
            <a:ext cx="999713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065" y="3520440"/>
            <a:ext cx="9966960" cy="384175"/>
          </a:xfrm>
          <a:prstGeom prst="rect">
            <a:avLst/>
          </a:prstGeom>
          <a:noFill/>
        </p:spPr>
        <p:txBody>
          <a:bodyPr wrap="square" lIns="0" tIns="0" rIns="0" bIns="0">
            <a:spAutoFit/>
          </a:bodyPr>
          <a:lstStyle/>
          <a:p>
            <a:r>
              <a:rPr sz="1250">
                <a:solidFill>
                  <a:srgbClr val="57534E"/>
                </a:solidFill>
                <a:latin typeface="Noto Sans CJK SC"/>
              </a:rPr>
              <a:t>课题摘要：针对超大规模技能场景下大模型上下文溢出、长对话时序滞后、语义踩踏与接口模式漂移难题，设计一套“AI 辅助索引 + 人机协同治理”的智能体治理方案。</a:t>
            </a:r>
            <a:endParaRPr sz="1250">
              <a:solidFill>
                <a:srgbClr val="57534E"/>
              </a:solidFill>
              <a:latin typeface="Noto Sans CJK SC"/>
            </a:endParaRPr>
          </a:p>
        </p:txBody>
      </p:sp>
      <p:sp>
        <p:nvSpPr>
          <p:cNvPr id="11" name="Rounded Rectangle 10"/>
          <p:cNvSpPr/>
          <p:nvPr/>
        </p:nvSpPr>
        <p:spPr>
          <a:xfrm>
            <a:off x="1097280" y="4617720"/>
            <a:ext cx="9997135" cy="1325880"/>
          </a:xfrm>
          <a:prstGeom prst="roundRect">
            <a:avLst>
              <a:gd name="adj" fmla="val 3000"/>
            </a:avLst>
          </a:prstGeom>
          <a:solidFill>
            <a:srgbClr val="FBEDE3"/>
          </a:solidFill>
          <a:ln w="12700">
            <a:solidFill>
              <a:srgbClr val="EB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773168"/>
            <a:ext cx="9418320" cy="497205"/>
          </a:xfrm>
          <a:prstGeom prst="rect">
            <a:avLst/>
          </a:prstGeom>
          <a:noFill/>
        </p:spPr>
        <p:txBody>
          <a:bodyPr wrap="square" lIns="0" tIns="0" rIns="0" bIns="0">
            <a:spAutoFit/>
          </a:bodyPr>
          <a:lstStyle/>
          <a:p>
            <a:pPr>
              <a:spcAft>
                <a:spcPts val="1000"/>
              </a:spcAft>
            </a:pPr>
            <a:r>
              <a:rPr sz="1250" b="1">
                <a:solidFill>
                  <a:srgbClr val="C2410C"/>
                </a:solidFill>
                <a:latin typeface="Noto Sans CJK SC"/>
              </a:rPr>
              <a:t>汇  报  人：</a:t>
            </a:r>
            <a:r>
              <a:rPr sz="1250" b="1">
                <a:solidFill>
                  <a:srgbClr val="1C1917"/>
                </a:solidFill>
                <a:latin typeface="Noto Sans CJK SC"/>
              </a:rPr>
              <a:t>刘璨玮        </a:t>
            </a:r>
            <a:r>
              <a:rPr sz="1250" b="1">
                <a:solidFill>
                  <a:srgbClr val="C2410C"/>
                </a:solidFill>
                <a:latin typeface="Noto Sans CJK SC"/>
              </a:rPr>
              <a:t>项目成员：</a:t>
            </a:r>
            <a:r>
              <a:rPr sz="1250" b="1">
                <a:solidFill>
                  <a:srgbClr val="1C1917"/>
                </a:solidFill>
                <a:latin typeface="Noto Sans CJK SC"/>
              </a:rPr>
              <a:t>刘璨玮、冯维</a:t>
            </a:r>
            <a:r>
              <a:rPr lang="zh-CN" sz="1250" b="1">
                <a:solidFill>
                  <a:srgbClr val="1C1917"/>
                </a:solidFill>
                <a:latin typeface="Noto Sans CJK SC"/>
              </a:rPr>
              <a:t>依</a:t>
            </a:r>
            <a:endParaRPr sz="1250" b="1">
              <a:solidFill>
                <a:srgbClr val="1C1917"/>
              </a:solidFill>
              <a:latin typeface="Noto Sans CJK SC"/>
            </a:endParaRPr>
          </a:p>
          <a:p>
            <a:r>
              <a:rPr sz="1150" b="1">
                <a:solidFill>
                  <a:srgbClr val="78716C"/>
                </a:solidFill>
                <a:latin typeface="Noto Sans CJK SC"/>
              </a:rPr>
              <a:t>申报赛题：</a:t>
            </a:r>
            <a:r>
              <a:rPr sz="1150">
                <a:solidFill>
                  <a:srgbClr val="57534E"/>
                </a:solidFill>
                <a:latin typeface="Noto Sans CJK SC"/>
              </a:rPr>
              <a:t>赛题七 高级挑战        </a:t>
            </a:r>
            <a:r>
              <a:rPr sz="1150" b="1">
                <a:solidFill>
                  <a:srgbClr val="78716C"/>
                </a:solidFill>
                <a:latin typeface="Noto Sans CJK SC"/>
              </a:rPr>
              <a:t>系统验证与演示：</a:t>
            </a:r>
            <a:r>
              <a:rPr sz="1150">
                <a:solidFill>
                  <a:srgbClr val="57534E"/>
                </a:solidFill>
                <a:latin typeface="Noto Sans CJK SC"/>
              </a:rPr>
              <a:t>skill-index-system | mvp-agent-1.ai.studio</a:t>
            </a:r>
            <a:endParaRPr sz="1150">
              <a:solidFill>
                <a:srgbClr val="57534E"/>
              </a:solidFill>
              <a:latin typeface="Noto Sans CJK SC"/>
            </a:endParaRPr>
          </a:p>
        </p:txBody>
      </p:sp>
      <p:sp>
        <p:nvSpPr>
          <p:cNvPr id="13" name="Rectangle 12"/>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15" name="TextBox 14"/>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 / 18 页</a:t>
            </a:r>
            <a:endParaRPr sz="1050" b="1">
              <a:solidFill>
                <a:srgbClr val="78716C"/>
              </a:solidFill>
              <a:latin typeface="Noto Sans CJK S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50" name=""/>
        <p:cNvGrpSpPr/>
        <p:nvPr/>
      </p:nvGrpSpPr>
      <p:grpSpPr>
        <a:xfrm>
          <a:off x="0" y="0"/>
          <a:ext cx="0" cy="0"/>
          <a:chOff x="0" y="0"/>
          <a:chExt cx="0" cy="0"/>
        </a:xfrm>
      </p:grpSpPr>
      <p:sp>
        <p:nvSpPr>
          <p:cNvPr id="151"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01 · 现状与竞品调研</a:t>
            </a:r>
            <a:endParaRPr sz="1150" b="1">
              <a:solidFill>
                <a:srgbClr val="C2410C"/>
              </a:solidFill>
              <a:latin typeface="Noto Sans CJK SC"/>
            </a:endParaRPr>
          </a:p>
        </p:txBody>
      </p:sp>
      <p:sp>
        <p:nvSpPr>
          <p:cNvPr id="153"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竞品调研：现存 Agent 技能管理现状及深层瓶颈</a:t>
            </a:r>
            <a:endParaRPr sz="2100" b="1">
              <a:solidFill>
                <a:srgbClr val="1C1917"/>
              </a:solidFill>
              <a:latin typeface="Noto Sans CJK SC"/>
            </a:endParaRPr>
          </a:p>
        </p:txBody>
      </p:sp>
      <p:sp>
        <p:nvSpPr>
          <p:cNvPr id="154"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ounded Rectangle 5"/>
          <p:cNvSpPr/>
          <p:nvPr/>
        </p:nvSpPr>
        <p:spPr>
          <a:xfrm>
            <a:off x="731520" y="1600200"/>
            <a:ext cx="5120640" cy="3657600"/>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6"/>
          <p:cNvSpPr txBox="1"/>
          <p:nvPr/>
        </p:nvSpPr>
        <p:spPr>
          <a:xfrm>
            <a:off x="960120" y="1783080"/>
            <a:ext cx="4663440" cy="3291840"/>
          </a:xfrm>
          <a:prstGeom prst="rect">
            <a:avLst/>
          </a:prstGeom>
          <a:noFill/>
        </p:spPr>
        <p:txBody>
          <a:bodyPr wrap="square" lIns="0" tIns="0" rIns="0" bIns="0">
            <a:spAutoFit/>
          </a:bodyPr>
          <a:lstStyle/>
          <a:p>
            <a:pPr>
              <a:spcAft>
                <a:spcPts val="1200"/>
              </a:spcAft>
            </a:pPr>
            <a:r>
              <a:rPr sz="1550" b="1">
                <a:solidFill>
                  <a:srgbClr val="C2410C"/>
                </a:solidFill>
                <a:latin typeface="Noto Sans CJK SC"/>
              </a:rPr>
              <a:t>OpenAI (Custom GPT / Actions)</a:t>
            </a:r>
            <a:endParaRPr sz="1550" b="1">
              <a:solidFill>
                <a:srgbClr val="C2410C"/>
              </a:solidFill>
              <a:latin typeface="Noto Sans CJK SC"/>
            </a:endParaRPr>
          </a:p>
          <a:p>
            <a:pPr>
              <a:spcAft>
                <a:spcPts val="800"/>
              </a:spcAft>
            </a:pPr>
            <a:r>
              <a:rPr sz="1200" b="1">
                <a:solidFill>
                  <a:srgbClr val="1C1917"/>
                </a:solidFill>
                <a:latin typeface="Noto Sans CJK SC"/>
              </a:rPr>
              <a:t>• 管理做法： </a:t>
            </a:r>
            <a:r>
              <a:rPr sz="1200">
                <a:solidFill>
                  <a:srgbClr val="57534E"/>
                </a:solidFill>
                <a:latin typeface="Noto Sans CJK SC"/>
              </a:rPr>
              <a:t>采用标签化与视图分类（已安装、我创建、与我共享、工作空间共享）。</a:t>
            </a:r>
            <a:endParaRPr sz="1200">
              <a:solidFill>
                <a:srgbClr val="57534E"/>
              </a:solidFill>
              <a:latin typeface="Noto Sans CJK SC"/>
            </a:endParaRPr>
          </a:p>
          <a:p>
            <a:pPr>
              <a:spcAft>
                <a:spcPts val="800"/>
              </a:spcAft>
            </a:pPr>
            <a:r>
              <a:rPr sz="1200" b="1">
                <a:solidFill>
                  <a:srgbClr val="1C1917"/>
                </a:solidFill>
                <a:latin typeface="Noto Sans CJK SC"/>
              </a:rPr>
              <a:t>• 检索机制： </a:t>
            </a:r>
            <a:r>
              <a:rPr sz="1200">
                <a:solidFill>
                  <a:srgbClr val="57534E"/>
                </a:solidFill>
                <a:latin typeface="Noto Sans CJK SC"/>
              </a:rPr>
              <a:t>依赖集中式页面检索与名称/分类标签筛选。</a:t>
            </a:r>
            <a:endParaRPr sz="1200">
              <a:solidFill>
                <a:srgbClr val="57534E"/>
              </a:solidFill>
              <a:latin typeface="Noto Sans CJK SC"/>
            </a:endParaRPr>
          </a:p>
          <a:p>
            <a:pPr>
              <a:spcAft>
                <a:spcPts val="800"/>
              </a:spcAft>
            </a:pPr>
            <a:r>
              <a:rPr sz="1200" b="1">
                <a:solidFill>
                  <a:srgbClr val="1C1917"/>
                </a:solidFill>
                <a:latin typeface="Noto Sans CJK SC"/>
              </a:rPr>
              <a:t>• 核心局限： </a:t>
            </a:r>
            <a:r>
              <a:rPr sz="1200">
                <a:solidFill>
                  <a:srgbClr val="57534E"/>
                </a:solidFill>
                <a:latin typeface="Noto Sans CJK SC"/>
              </a:rPr>
              <a:t>分类目的仅仅是为了人方便查阅！缺乏模型自适应调度能力，无法应对上千技能的自动化协同。</a:t>
            </a:r>
            <a:endParaRPr sz="1200">
              <a:solidFill>
                <a:srgbClr val="57534E"/>
              </a:solidFill>
              <a:latin typeface="Noto Sans CJK SC"/>
            </a:endParaRPr>
          </a:p>
        </p:txBody>
      </p:sp>
      <p:sp>
        <p:nvSpPr>
          <p:cNvPr id="157" name="Rounded Rectangle 7"/>
          <p:cNvSpPr/>
          <p:nvPr/>
        </p:nvSpPr>
        <p:spPr>
          <a:xfrm>
            <a:off x="6126480" y="1600200"/>
            <a:ext cx="5333695" cy="3657600"/>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8"/>
          <p:cNvSpPr txBox="1"/>
          <p:nvPr/>
        </p:nvSpPr>
        <p:spPr>
          <a:xfrm>
            <a:off x="6355080" y="1783080"/>
            <a:ext cx="4846320" cy="3291840"/>
          </a:xfrm>
          <a:prstGeom prst="rect">
            <a:avLst/>
          </a:prstGeom>
          <a:noFill/>
        </p:spPr>
        <p:txBody>
          <a:bodyPr wrap="square" lIns="0" tIns="0" rIns="0" bIns="0">
            <a:spAutoFit/>
          </a:bodyPr>
          <a:lstStyle/>
          <a:p>
            <a:pPr>
              <a:spcAft>
                <a:spcPts val="1200"/>
              </a:spcAft>
            </a:pPr>
            <a:r>
              <a:rPr sz="1550" b="1">
                <a:solidFill>
                  <a:srgbClr val="C2410C"/>
                </a:solidFill>
                <a:latin typeface="Noto Sans CJK SC"/>
              </a:rPr>
              <a:t>Claude (SKILL.md / Progressive Disclosure)</a:t>
            </a:r>
            <a:endParaRPr sz="1550" b="1">
              <a:solidFill>
                <a:srgbClr val="C2410C"/>
              </a:solidFill>
              <a:latin typeface="Noto Sans CJK SC"/>
            </a:endParaRPr>
          </a:p>
          <a:p>
            <a:pPr>
              <a:spcAft>
                <a:spcPts val="800"/>
              </a:spcAft>
            </a:pPr>
            <a:r>
              <a:rPr sz="1200" b="1">
                <a:solidFill>
                  <a:srgbClr val="1C1917"/>
                </a:solidFill>
                <a:latin typeface="Noto Sans CJK SC"/>
              </a:rPr>
              <a:t>• 管理做法： </a:t>
            </a:r>
            <a:r>
              <a:rPr sz="1200">
                <a:solidFill>
                  <a:srgbClr val="57534E"/>
                </a:solidFill>
                <a:latin typeface="Noto Sans CJK SC"/>
              </a:rPr>
              <a:t>文件系统分层架构，以标准 SKILL.md 为核心，挂载脚本与参考资料。</a:t>
            </a:r>
            <a:endParaRPr sz="1200">
              <a:solidFill>
                <a:srgbClr val="57534E"/>
              </a:solidFill>
              <a:latin typeface="Noto Sans CJK SC"/>
            </a:endParaRPr>
          </a:p>
          <a:p>
            <a:pPr>
              <a:spcAft>
                <a:spcPts val="800"/>
              </a:spcAft>
            </a:pPr>
            <a:r>
              <a:rPr sz="1200" b="1">
                <a:solidFill>
                  <a:srgbClr val="1C1917"/>
                </a:solidFill>
                <a:latin typeface="Noto Sans CJK SC"/>
              </a:rPr>
              <a:t>• 核心优势： </a:t>
            </a:r>
            <a:r>
              <a:rPr sz="1200">
                <a:solidFill>
                  <a:srgbClr val="57534E"/>
                </a:solidFill>
                <a:latin typeface="Noto Sans CJK SC"/>
              </a:rPr>
              <a:t>渐进式披露机制，将完整操作指令推迟到触发后按需加载。</a:t>
            </a:r>
            <a:endParaRPr sz="1200">
              <a:solidFill>
                <a:srgbClr val="57534E"/>
              </a:solidFill>
              <a:latin typeface="Noto Sans CJK SC"/>
            </a:endParaRPr>
          </a:p>
          <a:p>
            <a:pPr>
              <a:spcAft>
                <a:spcPts val="800"/>
              </a:spcAft>
            </a:pPr>
            <a:r>
              <a:rPr sz="1200" b="1">
                <a:solidFill>
                  <a:srgbClr val="1C1917"/>
                </a:solidFill>
                <a:latin typeface="Noto Sans CJK SC"/>
              </a:rPr>
              <a:t>• 深层死穴： </a:t>
            </a:r>
            <a:r>
              <a:rPr sz="1200">
                <a:solidFill>
                  <a:srgbClr val="57534E"/>
                </a:solidFill>
                <a:latin typeface="Noto Sans CJK SC"/>
              </a:rPr>
              <a:t>第一级元数据（name + description）仍需全部进入 System Prompt！当库扩展到数千规模时，第一级元数据便会撑爆上下文！</a:t>
            </a:r>
            <a:endParaRPr sz="1200">
              <a:solidFill>
                <a:srgbClr val="57534E"/>
              </a:solidFill>
              <a:latin typeface="Noto Sans CJK SC"/>
            </a:endParaRPr>
          </a:p>
        </p:txBody>
      </p:sp>
      <p:sp>
        <p:nvSpPr>
          <p:cNvPr id="159" name="Rounded Rectangle 9"/>
          <p:cNvSpPr/>
          <p:nvPr/>
        </p:nvSpPr>
        <p:spPr>
          <a:xfrm>
            <a:off x="731520" y="5440680"/>
            <a:ext cx="10728655" cy="685800"/>
          </a:xfrm>
          <a:prstGeom prst="roundRect">
            <a:avLst>
              <a:gd name="adj" fmla="val 5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0"/>
          <p:cNvSpPr txBox="1"/>
          <p:nvPr/>
        </p:nvSpPr>
        <p:spPr>
          <a:xfrm>
            <a:off x="960120" y="5532120"/>
            <a:ext cx="10271455" cy="502920"/>
          </a:xfrm>
          <a:prstGeom prst="rect">
            <a:avLst/>
          </a:prstGeom>
          <a:noFill/>
        </p:spPr>
        <p:txBody>
          <a:bodyPr wrap="square" lIns="0" tIns="0" rIns="0" bIns="0">
            <a:spAutoFit/>
          </a:bodyPr>
          <a:lstStyle/>
          <a:p>
            <a:r>
              <a:rPr sz="1200" b="1">
                <a:solidFill>
                  <a:srgbClr val="C2410C"/>
                </a:solidFill>
                <a:latin typeface="Noto Sans CJK SC"/>
              </a:rPr>
              <a:t>行业核心洞察：</a:t>
            </a:r>
            <a:r>
              <a:rPr sz="1200">
                <a:solidFill>
                  <a:srgbClr val="1C1917"/>
                </a:solidFill>
                <a:latin typeface="Noto Sans CJK SC"/>
              </a:rPr>
              <a:t>技能管理下一阶段的瓶颈不再是“如何创建”，而是超大规模库下的“检索效率、冲突消歧与生命周期治理”。</a:t>
            </a:r>
            <a:endParaRPr sz="1200">
              <a:solidFill>
                <a:srgbClr val="1C1917"/>
              </a:solidFill>
              <a:latin typeface="Noto Sans CJK SC"/>
            </a:endParaRPr>
          </a:p>
        </p:txBody>
      </p:sp>
      <p:sp>
        <p:nvSpPr>
          <p:cNvPr id="161" name="Rectangle 11"/>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2"/>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163" name="TextBox 13"/>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2 / 18 页</a:t>
            </a:r>
            <a:endParaRPr sz="1050" b="1">
              <a:solidFill>
                <a:srgbClr val="78716C"/>
              </a:solidFill>
              <a:latin typeface="Noto Sans CJK S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64" name=""/>
        <p:cNvGrpSpPr/>
        <p:nvPr/>
      </p:nvGrpSpPr>
      <p:grpSpPr>
        <a:xfrm>
          <a:off x="0" y="0"/>
          <a:ext cx="0" cy="0"/>
          <a:chOff x="0" y="0"/>
          <a:chExt cx="0" cy="0"/>
        </a:xfrm>
      </p:grpSpPr>
      <p:sp>
        <p:nvSpPr>
          <p:cNvPr id="165"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02 · 核心问题剖析（一）</a:t>
            </a:r>
            <a:endParaRPr sz="1150" b="1">
              <a:solidFill>
                <a:srgbClr val="C2410C"/>
              </a:solidFill>
              <a:latin typeface="Noto Sans CJK SC"/>
            </a:endParaRPr>
          </a:p>
        </p:txBody>
      </p:sp>
      <p:sp>
        <p:nvSpPr>
          <p:cNvPr id="167"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长对话下的答非所问与时序滞后（Off-by-one Turn Lag）</a:t>
            </a:r>
            <a:endParaRPr sz="2100" b="1">
              <a:solidFill>
                <a:srgbClr val="1C1917"/>
              </a:solidFill>
              <a:latin typeface="Noto Sans CJK SC"/>
            </a:endParaRPr>
          </a:p>
        </p:txBody>
      </p:sp>
      <p:sp>
        <p:nvSpPr>
          <p:cNvPr id="168"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ounded Rectangle 5"/>
          <p:cNvSpPr/>
          <p:nvPr/>
        </p:nvSpPr>
        <p:spPr>
          <a:xfrm>
            <a:off x="731520" y="1536192"/>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6"/>
          <p:cNvSpPr txBox="1"/>
          <p:nvPr/>
        </p:nvSpPr>
        <p:spPr>
          <a:xfrm>
            <a:off x="960120" y="1645919"/>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一、面临问题：</a:t>
            </a:r>
            <a:r>
              <a:rPr sz="1300" b="1">
                <a:solidFill>
                  <a:srgbClr val="1C1917"/>
                </a:solidFill>
                <a:latin typeface="Noto Sans CJK SC"/>
              </a:rPr>
              <a:t>长对话多轮交互时，模型频繁出现“答非所问”</a:t>
            </a:r>
            <a:endParaRPr sz="1300" b="1">
              <a:solidFill>
                <a:srgbClr val="1C1917"/>
              </a:solidFill>
              <a:latin typeface="Noto Sans CJK SC"/>
            </a:endParaRPr>
          </a:p>
          <a:p>
            <a:pPr>
              <a:spcAft>
                <a:spcPts val="200"/>
              </a:spcAft>
            </a:pPr>
            <a:r>
              <a:rPr sz="1150">
                <a:solidFill>
                  <a:srgbClr val="57534E"/>
                </a:solidFill>
                <a:latin typeface="Noto Sans CJK SC"/>
                <a:hlinkClick r:id="rId1" tooltip="" action="ppaction://hlinkfile"/>
              </a:rPr>
              <a:t>用户在前一轮询问“运作流程”，在后一轮转而询问“概念区别”，模型却在新一轮输出中继续细化上一轮的流程问题，连续两轮出现时序错位交付。</a:t>
            </a:r>
            <a:endParaRPr sz="1150">
              <a:solidFill>
                <a:srgbClr val="57534E"/>
              </a:solidFill>
              <a:latin typeface="Noto Sans CJK SC"/>
            </a:endParaRPr>
          </a:p>
        </p:txBody>
      </p:sp>
      <p:sp>
        <p:nvSpPr>
          <p:cNvPr id="171" name="Rounded Rectangle 7"/>
          <p:cNvSpPr/>
          <p:nvPr/>
        </p:nvSpPr>
        <p:spPr>
          <a:xfrm>
            <a:off x="731520" y="3063239"/>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8"/>
          <p:cNvSpPr txBox="1"/>
          <p:nvPr/>
        </p:nvSpPr>
        <p:spPr>
          <a:xfrm>
            <a:off x="960120" y="3172968"/>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二、根因剖析：</a:t>
            </a:r>
            <a:r>
              <a:rPr sz="1300" b="1">
                <a:solidFill>
                  <a:srgbClr val="1C1917"/>
                </a:solidFill>
                <a:latin typeface="Noto Sans CJK SC"/>
              </a:rPr>
              <a:t>技能会话状态未及时销毁，缺乏退出与打断机制</a:t>
            </a:r>
            <a:endParaRPr sz="1300" b="1">
              <a:solidFill>
                <a:srgbClr val="1C1917"/>
              </a:solidFill>
              <a:latin typeface="Noto Sans CJK SC"/>
            </a:endParaRPr>
          </a:p>
          <a:p>
            <a:pPr>
              <a:spcAft>
                <a:spcPts val="200"/>
              </a:spcAft>
            </a:pPr>
            <a:r>
              <a:rPr sz="1150">
                <a:solidFill>
                  <a:srgbClr val="57534E"/>
                </a:solidFill>
                <a:latin typeface="Noto Sans CJK SC"/>
              </a:rPr>
              <a:t>① 前序技能生命周期未随轮次结束正常关闭（State Carryover）；</a:t>
            </a:r>
            <a:endParaRPr sz="1150">
              <a:solidFill>
                <a:srgbClr val="57534E"/>
              </a:solidFill>
              <a:latin typeface="Noto Sans CJK SC"/>
            </a:endParaRPr>
          </a:p>
          <a:p>
            <a:pPr>
              <a:spcAft>
                <a:spcPts val="200"/>
              </a:spcAft>
            </a:pPr>
            <a:r>
              <a:rPr sz="1150">
                <a:solidFill>
                  <a:srgbClr val="57534E"/>
                </a:solidFill>
                <a:latin typeface="Noto Sans CJK SC"/>
              </a:rPr>
              <a:t>② 缺乏主动中断与重路由机制（Interrupt &amp; Rerouting），大模型产生强烈的思维链（CoT）自回归惯性，把新提问误判为旧任务的补充。</a:t>
            </a:r>
            <a:endParaRPr sz="1150">
              <a:solidFill>
                <a:srgbClr val="57534E"/>
              </a:solidFill>
              <a:latin typeface="Noto Sans CJK SC"/>
            </a:endParaRPr>
          </a:p>
        </p:txBody>
      </p:sp>
      <p:sp>
        <p:nvSpPr>
          <p:cNvPr id="173" name="Rounded Rectangle 9"/>
          <p:cNvSpPr/>
          <p:nvPr/>
        </p:nvSpPr>
        <p:spPr>
          <a:xfrm>
            <a:off x="731520" y="4590288"/>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0"/>
          <p:cNvSpPr txBox="1"/>
          <p:nvPr/>
        </p:nvSpPr>
        <p:spPr>
          <a:xfrm>
            <a:off x="960120" y="4700016"/>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三、应对方案：</a:t>
            </a:r>
            <a:r>
              <a:rPr sz="1300" b="1">
                <a:solidFill>
                  <a:srgbClr val="1C1917"/>
                </a:solidFill>
                <a:latin typeface="Noto Sans CJK SC"/>
              </a:rPr>
              <a:t>设计轻量级三维判定门禁，实现智能会话抢占</a:t>
            </a:r>
            <a:endParaRPr sz="1300" b="1">
              <a:solidFill>
                <a:srgbClr val="1C1917"/>
              </a:solidFill>
              <a:latin typeface="Noto Sans CJK SC"/>
            </a:endParaRPr>
          </a:p>
          <a:p>
            <a:pPr>
              <a:spcAft>
                <a:spcPts val="200"/>
              </a:spcAft>
            </a:pPr>
            <a:r>
              <a:rPr sz="1150">
                <a:solidFill>
                  <a:srgbClr val="57534E"/>
                </a:solidFill>
                <a:latin typeface="Noto Sans CJK SC"/>
              </a:rPr>
              <a:t>① 结构自闭环测试 (Zero-Context Test)：判断新指令脱离上文是否具备独立可执行性；</a:t>
            </a:r>
            <a:endParaRPr sz="1150">
              <a:solidFill>
                <a:srgbClr val="57534E"/>
              </a:solidFill>
              <a:latin typeface="Noto Sans CJK SC"/>
            </a:endParaRPr>
          </a:p>
          <a:p>
            <a:pPr>
              <a:spcAft>
                <a:spcPts val="200"/>
              </a:spcAft>
            </a:pPr>
            <a:r>
              <a:rPr sz="1150">
                <a:solidFill>
                  <a:srgbClr val="57534E"/>
                </a:solidFill>
                <a:latin typeface="Noto Sans CJK SC"/>
              </a:rPr>
              <a:t>② 参数槽位继承性检查：判断是否在修改、复用前序参数；</a:t>
            </a:r>
            <a:endParaRPr sz="1150">
              <a:solidFill>
                <a:srgbClr val="57534E"/>
              </a:solidFill>
              <a:latin typeface="Noto Sans CJK SC"/>
            </a:endParaRPr>
          </a:p>
          <a:p>
            <a:pPr>
              <a:spcAft>
                <a:spcPts val="200"/>
              </a:spcAft>
            </a:pPr>
            <a:r>
              <a:rPr sz="1150">
                <a:solidFill>
                  <a:srgbClr val="57534E"/>
                </a:solidFill>
                <a:latin typeface="Noto Sans CJK SC"/>
              </a:rPr>
              <a:t>③ 技能边界匹配度：判定旧技能是否超纲。一旦确认切换话题，强制显式中断旧技能并重路由。</a:t>
            </a:r>
            <a:endParaRPr sz="1150">
              <a:solidFill>
                <a:srgbClr val="57534E"/>
              </a:solidFill>
              <a:latin typeface="Noto Sans CJK SC"/>
            </a:endParaRPr>
          </a:p>
        </p:txBody>
      </p:sp>
      <p:sp>
        <p:nvSpPr>
          <p:cNvPr id="175" name="Rectangle 11"/>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2"/>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177" name="TextBox 13"/>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3 / 18 页</a:t>
            </a:r>
            <a:endParaRPr sz="1050" b="1">
              <a:solidFill>
                <a:srgbClr val="78716C"/>
              </a:solidFill>
              <a:latin typeface="Noto Sans CJK SC"/>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78" name=""/>
        <p:cNvGrpSpPr/>
        <p:nvPr/>
      </p:nvGrpSpPr>
      <p:grpSpPr>
        <a:xfrm>
          <a:off x="0" y="0"/>
          <a:ext cx="0" cy="0"/>
          <a:chOff x="0" y="0"/>
          <a:chExt cx="0" cy="0"/>
        </a:xfrm>
      </p:grpSpPr>
      <p:sp>
        <p:nvSpPr>
          <p:cNvPr id="179"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02 · 核心问题剖析（二）</a:t>
            </a:r>
            <a:endParaRPr sz="1150" b="1">
              <a:solidFill>
                <a:srgbClr val="C2410C"/>
              </a:solidFill>
              <a:latin typeface="Noto Sans CJK SC"/>
            </a:endParaRPr>
          </a:p>
        </p:txBody>
      </p:sp>
      <p:sp>
        <p:nvSpPr>
          <p:cNvPr id="181"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技能库膨胀下的语义踩踏与选择低效（Skill Collision）</a:t>
            </a:r>
            <a:endParaRPr sz="2100" b="1">
              <a:solidFill>
                <a:srgbClr val="1C1917"/>
              </a:solidFill>
              <a:latin typeface="Noto Sans CJK SC"/>
            </a:endParaRPr>
          </a:p>
        </p:txBody>
      </p:sp>
      <p:sp>
        <p:nvSpPr>
          <p:cNvPr id="182"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ounded Rectangle 5"/>
          <p:cNvSpPr/>
          <p:nvPr/>
        </p:nvSpPr>
        <p:spPr>
          <a:xfrm>
            <a:off x="731520" y="1536192"/>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6"/>
          <p:cNvSpPr txBox="1"/>
          <p:nvPr/>
        </p:nvSpPr>
        <p:spPr>
          <a:xfrm>
            <a:off x="960120" y="1645919"/>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一、面临问题：</a:t>
            </a:r>
            <a:r>
              <a:rPr sz="1300" b="1">
                <a:solidFill>
                  <a:srgbClr val="1C1917"/>
                </a:solidFill>
                <a:latin typeface="Noto Sans CJK SC"/>
              </a:rPr>
              <a:t>技能库膨胀后，同质化严重导致模型频繁选错</a:t>
            </a:r>
            <a:endParaRPr sz="1300" b="1">
              <a:solidFill>
                <a:srgbClr val="1C1917"/>
              </a:solidFill>
              <a:latin typeface="Noto Sans CJK SC"/>
            </a:endParaRPr>
          </a:p>
          <a:p>
            <a:pPr>
              <a:spcAft>
                <a:spcPts val="200"/>
              </a:spcAft>
            </a:pPr>
            <a:r>
              <a:rPr sz="1150">
                <a:solidFill>
                  <a:srgbClr val="57534E"/>
                </a:solidFill>
                <a:latin typeface="Noto Sans CJK SC"/>
              </a:rPr>
              <a:t>当技能数量达到成百上千时，大量功能相似的技能发生语义重叠与踩踏，出现“权重高但并不适合的通用技能长期霸占调用权，更适配的垂直技能永远无法被召回”的现象。</a:t>
            </a:r>
            <a:endParaRPr sz="1150">
              <a:solidFill>
                <a:srgbClr val="57534E"/>
              </a:solidFill>
              <a:latin typeface="Noto Sans CJK SC"/>
            </a:endParaRPr>
          </a:p>
        </p:txBody>
      </p:sp>
      <p:sp>
        <p:nvSpPr>
          <p:cNvPr id="185" name="Rounded Rectangle 7"/>
          <p:cNvSpPr/>
          <p:nvPr/>
        </p:nvSpPr>
        <p:spPr>
          <a:xfrm>
            <a:off x="731520" y="3063239"/>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8"/>
          <p:cNvSpPr txBox="1"/>
          <p:nvPr/>
        </p:nvSpPr>
        <p:spPr>
          <a:xfrm>
            <a:off x="960120" y="3172968"/>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二、根因剖析：</a:t>
            </a:r>
            <a:r>
              <a:rPr sz="1300" b="1">
                <a:solidFill>
                  <a:srgbClr val="1C1917"/>
                </a:solidFill>
                <a:latin typeface="Noto Sans CJK SC"/>
              </a:rPr>
              <a:t>技能描述过于泛化，产生“语义贪婪”</a:t>
            </a:r>
            <a:endParaRPr sz="1300" b="1">
              <a:solidFill>
                <a:srgbClr val="1C1917"/>
              </a:solidFill>
              <a:latin typeface="Noto Sans CJK SC"/>
            </a:endParaRPr>
          </a:p>
          <a:p>
            <a:pPr>
              <a:spcAft>
                <a:spcPts val="200"/>
              </a:spcAft>
            </a:pPr>
            <a:r>
              <a:rPr sz="1150">
                <a:solidFill>
                  <a:srgbClr val="57534E"/>
                </a:solidFill>
                <a:latin typeface="Noto Sans CJK SC"/>
              </a:rPr>
              <a:t>技能在注册时缺少明确的能力边界定义，微名片描述大而全，导致匹配相似度虚高；同时系统缺乏负向过滤机制，模型无法识别“何时不该调用该技能”。</a:t>
            </a:r>
            <a:endParaRPr sz="1150">
              <a:solidFill>
                <a:srgbClr val="57534E"/>
              </a:solidFill>
              <a:latin typeface="Noto Sans CJK SC"/>
            </a:endParaRPr>
          </a:p>
        </p:txBody>
      </p:sp>
      <p:sp>
        <p:nvSpPr>
          <p:cNvPr id="187" name="Rounded Rectangle 9"/>
          <p:cNvSpPr/>
          <p:nvPr/>
        </p:nvSpPr>
        <p:spPr>
          <a:xfrm>
            <a:off x="731520" y="4590288"/>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0"/>
          <p:cNvSpPr txBox="1"/>
          <p:nvPr/>
        </p:nvSpPr>
        <p:spPr>
          <a:xfrm>
            <a:off x="960120" y="4700016"/>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三、应对方案：</a:t>
            </a:r>
            <a:r>
              <a:rPr sz="1300" b="1">
                <a:solidFill>
                  <a:srgbClr val="1C1917"/>
                </a:solidFill>
                <a:latin typeface="Noto Sans CJK SC"/>
              </a:rPr>
              <a:t>注册排他门禁 + 负向消歧 + 冷门探索配额</a:t>
            </a:r>
            <a:endParaRPr sz="1300" b="1">
              <a:solidFill>
                <a:srgbClr val="1C1917"/>
              </a:solidFill>
              <a:latin typeface="Noto Sans CJK SC"/>
            </a:endParaRPr>
          </a:p>
          <a:p>
            <a:pPr>
              <a:spcAft>
                <a:spcPts val="200"/>
              </a:spcAft>
            </a:pPr>
            <a:r>
              <a:rPr sz="1150">
                <a:solidFill>
                  <a:srgbClr val="57534E"/>
                </a:solidFill>
                <a:latin typeface="Noto Sans CJK SC"/>
              </a:rPr>
              <a:t>① 防碰撞排他检查：注册时相似度高于 0.90 强制驳回，必须补充消歧专有属性；</a:t>
            </a:r>
            <a:endParaRPr sz="1150">
              <a:solidFill>
                <a:srgbClr val="57534E"/>
              </a:solidFill>
              <a:latin typeface="Noto Sans CJK SC"/>
            </a:endParaRPr>
          </a:p>
          <a:p>
            <a:pPr>
              <a:spcAft>
                <a:spcPts val="200"/>
              </a:spcAft>
            </a:pPr>
            <a:r>
              <a:rPr sz="1150">
                <a:solidFill>
                  <a:srgbClr val="57534E"/>
                </a:solidFill>
                <a:latin typeface="Noto Sans CJK SC"/>
              </a:rPr>
              <a:t>② 引入反面示例 (Negative Examples)：在技能中明确声明“在某某场景严禁调用我”；</a:t>
            </a:r>
            <a:endParaRPr sz="1150">
              <a:solidFill>
                <a:srgbClr val="57534E"/>
              </a:solidFill>
              <a:latin typeface="Noto Sans CJK SC"/>
            </a:endParaRPr>
          </a:p>
          <a:p>
            <a:pPr>
              <a:spcAft>
                <a:spcPts val="200"/>
              </a:spcAft>
            </a:pPr>
            <a:r>
              <a:rPr sz="1150">
                <a:solidFill>
                  <a:srgbClr val="57534E"/>
                </a:solidFill>
                <a:latin typeface="Noto Sans CJK SC"/>
              </a:rPr>
              <a:t>③ 调度配额保障：每月强制保留 10% 的探测机会给未充分使用的冷门技能。</a:t>
            </a:r>
            <a:endParaRPr sz="1150">
              <a:solidFill>
                <a:srgbClr val="57534E"/>
              </a:solidFill>
              <a:latin typeface="Noto Sans CJK SC"/>
            </a:endParaRPr>
          </a:p>
        </p:txBody>
      </p:sp>
      <p:sp>
        <p:nvSpPr>
          <p:cNvPr id="189" name="Rectangle 11"/>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2"/>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191" name="TextBox 13"/>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4 / 18 页</a:t>
            </a:r>
            <a:endParaRPr sz="1050" b="1">
              <a:solidFill>
                <a:srgbClr val="78716C"/>
              </a:solidFill>
              <a:latin typeface="Noto Sans CJK S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92" name=""/>
        <p:cNvGrpSpPr/>
        <p:nvPr/>
      </p:nvGrpSpPr>
      <p:grpSpPr>
        <a:xfrm>
          <a:off x="0" y="0"/>
          <a:ext cx="0" cy="0"/>
          <a:chOff x="0" y="0"/>
          <a:chExt cx="0" cy="0"/>
        </a:xfrm>
      </p:grpSpPr>
      <p:sp>
        <p:nvSpPr>
          <p:cNvPr id="193"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02 · 核心问题剖析（三）</a:t>
            </a:r>
            <a:endParaRPr sz="1150" b="1">
              <a:solidFill>
                <a:srgbClr val="C2410C"/>
              </a:solidFill>
              <a:latin typeface="Noto Sans CJK SC"/>
            </a:endParaRPr>
          </a:p>
        </p:txBody>
      </p:sp>
      <p:sp>
        <p:nvSpPr>
          <p:cNvPr id="195"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外部接口更新不及时与模式漂移（Schema Drift）</a:t>
            </a:r>
            <a:endParaRPr sz="2100" b="1">
              <a:solidFill>
                <a:srgbClr val="1C1917"/>
              </a:solidFill>
              <a:latin typeface="Noto Sans CJK SC"/>
            </a:endParaRPr>
          </a:p>
        </p:txBody>
      </p:sp>
      <p:sp>
        <p:nvSpPr>
          <p:cNvPr id="196"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ounded Rectangle 5"/>
          <p:cNvSpPr/>
          <p:nvPr/>
        </p:nvSpPr>
        <p:spPr>
          <a:xfrm>
            <a:off x="731520" y="1536192"/>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6"/>
          <p:cNvSpPr txBox="1"/>
          <p:nvPr/>
        </p:nvSpPr>
        <p:spPr>
          <a:xfrm>
            <a:off x="960120" y="1645919"/>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一、面临问题：</a:t>
            </a:r>
            <a:r>
              <a:rPr sz="1300" b="1">
                <a:solidFill>
                  <a:srgbClr val="1C1917"/>
                </a:solidFill>
                <a:latin typeface="Noto Sans CJK SC"/>
              </a:rPr>
              <a:t>外部 API 变动导致技能调用瘫痪与参数幻觉</a:t>
            </a:r>
            <a:endParaRPr sz="1300" b="1">
              <a:solidFill>
                <a:srgbClr val="1C1917"/>
              </a:solidFill>
              <a:latin typeface="Noto Sans CJK SC"/>
            </a:endParaRPr>
          </a:p>
          <a:p>
            <a:pPr>
              <a:spcAft>
                <a:spcPts val="200"/>
              </a:spcAft>
            </a:pPr>
            <a:r>
              <a:rPr sz="1150">
                <a:solidFill>
                  <a:srgbClr val="57534E"/>
                </a:solidFill>
                <a:latin typeface="Noto Sans CJK SC"/>
              </a:rPr>
              <a:t>第三方软件或内部中台升级后，接口路径或参数名称发生改动。技能文档未及时更新，Agent 仍按旧说明发起请求，频繁报 404/410 错误，甚至强行编造入参引发严重参数幻觉。</a:t>
            </a:r>
            <a:endParaRPr sz="1150">
              <a:solidFill>
                <a:srgbClr val="57534E"/>
              </a:solidFill>
              <a:latin typeface="Noto Sans CJK SC"/>
            </a:endParaRPr>
          </a:p>
        </p:txBody>
      </p:sp>
      <p:sp>
        <p:nvSpPr>
          <p:cNvPr id="199" name="Rounded Rectangle 7"/>
          <p:cNvSpPr/>
          <p:nvPr/>
        </p:nvSpPr>
        <p:spPr>
          <a:xfrm>
            <a:off x="731520" y="3063239"/>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8"/>
          <p:cNvSpPr txBox="1"/>
          <p:nvPr/>
        </p:nvSpPr>
        <p:spPr>
          <a:xfrm>
            <a:off x="960120" y="3172968"/>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二、根因剖析：</a:t>
            </a:r>
            <a:r>
              <a:rPr sz="1300" b="1">
                <a:solidFill>
                  <a:srgbClr val="1C1917"/>
                </a:solidFill>
                <a:latin typeface="Noto Sans CJK SC"/>
              </a:rPr>
              <a:t>接口状态被动感知，人工维护滞后且成本巨大</a:t>
            </a:r>
            <a:endParaRPr sz="1300" b="1">
              <a:solidFill>
                <a:srgbClr val="1C1917"/>
              </a:solidFill>
              <a:latin typeface="Noto Sans CJK SC"/>
            </a:endParaRPr>
          </a:p>
          <a:p>
            <a:pPr>
              <a:spcAft>
                <a:spcPts val="200"/>
              </a:spcAft>
            </a:pPr>
            <a:r>
              <a:rPr sz="1150">
                <a:solidFill>
                  <a:srgbClr val="57534E"/>
                </a:solidFill>
                <a:latin typeface="Noto Sans CJK SC"/>
              </a:rPr>
              <a:t>传统的技能库将 API 描述作为静态文本存储，没有记录其上游契约来源（Swagger/代码仓），系统缺乏主动探测变更与版本演进追踪的能力。</a:t>
            </a:r>
            <a:endParaRPr sz="1150">
              <a:solidFill>
                <a:srgbClr val="57534E"/>
              </a:solidFill>
              <a:latin typeface="Noto Sans CJK SC"/>
            </a:endParaRPr>
          </a:p>
        </p:txBody>
      </p:sp>
      <p:sp>
        <p:nvSpPr>
          <p:cNvPr id="201" name="Rounded Rectangle 9"/>
          <p:cNvSpPr/>
          <p:nvPr/>
        </p:nvSpPr>
        <p:spPr>
          <a:xfrm>
            <a:off x="731520" y="4590288"/>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10"/>
          <p:cNvSpPr txBox="1"/>
          <p:nvPr/>
        </p:nvSpPr>
        <p:spPr>
          <a:xfrm>
            <a:off x="960120" y="4700016"/>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三、应对方案：</a:t>
            </a:r>
            <a:r>
              <a:rPr sz="1300" b="1">
                <a:solidFill>
                  <a:srgbClr val="1C1917"/>
                </a:solidFill>
                <a:latin typeface="Noto Sans CJK SC"/>
              </a:rPr>
              <a:t>沙箱预先探测 + 溯源指针反向修复与热补丁</a:t>
            </a:r>
            <a:endParaRPr sz="1300" b="1">
              <a:solidFill>
                <a:srgbClr val="1C1917"/>
              </a:solidFill>
              <a:latin typeface="Noto Sans CJK SC"/>
            </a:endParaRPr>
          </a:p>
          <a:p>
            <a:pPr>
              <a:spcAft>
                <a:spcPts val="200"/>
              </a:spcAft>
            </a:pPr>
            <a:r>
              <a:rPr sz="1150">
                <a:solidFill>
                  <a:srgbClr val="57534E"/>
                </a:solidFill>
                <a:latin typeface="Noto Sans CJK SC"/>
              </a:rPr>
              <a:t>① 沙箱预检：在真实隔离环境中定期主动向外部 API 发起探测，提早发现失效；</a:t>
            </a:r>
            <a:endParaRPr sz="1150">
              <a:solidFill>
                <a:srgbClr val="57534E"/>
              </a:solidFill>
              <a:latin typeface="Noto Sans CJK SC"/>
            </a:endParaRPr>
          </a:p>
          <a:p>
            <a:pPr>
              <a:spcAft>
                <a:spcPts val="200"/>
              </a:spcAft>
            </a:pPr>
            <a:r>
              <a:rPr sz="1150">
                <a:solidFill>
                  <a:srgbClr val="57534E"/>
                </a:solidFill>
                <a:latin typeface="Noto Sans CJK SC"/>
              </a:rPr>
              <a:t>② 溯源自愈：元数据强制绑定来源指针，接口报错时顺藤摸瓜检索最新变更日志（Changelog），大模型在沙箱中自动映射新参数，测试成功后自动写入热补丁升级。</a:t>
            </a:r>
            <a:endParaRPr sz="1150">
              <a:solidFill>
                <a:srgbClr val="57534E"/>
              </a:solidFill>
              <a:latin typeface="Noto Sans CJK SC"/>
            </a:endParaRPr>
          </a:p>
        </p:txBody>
      </p:sp>
      <p:sp>
        <p:nvSpPr>
          <p:cNvPr id="203" name="Rectangle 11"/>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12"/>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205" name="TextBox 13"/>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5 / 18 页</a:t>
            </a:r>
            <a:endParaRPr sz="1050" b="1">
              <a:solidFill>
                <a:srgbClr val="78716C"/>
              </a:solidFill>
              <a:latin typeface="Noto Sans CJK SC"/>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06" name=""/>
        <p:cNvGrpSpPr/>
        <p:nvPr/>
      </p:nvGrpSpPr>
      <p:grpSpPr>
        <a:xfrm>
          <a:off x="0" y="0"/>
          <a:ext cx="0" cy="0"/>
          <a:chOff x="0" y="0"/>
          <a:chExt cx="0" cy="0"/>
        </a:xfrm>
      </p:grpSpPr>
      <p:sp>
        <p:nvSpPr>
          <p:cNvPr id="207"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03 · 需求分析与用户画像</a:t>
            </a:r>
            <a:endParaRPr sz="1150" b="1">
              <a:solidFill>
                <a:srgbClr val="C2410C"/>
              </a:solidFill>
              <a:latin typeface="Noto Sans CJK SC"/>
            </a:endParaRPr>
          </a:p>
        </p:txBody>
      </p:sp>
      <p:sp>
        <p:nvSpPr>
          <p:cNvPr id="209"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目标用户角色与痛点需求映射表</a:t>
            </a:r>
            <a:endParaRPr sz="2100" b="1">
              <a:solidFill>
                <a:srgbClr val="1C1917"/>
              </a:solidFill>
              <a:latin typeface="Noto Sans CJK SC"/>
            </a:endParaRPr>
          </a:p>
        </p:txBody>
      </p:sp>
      <p:sp>
        <p:nvSpPr>
          <p:cNvPr id="210"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11" name="Table 5"/>
          <p:cNvGraphicFramePr/>
          <p:nvPr/>
        </p:nvGraphicFramePr>
        <p:xfrm>
          <a:off x="731520" y="1866900"/>
          <a:ext cx="10728655" cy="3566160"/>
        </p:xfrm>
        <a:graphic>
          <a:graphicData uri="http://schemas.openxmlformats.org/drawingml/2006/table">
            <a:tbl>
              <a:tblPr firstRow="1" bandRow="1">
                <a:tableStyleId>{5C22544A-7EE6-4342-B048-85BDC9FD1C3A}</a:tableStyleId>
              </a:tblPr>
              <a:tblGrid>
                <a:gridCol w="1828800"/>
                <a:gridCol w="2011680"/>
                <a:gridCol w="3474720"/>
                <a:gridCol w="3413455"/>
              </a:tblGrid>
              <a:tr h="594360">
                <a:tc>
                  <a:txBody>
                    <a:bodyPr wrap="square"/>
                    <a:lstStyle/>
                    <a:p>
                      <a:r>
                        <a:rPr sz="1150" b="1">
                          <a:solidFill>
                            <a:srgbClr val="FFFFFF"/>
                          </a:solidFill>
                          <a:latin typeface="Noto Sans CJK SC"/>
                        </a:rPr>
                        <a:t>目标用户</a:t>
                      </a:r>
                      <a:endParaRPr sz="1150" b="1">
                        <a:solidFill>
                          <a:srgbClr val="FFFFFF"/>
                        </a:solidFill>
                        <a:latin typeface="Noto Sans CJK SC"/>
                      </a:endParaRPr>
                    </a:p>
                  </a:txBody>
                  <a:tcPr marL="109728" marR="109728" marT="73152" marB="73152">
                    <a:solidFill>
                      <a:srgbClr val="C2410C"/>
                    </a:solidFill>
                  </a:tcPr>
                </a:tc>
                <a:tc>
                  <a:txBody>
                    <a:bodyPr wrap="square"/>
                    <a:lstStyle/>
                    <a:p>
                      <a:r>
                        <a:rPr sz="1150" b="1">
                          <a:solidFill>
                            <a:srgbClr val="FFFFFF"/>
                          </a:solidFill>
                          <a:latin typeface="Noto Sans CJK SC"/>
                        </a:rPr>
                        <a:t>使用场景</a:t>
                      </a:r>
                      <a:endParaRPr sz="1150" b="1">
                        <a:solidFill>
                          <a:srgbClr val="FFFFFF"/>
                        </a:solidFill>
                        <a:latin typeface="Noto Sans CJK SC"/>
                      </a:endParaRPr>
                    </a:p>
                  </a:txBody>
                  <a:tcPr marL="109728" marR="109728" marT="73152" marB="73152">
                    <a:solidFill>
                      <a:srgbClr val="C2410C"/>
                    </a:solidFill>
                  </a:tcPr>
                </a:tc>
                <a:tc>
                  <a:txBody>
                    <a:bodyPr wrap="square"/>
                    <a:lstStyle/>
                    <a:p>
                      <a:r>
                        <a:rPr sz="1150" b="1">
                          <a:solidFill>
                            <a:srgbClr val="FFFFFF"/>
                          </a:solidFill>
                          <a:latin typeface="Noto Sans CJK SC"/>
                        </a:rPr>
                        <a:t>核心痛点</a:t>
                      </a:r>
                      <a:endParaRPr sz="1150" b="1">
                        <a:solidFill>
                          <a:srgbClr val="FFFFFF"/>
                        </a:solidFill>
                        <a:latin typeface="Noto Sans CJK SC"/>
                      </a:endParaRPr>
                    </a:p>
                  </a:txBody>
                  <a:tcPr marL="109728" marR="109728" marT="73152" marB="73152">
                    <a:solidFill>
                      <a:srgbClr val="C2410C"/>
                    </a:solidFill>
                  </a:tcPr>
                </a:tc>
                <a:tc>
                  <a:txBody>
                    <a:bodyPr wrap="square"/>
                    <a:lstStyle/>
                    <a:p>
                      <a:r>
                        <a:rPr sz="1150" b="1">
                          <a:solidFill>
                            <a:srgbClr val="FFFFFF"/>
                          </a:solidFill>
                          <a:latin typeface="Noto Sans CJK SC"/>
                        </a:rPr>
                        <a:t>对应用户需求</a:t>
                      </a:r>
                      <a:endParaRPr sz="1150" b="1">
                        <a:solidFill>
                          <a:srgbClr val="FFFFFF"/>
                        </a:solidFill>
                        <a:latin typeface="Noto Sans CJK SC"/>
                      </a:endParaRPr>
                    </a:p>
                  </a:txBody>
                  <a:tcPr marL="109728" marR="109728" marT="73152" marB="73152">
                    <a:solidFill>
                      <a:srgbClr val="C2410C"/>
                    </a:solidFill>
                  </a:tcPr>
                </a:tc>
              </a:tr>
              <a:tr h="594360">
                <a:tc>
                  <a:txBody>
                    <a:bodyPr wrap="square"/>
                    <a:lstStyle/>
                    <a:p>
                      <a:r>
                        <a:rPr sz="1150" b="1">
                          <a:solidFill>
                            <a:srgbClr val="1C1917"/>
                          </a:solidFill>
                          <a:latin typeface="Noto Sans CJK SC"/>
                        </a:rPr>
                        <a:t>Skill 开发者</a:t>
                      </a:r>
                      <a:endParaRPr sz="1150" b="1">
                        <a:solidFill>
                          <a:srgbClr val="1C1917"/>
                        </a:solidFill>
                        <a:latin typeface="Noto Sans CJK SC"/>
                      </a:endParaRPr>
                    </a:p>
                  </a:txBody>
                  <a:tcPr marL="109728" marR="109728" marT="73152" marB="73152">
                    <a:solidFill>
                      <a:srgbClr val="FFFFFF"/>
                    </a:solidFill>
                  </a:tcPr>
                </a:tc>
                <a:tc>
                  <a:txBody>
                    <a:bodyPr wrap="square"/>
                    <a:lstStyle/>
                    <a:p>
                      <a:r>
                        <a:rPr sz="1150">
                          <a:solidFill>
                            <a:srgbClr val="57534E"/>
                          </a:solidFill>
                          <a:latin typeface="Noto Sans CJK SC"/>
                        </a:rPr>
                        <a:t>管理大量 Skill</a:t>
                      </a:r>
                      <a:endParaRPr sz="1150">
                        <a:solidFill>
                          <a:srgbClr val="57534E"/>
                        </a:solidFill>
                        <a:latin typeface="Noto Sans CJK SC"/>
                      </a:endParaRPr>
                    </a:p>
                  </a:txBody>
                  <a:tcPr marL="109728" marR="109728" marT="73152" marB="73152">
                    <a:solidFill>
                      <a:srgbClr val="FFFFFF"/>
                    </a:solidFill>
                  </a:tcPr>
                </a:tc>
                <a:tc>
                  <a:txBody>
                    <a:bodyPr wrap="square"/>
                    <a:lstStyle/>
                    <a:p>
                      <a:r>
                        <a:rPr sz="1150">
                          <a:solidFill>
                            <a:srgbClr val="57534E"/>
                          </a:solidFill>
                          <a:latin typeface="Noto Sans CJK SC"/>
                        </a:rPr>
                        <a:t>不知道 Skill 是否过期、接口还能否使用</a:t>
                      </a:r>
                      <a:endParaRPr sz="1150">
                        <a:solidFill>
                          <a:srgbClr val="57534E"/>
                        </a:solidFill>
                        <a:latin typeface="Noto Sans CJK SC"/>
                      </a:endParaRPr>
                    </a:p>
                  </a:txBody>
                  <a:tcPr marL="109728" marR="109728" marT="73152" marB="73152">
                    <a:solidFill>
                      <a:srgbClr val="FFFFFF"/>
                    </a:solidFill>
                  </a:tcPr>
                </a:tc>
                <a:tc>
                  <a:txBody>
                    <a:bodyPr wrap="square"/>
                    <a:lstStyle/>
                    <a:p>
                      <a:r>
                        <a:rPr sz="1150">
                          <a:solidFill>
                            <a:srgbClr val="57534E"/>
                          </a:solidFill>
                          <a:latin typeface="Noto Sans CJK SC"/>
                        </a:rPr>
                        <a:t>快速检查 Skill 健康状态</a:t>
                      </a:r>
                      <a:endParaRPr sz="1150">
                        <a:solidFill>
                          <a:srgbClr val="57534E"/>
                        </a:solidFill>
                        <a:latin typeface="Noto Sans CJK SC"/>
                      </a:endParaRPr>
                    </a:p>
                  </a:txBody>
                  <a:tcPr marL="109728" marR="109728" marT="73152" marB="73152">
                    <a:solidFill>
                      <a:srgbClr val="FFFFFF"/>
                    </a:solidFill>
                  </a:tcPr>
                </a:tc>
              </a:tr>
              <a:tr h="594360">
                <a:tc>
                  <a:txBody>
                    <a:bodyPr wrap="square"/>
                    <a:lstStyle/>
                    <a:p>
                      <a:r>
                        <a:rPr sz="1150" b="1">
                          <a:solidFill>
                            <a:srgbClr val="1C1917"/>
                          </a:solidFill>
                          <a:latin typeface="Noto Sans CJK SC"/>
                        </a:rPr>
                        <a:t>Skill 开发者</a:t>
                      </a:r>
                      <a:endParaRPr sz="1150" b="1">
                        <a:solidFill>
                          <a:srgbClr val="1C1917"/>
                        </a:solidFill>
                        <a:latin typeface="Noto Sans CJK SC"/>
                      </a:endParaRPr>
                    </a:p>
                  </a:txBody>
                  <a:tcPr marL="109728" marR="109728" marT="73152" marB="73152">
                    <a:solidFill>
                      <a:srgbClr val="F5ECE2"/>
                    </a:solidFill>
                  </a:tcPr>
                </a:tc>
                <a:tc>
                  <a:txBody>
                    <a:bodyPr wrap="square"/>
                    <a:lstStyle/>
                    <a:p>
                      <a:r>
                        <a:rPr sz="1150">
                          <a:solidFill>
                            <a:srgbClr val="57534E"/>
                          </a:solidFill>
                          <a:latin typeface="Noto Sans CJK SC"/>
                        </a:rPr>
                        <a:t>新增 Skill</a:t>
                      </a:r>
                      <a:endParaRPr sz="1150">
                        <a:solidFill>
                          <a:srgbClr val="57534E"/>
                        </a:solidFill>
                        <a:latin typeface="Noto Sans CJK SC"/>
                      </a:endParaRPr>
                    </a:p>
                  </a:txBody>
                  <a:tcPr marL="109728" marR="109728" marT="73152" marB="73152">
                    <a:solidFill>
                      <a:srgbClr val="F5ECE2"/>
                    </a:solidFill>
                  </a:tcPr>
                </a:tc>
                <a:tc>
                  <a:txBody>
                    <a:bodyPr wrap="square"/>
                    <a:lstStyle/>
                    <a:p>
                      <a:r>
                        <a:rPr sz="1150">
                          <a:solidFill>
                            <a:srgbClr val="57534E"/>
                          </a:solidFill>
                          <a:latin typeface="Noto Sans CJK SC"/>
                        </a:rPr>
                        <a:t>Skill 信息不完整、能力边界不清晰</a:t>
                      </a:r>
                      <a:endParaRPr sz="1150">
                        <a:solidFill>
                          <a:srgbClr val="57534E"/>
                        </a:solidFill>
                        <a:latin typeface="Noto Sans CJK SC"/>
                      </a:endParaRPr>
                    </a:p>
                  </a:txBody>
                  <a:tcPr marL="109728" marR="109728" marT="73152" marB="73152">
                    <a:solidFill>
                      <a:srgbClr val="F5ECE2"/>
                    </a:solidFill>
                  </a:tcPr>
                </a:tc>
                <a:tc>
                  <a:txBody>
                    <a:bodyPr wrap="square"/>
                    <a:lstStyle/>
                    <a:p>
                      <a:r>
                        <a:rPr sz="1150">
                          <a:solidFill>
                            <a:srgbClr val="57534E"/>
                          </a:solidFill>
                          <a:latin typeface="Noto Sans CJK SC"/>
                        </a:rPr>
                        <a:t>自动生成/检查 Metadata</a:t>
                      </a:r>
                      <a:endParaRPr sz="1150">
                        <a:solidFill>
                          <a:srgbClr val="57534E"/>
                        </a:solidFill>
                        <a:latin typeface="Noto Sans CJK SC"/>
                      </a:endParaRPr>
                    </a:p>
                  </a:txBody>
                  <a:tcPr marL="109728" marR="109728" marT="73152" marB="73152">
                    <a:solidFill>
                      <a:srgbClr val="F5ECE2"/>
                    </a:solidFill>
                  </a:tcPr>
                </a:tc>
              </a:tr>
              <a:tr h="594360">
                <a:tc>
                  <a:txBody>
                    <a:bodyPr wrap="square"/>
                    <a:lstStyle/>
                    <a:p>
                      <a:r>
                        <a:rPr sz="1150" b="1">
                          <a:solidFill>
                            <a:srgbClr val="1C1917"/>
                          </a:solidFill>
                          <a:latin typeface="Noto Sans CJK SC"/>
                        </a:rPr>
                        <a:t>Skill 开发者</a:t>
                      </a:r>
                      <a:endParaRPr sz="1150" b="1">
                        <a:solidFill>
                          <a:srgbClr val="1C1917"/>
                        </a:solidFill>
                        <a:latin typeface="Noto Sans CJK SC"/>
                      </a:endParaRPr>
                    </a:p>
                  </a:txBody>
                  <a:tcPr marL="109728" marR="109728" marT="73152" marB="73152">
                    <a:solidFill>
                      <a:srgbClr val="FFFFFF"/>
                    </a:solidFill>
                  </a:tcPr>
                </a:tc>
                <a:tc>
                  <a:txBody>
                    <a:bodyPr wrap="square"/>
                    <a:lstStyle/>
                    <a:p>
                      <a:r>
                        <a:rPr sz="1150">
                          <a:solidFill>
                            <a:srgbClr val="57534E"/>
                          </a:solidFill>
                          <a:latin typeface="Noto Sans CJK SC"/>
                        </a:rPr>
                        <a:t>Skill 数量持续增长</a:t>
                      </a:r>
                      <a:endParaRPr sz="1150">
                        <a:solidFill>
                          <a:srgbClr val="57534E"/>
                        </a:solidFill>
                        <a:latin typeface="Noto Sans CJK SC"/>
                      </a:endParaRPr>
                    </a:p>
                  </a:txBody>
                  <a:tcPr marL="109728" marR="109728" marT="73152" marB="73152">
                    <a:solidFill>
                      <a:srgbClr val="FFFFFF"/>
                    </a:solidFill>
                  </a:tcPr>
                </a:tc>
                <a:tc>
                  <a:txBody>
                    <a:bodyPr wrap="square"/>
                    <a:lstStyle/>
                    <a:p>
                      <a:r>
                        <a:rPr sz="1150">
                          <a:solidFill>
                            <a:srgbClr val="57534E"/>
                          </a:solidFill>
                          <a:latin typeface="Noto Sans CJK SC"/>
                        </a:rPr>
                        <a:t>库内重复、冲突、相似 Skill 泛滥</a:t>
                      </a:r>
                      <a:endParaRPr sz="1150">
                        <a:solidFill>
                          <a:srgbClr val="57534E"/>
                        </a:solidFill>
                        <a:latin typeface="Noto Sans CJK SC"/>
                      </a:endParaRPr>
                    </a:p>
                  </a:txBody>
                  <a:tcPr marL="109728" marR="109728" marT="73152" marB="73152">
                    <a:solidFill>
                      <a:srgbClr val="FFFFFF"/>
                    </a:solidFill>
                  </a:tcPr>
                </a:tc>
                <a:tc>
                  <a:txBody>
                    <a:bodyPr wrap="square"/>
                    <a:lstStyle/>
                    <a:p>
                      <a:r>
                        <a:rPr sz="1150">
                          <a:solidFill>
                            <a:srgbClr val="57534E"/>
                          </a:solidFill>
                          <a:latin typeface="Noto Sans CJK SC"/>
                        </a:rPr>
                        <a:t>Skill 冲突与重复检测</a:t>
                      </a:r>
                      <a:endParaRPr sz="1150">
                        <a:solidFill>
                          <a:srgbClr val="57534E"/>
                        </a:solidFill>
                        <a:latin typeface="Noto Sans CJK SC"/>
                      </a:endParaRPr>
                    </a:p>
                  </a:txBody>
                  <a:tcPr marL="109728" marR="109728" marT="73152" marB="73152">
                    <a:solidFill>
                      <a:srgbClr val="FFFFFF"/>
                    </a:solidFill>
                  </a:tcPr>
                </a:tc>
              </a:tr>
              <a:tr h="594360">
                <a:tc>
                  <a:txBody>
                    <a:bodyPr wrap="square"/>
                    <a:lstStyle/>
                    <a:p>
                      <a:r>
                        <a:rPr sz="1150" b="1">
                          <a:solidFill>
                            <a:srgbClr val="1C1917"/>
                          </a:solidFill>
                          <a:latin typeface="Noto Sans CJK SC"/>
                        </a:rPr>
                        <a:t>Agent 使用者</a:t>
                      </a:r>
                      <a:endParaRPr sz="1150" b="1">
                        <a:solidFill>
                          <a:srgbClr val="1C1917"/>
                        </a:solidFill>
                        <a:latin typeface="Noto Sans CJK SC"/>
                      </a:endParaRPr>
                    </a:p>
                  </a:txBody>
                  <a:tcPr marL="109728" marR="109728" marT="73152" marB="73152">
                    <a:solidFill>
                      <a:srgbClr val="F5ECE2"/>
                    </a:solidFill>
                  </a:tcPr>
                </a:tc>
                <a:tc>
                  <a:txBody>
                    <a:bodyPr wrap="square"/>
                    <a:lstStyle/>
                    <a:p>
                      <a:r>
                        <a:rPr sz="1150">
                          <a:solidFill>
                            <a:srgbClr val="57534E"/>
                          </a:solidFill>
                          <a:latin typeface="Noto Sans CJK SC"/>
                        </a:rPr>
                        <a:t>多轮长对话连续任务</a:t>
                      </a:r>
                      <a:endParaRPr sz="1150">
                        <a:solidFill>
                          <a:srgbClr val="57534E"/>
                        </a:solidFill>
                        <a:latin typeface="Noto Sans CJK SC"/>
                      </a:endParaRPr>
                    </a:p>
                  </a:txBody>
                  <a:tcPr marL="109728" marR="109728" marT="73152" marB="73152">
                    <a:solidFill>
                      <a:srgbClr val="F5ECE2"/>
                    </a:solidFill>
                  </a:tcPr>
                </a:tc>
                <a:tc>
                  <a:txBody>
                    <a:bodyPr wrap="square"/>
                    <a:lstStyle/>
                    <a:p>
                      <a:r>
                        <a:rPr sz="1150">
                          <a:solidFill>
                            <a:srgbClr val="57534E"/>
                          </a:solidFill>
                          <a:latin typeface="Noto Sans CJK SC"/>
                        </a:rPr>
                        <a:t>长对话后信息错乱，Skill 调用不稳定</a:t>
                      </a:r>
                      <a:endParaRPr sz="1150">
                        <a:solidFill>
                          <a:srgbClr val="57534E"/>
                        </a:solidFill>
                        <a:latin typeface="Noto Sans CJK SC"/>
                      </a:endParaRPr>
                    </a:p>
                  </a:txBody>
                  <a:tcPr marL="109728" marR="109728" marT="73152" marB="73152">
                    <a:solidFill>
                      <a:srgbClr val="F5ECE2"/>
                    </a:solidFill>
                  </a:tcPr>
                </a:tc>
                <a:tc>
                  <a:txBody>
                    <a:bodyPr wrap="square"/>
                    <a:lstStyle/>
                    <a:p>
                      <a:r>
                        <a:rPr sz="1150">
                          <a:solidFill>
                            <a:srgbClr val="57534E"/>
                          </a:solidFill>
                          <a:latin typeface="Noto Sans CJK SC"/>
                        </a:rPr>
                        <a:t>检查长对话下 Skill 是否仍有效</a:t>
                      </a:r>
                      <a:endParaRPr sz="1150">
                        <a:solidFill>
                          <a:srgbClr val="57534E"/>
                        </a:solidFill>
                        <a:latin typeface="Noto Sans CJK SC"/>
                      </a:endParaRPr>
                    </a:p>
                  </a:txBody>
                  <a:tcPr marL="109728" marR="109728" marT="73152" marB="73152">
                    <a:solidFill>
                      <a:srgbClr val="F5ECE2"/>
                    </a:solidFill>
                  </a:tcPr>
                </a:tc>
              </a:tr>
              <a:tr h="594360">
                <a:tc>
                  <a:txBody>
                    <a:bodyPr wrap="square"/>
                    <a:lstStyle/>
                    <a:p>
                      <a:r>
                        <a:rPr sz="1150" b="1">
                          <a:solidFill>
                            <a:srgbClr val="1C1917"/>
                          </a:solidFill>
                          <a:latin typeface="Noto Sans CJK SC"/>
                        </a:rPr>
                        <a:t>Skill 管理者</a:t>
                      </a:r>
                      <a:endParaRPr sz="1150" b="1">
                        <a:solidFill>
                          <a:srgbClr val="1C1917"/>
                        </a:solidFill>
                        <a:latin typeface="Noto Sans CJK SC"/>
                      </a:endParaRPr>
                    </a:p>
                  </a:txBody>
                  <a:tcPr marL="109728" marR="109728" marT="73152" marB="73152">
                    <a:solidFill>
                      <a:srgbClr val="FFFFFF"/>
                    </a:solidFill>
                  </a:tcPr>
                </a:tc>
                <a:tc>
                  <a:txBody>
                    <a:bodyPr wrap="square"/>
                    <a:lstStyle/>
                    <a:p>
                      <a:r>
                        <a:rPr sz="1150">
                          <a:solidFill>
                            <a:srgbClr val="57534E"/>
                          </a:solidFill>
                          <a:latin typeface="Noto Sans CJK SC"/>
                        </a:rPr>
                        <a:t>全库整体运维与巡检</a:t>
                      </a:r>
                      <a:endParaRPr sz="1150">
                        <a:solidFill>
                          <a:srgbClr val="57534E"/>
                        </a:solidFill>
                        <a:latin typeface="Noto Sans CJK SC"/>
                      </a:endParaRPr>
                    </a:p>
                  </a:txBody>
                  <a:tcPr marL="109728" marR="109728" marT="73152" marB="73152">
                    <a:solidFill>
                      <a:srgbClr val="FFFFFF"/>
                    </a:solidFill>
                  </a:tcPr>
                </a:tc>
                <a:tc>
                  <a:txBody>
                    <a:bodyPr wrap="square"/>
                    <a:lstStyle/>
                    <a:p>
                      <a:r>
                        <a:rPr sz="1150">
                          <a:solidFill>
                            <a:srgbClr val="57534E"/>
                          </a:solidFill>
                          <a:latin typeface="Noto Sans CJK SC"/>
                        </a:rPr>
                        <a:t>难以持续维护成百上千的技能资产</a:t>
                      </a:r>
                      <a:endParaRPr sz="1150">
                        <a:solidFill>
                          <a:srgbClr val="57534E"/>
                        </a:solidFill>
                        <a:latin typeface="Noto Sans CJK SC"/>
                      </a:endParaRPr>
                    </a:p>
                  </a:txBody>
                  <a:tcPr marL="109728" marR="109728" marT="73152" marB="73152">
                    <a:solidFill>
                      <a:srgbClr val="FFFFFF"/>
                    </a:solidFill>
                  </a:tcPr>
                </a:tc>
                <a:tc>
                  <a:txBody>
                    <a:bodyPr wrap="square"/>
                    <a:lstStyle/>
                    <a:p>
                      <a:r>
                        <a:rPr sz="1150">
                          <a:solidFill>
                            <a:srgbClr val="57534E"/>
                          </a:solidFill>
                          <a:latin typeface="Noto Sans CJK SC"/>
                        </a:rPr>
                        <a:t>输出系统风险报告与维护建议</a:t>
                      </a:r>
                      <a:endParaRPr sz="1150">
                        <a:solidFill>
                          <a:srgbClr val="57534E"/>
                        </a:solidFill>
                        <a:latin typeface="Noto Sans CJK SC"/>
                      </a:endParaRPr>
                    </a:p>
                  </a:txBody>
                  <a:tcPr marL="109728" marR="109728" marT="73152" marB="73152">
                    <a:solidFill>
                      <a:srgbClr val="FFFFFF"/>
                    </a:solidFill>
                  </a:tcPr>
                </a:tc>
              </a:tr>
            </a:tbl>
          </a:graphicData>
        </a:graphic>
      </p:graphicFrame>
      <p:sp>
        <p:nvSpPr>
          <p:cNvPr id="214" name="Rectangle 8"/>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9"/>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216" name="TextBox 10"/>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6 / 18 页</a:t>
            </a:r>
            <a:endParaRPr sz="1050" b="1">
              <a:solidFill>
                <a:srgbClr val="78716C"/>
              </a:solidFill>
              <a:latin typeface="Noto Sans CJK S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17" name=""/>
        <p:cNvGrpSpPr/>
        <p:nvPr/>
      </p:nvGrpSpPr>
      <p:grpSpPr>
        <a:xfrm>
          <a:off x="0" y="0"/>
          <a:ext cx="0" cy="0"/>
          <a:chOff x="0" y="0"/>
          <a:chExt cx="0" cy="0"/>
        </a:xfrm>
      </p:grpSpPr>
      <p:sp>
        <p:nvSpPr>
          <p:cNvPr id="218"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03 · MoSCoW 需求优先级规划</a:t>
            </a:r>
            <a:endParaRPr sz="1150" b="1">
              <a:solidFill>
                <a:srgbClr val="C2410C"/>
              </a:solidFill>
              <a:latin typeface="Noto Sans CJK SC"/>
            </a:endParaRPr>
          </a:p>
        </p:txBody>
      </p:sp>
      <p:sp>
        <p:nvSpPr>
          <p:cNvPr id="220"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MoSCoW 需求优先级划分矩阵（界定系统范围）</a:t>
            </a:r>
            <a:endParaRPr sz="2100" b="1">
              <a:solidFill>
                <a:srgbClr val="1C1917"/>
              </a:solidFill>
              <a:latin typeface="Noto Sans CJK SC"/>
            </a:endParaRPr>
          </a:p>
        </p:txBody>
      </p:sp>
      <p:sp>
        <p:nvSpPr>
          <p:cNvPr id="221"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22" name="Table 5"/>
          <p:cNvGraphicFramePr/>
          <p:nvPr/>
        </p:nvGraphicFramePr>
        <p:xfrm>
          <a:off x="731520" y="1600200"/>
          <a:ext cx="10728655" cy="4480560"/>
        </p:xfrm>
        <a:graphic>
          <a:graphicData uri="http://schemas.openxmlformats.org/drawingml/2006/table">
            <a:tbl>
              <a:tblPr firstRow="1" bandRow="1">
                <a:tableStyleId>{5C22544A-7EE6-4342-B048-85BDC9FD1C3A}</a:tableStyleId>
              </a:tblPr>
              <a:tblGrid>
                <a:gridCol w="2926080"/>
                <a:gridCol w="1463040"/>
                <a:gridCol w="2377440"/>
                <a:gridCol w="3962095"/>
              </a:tblGrid>
              <a:tr h="497840">
                <a:tc>
                  <a:txBody>
                    <a:bodyPr wrap="square"/>
                    <a:lstStyle/>
                    <a:p>
                      <a:r>
                        <a:rPr sz="1100" b="1">
                          <a:solidFill>
                            <a:srgbClr val="FFFFFF"/>
                          </a:solidFill>
                          <a:latin typeface="Noto Sans CJK SC"/>
                        </a:rPr>
                        <a:t>功能模块</a:t>
                      </a:r>
                      <a:endParaRPr sz="1100" b="1">
                        <a:solidFill>
                          <a:srgbClr val="FFFFFF"/>
                        </a:solidFill>
                        <a:latin typeface="Noto Sans CJK SC"/>
                      </a:endParaRPr>
                    </a:p>
                  </a:txBody>
                  <a:tcPr marL="109728" marR="109728" marT="54864" marB="54864">
                    <a:solidFill>
                      <a:srgbClr val="C2410C"/>
                    </a:solidFill>
                  </a:tcPr>
                </a:tc>
                <a:tc>
                  <a:txBody>
                    <a:bodyPr wrap="square"/>
                    <a:lstStyle/>
                    <a:p>
                      <a:r>
                        <a:rPr sz="1100" b="1">
                          <a:solidFill>
                            <a:srgbClr val="FFFFFF"/>
                          </a:solidFill>
                          <a:latin typeface="Noto Sans CJK SC"/>
                        </a:rPr>
                        <a:t>优先级</a:t>
                      </a:r>
                      <a:endParaRPr sz="1100" b="1">
                        <a:solidFill>
                          <a:srgbClr val="FFFFFF"/>
                        </a:solidFill>
                        <a:latin typeface="Noto Sans CJK SC"/>
                      </a:endParaRPr>
                    </a:p>
                  </a:txBody>
                  <a:tcPr marL="109728" marR="109728" marT="54864" marB="54864">
                    <a:solidFill>
                      <a:srgbClr val="C2410C"/>
                    </a:solidFill>
                  </a:tcPr>
                </a:tc>
                <a:tc>
                  <a:txBody>
                    <a:bodyPr wrap="square"/>
                    <a:lstStyle/>
                    <a:p>
                      <a:r>
                        <a:rPr sz="1100" b="1">
                          <a:solidFill>
                            <a:srgbClr val="FFFFFF"/>
                          </a:solidFill>
                          <a:latin typeface="Noto Sans CJK SC"/>
                        </a:rPr>
                        <a:t>定位说明</a:t>
                      </a:r>
                      <a:endParaRPr sz="1100" b="1">
                        <a:solidFill>
                          <a:srgbClr val="FFFFFF"/>
                        </a:solidFill>
                        <a:latin typeface="Noto Sans CJK SC"/>
                      </a:endParaRPr>
                    </a:p>
                  </a:txBody>
                  <a:tcPr marL="109728" marR="109728" marT="54864" marB="54864">
                    <a:solidFill>
                      <a:srgbClr val="C2410C"/>
                    </a:solidFill>
                  </a:tcPr>
                </a:tc>
                <a:tc>
                  <a:txBody>
                    <a:bodyPr wrap="square"/>
                    <a:lstStyle/>
                    <a:p>
                      <a:r>
                        <a:rPr sz="1100" b="1">
                          <a:solidFill>
                            <a:srgbClr val="FFFFFF"/>
                          </a:solidFill>
                          <a:latin typeface="Noto Sans CJK SC"/>
                        </a:rPr>
                        <a:t>规划原因与依据</a:t>
                      </a:r>
                      <a:endParaRPr sz="1100" b="1">
                        <a:solidFill>
                          <a:srgbClr val="FFFFFF"/>
                        </a:solidFill>
                        <a:latin typeface="Noto Sans CJK SC"/>
                      </a:endParaRPr>
                    </a:p>
                  </a:txBody>
                  <a:tcPr marL="109728" marR="109728" marT="54864" marB="54864">
                    <a:solidFill>
                      <a:srgbClr val="C2410C"/>
                    </a:solidFill>
                  </a:tcPr>
                </a:tc>
              </a:tr>
              <a:tr h="497840">
                <a:tc>
                  <a:txBody>
                    <a:bodyPr wrap="square"/>
                    <a:lstStyle/>
                    <a:p>
                      <a:r>
                        <a:rPr sz="1100" b="1">
                          <a:solidFill>
                            <a:srgbClr val="1C1917"/>
                          </a:solidFill>
                          <a:latin typeface="Noto Sans CJK SC"/>
                        </a:rPr>
                        <a:t>Skill 基础信息检查 (Metadata)</a:t>
                      </a:r>
                      <a:endParaRPr sz="1100" b="1">
                        <a:solidFill>
                          <a:srgbClr val="1C1917"/>
                        </a:solidFill>
                        <a:latin typeface="Noto Sans CJK SC"/>
                      </a:endParaRPr>
                    </a:p>
                  </a:txBody>
                  <a:tcPr marL="109728" marR="109728" marT="54864" marB="54864">
                    <a:solidFill>
                      <a:srgbClr val="FBEDE3"/>
                    </a:solidFill>
                  </a:tcPr>
                </a:tc>
                <a:tc>
                  <a:txBody>
                    <a:bodyPr wrap="square"/>
                    <a:lstStyle/>
                    <a:p>
                      <a:r>
                        <a:rPr sz="1100" b="1">
                          <a:solidFill>
                            <a:srgbClr val="C2410C"/>
                          </a:solidFill>
                          <a:latin typeface="Noto Sans CJK SC"/>
                        </a:rPr>
                        <a:t>Must (必需)</a:t>
                      </a:r>
                      <a:endParaRPr sz="1100" b="1">
                        <a:solidFill>
                          <a:srgbClr val="C2410C"/>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核心基础功能</a:t>
                      </a:r>
                      <a:endParaRPr sz="1100">
                        <a:solidFill>
                          <a:srgbClr val="57534E"/>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核查名称、描述、参数、边界等元数据，系统核心基础</a:t>
                      </a:r>
                      <a:endParaRPr sz="1100">
                        <a:solidFill>
                          <a:srgbClr val="57534E"/>
                        </a:solidFill>
                        <a:latin typeface="Noto Sans CJK SC"/>
                      </a:endParaRPr>
                    </a:p>
                  </a:txBody>
                  <a:tcPr marL="109728" marR="109728" marT="54864" marB="54864">
                    <a:solidFill>
                      <a:srgbClr val="FBEDE3"/>
                    </a:solidFill>
                  </a:tcPr>
                </a:tc>
              </a:tr>
              <a:tr h="497840">
                <a:tc>
                  <a:txBody>
                    <a:bodyPr wrap="square"/>
                    <a:lstStyle/>
                    <a:p>
                      <a:r>
                        <a:rPr sz="1100" b="1">
                          <a:solidFill>
                            <a:srgbClr val="1C1917"/>
                          </a:solidFill>
                          <a:latin typeface="Noto Sans CJK SC"/>
                        </a:rPr>
                        <a:t>Skill 版本与更新时间检查</a:t>
                      </a:r>
                      <a:endParaRPr sz="1100" b="1">
                        <a:solidFill>
                          <a:srgbClr val="1C1917"/>
                        </a:solidFill>
                        <a:latin typeface="Noto Sans CJK SC"/>
                      </a:endParaRPr>
                    </a:p>
                  </a:txBody>
                  <a:tcPr marL="109728" marR="109728" marT="54864" marB="54864">
                    <a:solidFill>
                      <a:srgbClr val="FBEDE3"/>
                    </a:solidFill>
                  </a:tcPr>
                </a:tc>
                <a:tc>
                  <a:txBody>
                    <a:bodyPr wrap="square"/>
                    <a:lstStyle/>
                    <a:p>
                      <a:r>
                        <a:rPr sz="1100" b="1">
                          <a:solidFill>
                            <a:srgbClr val="C2410C"/>
                          </a:solidFill>
                          <a:latin typeface="Noto Sans CJK SC"/>
                        </a:rPr>
                        <a:t>Must (必需)</a:t>
                      </a:r>
                      <a:endParaRPr sz="1100" b="1">
                        <a:solidFill>
                          <a:srgbClr val="C2410C"/>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核心基础功能</a:t>
                      </a:r>
                      <a:endParaRPr sz="1100">
                        <a:solidFill>
                          <a:srgbClr val="57534E"/>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判断技能是否过时老化，直接解决时效痛点</a:t>
                      </a:r>
                      <a:endParaRPr sz="1100">
                        <a:solidFill>
                          <a:srgbClr val="57534E"/>
                        </a:solidFill>
                        <a:latin typeface="Noto Sans CJK SC"/>
                      </a:endParaRPr>
                    </a:p>
                  </a:txBody>
                  <a:tcPr marL="109728" marR="109728" marT="54864" marB="54864">
                    <a:solidFill>
                      <a:srgbClr val="FBEDE3"/>
                    </a:solidFill>
                  </a:tcPr>
                </a:tc>
              </a:tr>
              <a:tr h="497840">
                <a:tc>
                  <a:txBody>
                    <a:bodyPr wrap="square"/>
                    <a:lstStyle/>
                    <a:p>
                      <a:r>
                        <a:rPr sz="1100" b="1">
                          <a:solidFill>
                            <a:srgbClr val="1C1917"/>
                          </a:solidFill>
                          <a:latin typeface="Noto Sans CJK SC"/>
                        </a:rPr>
                        <a:t>API 可用性检查 (Health Check)</a:t>
                      </a:r>
                      <a:endParaRPr sz="1100" b="1">
                        <a:solidFill>
                          <a:srgbClr val="1C1917"/>
                        </a:solidFill>
                        <a:latin typeface="Noto Sans CJK SC"/>
                      </a:endParaRPr>
                    </a:p>
                  </a:txBody>
                  <a:tcPr marL="109728" marR="109728" marT="54864" marB="54864">
                    <a:solidFill>
                      <a:srgbClr val="FBEDE3"/>
                    </a:solidFill>
                  </a:tcPr>
                </a:tc>
                <a:tc>
                  <a:txBody>
                    <a:bodyPr wrap="square"/>
                    <a:lstStyle/>
                    <a:p>
                      <a:r>
                        <a:rPr sz="1100" b="1">
                          <a:solidFill>
                            <a:srgbClr val="C2410C"/>
                          </a:solidFill>
                          <a:latin typeface="Noto Sans CJK SC"/>
                        </a:rPr>
                        <a:t>Must (必需)</a:t>
                      </a:r>
                      <a:endParaRPr sz="1100" b="1">
                        <a:solidFill>
                          <a:srgbClr val="C2410C"/>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核心基础功能</a:t>
                      </a:r>
                      <a:endParaRPr sz="1100">
                        <a:solidFill>
                          <a:srgbClr val="57534E"/>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自动化探测接口连通性，判断 Skill 是否健康可用</a:t>
                      </a:r>
                      <a:endParaRPr sz="1100">
                        <a:solidFill>
                          <a:srgbClr val="57534E"/>
                        </a:solidFill>
                        <a:latin typeface="Noto Sans CJK SC"/>
                      </a:endParaRPr>
                    </a:p>
                  </a:txBody>
                  <a:tcPr marL="109728" marR="109728" marT="54864" marB="54864">
                    <a:solidFill>
                      <a:srgbClr val="FBEDE3"/>
                    </a:solidFill>
                  </a:tcPr>
                </a:tc>
              </a:tr>
              <a:tr h="497840">
                <a:tc>
                  <a:txBody>
                    <a:bodyPr wrap="square"/>
                    <a:lstStyle/>
                    <a:p>
                      <a:r>
                        <a:rPr sz="1100" b="1">
                          <a:solidFill>
                            <a:srgbClr val="1C1917"/>
                          </a:solidFill>
                          <a:latin typeface="Noto Sans CJK SC"/>
                        </a:rPr>
                        <a:t>长对话稳定性测试</a:t>
                      </a:r>
                      <a:endParaRPr sz="1100" b="1">
                        <a:solidFill>
                          <a:srgbClr val="1C1917"/>
                        </a:solidFill>
                        <a:latin typeface="Noto Sans CJK SC"/>
                      </a:endParaRPr>
                    </a:p>
                  </a:txBody>
                  <a:tcPr marL="109728" marR="109728" marT="54864" marB="54864">
                    <a:solidFill>
                      <a:srgbClr val="FBEDE3"/>
                    </a:solidFill>
                  </a:tcPr>
                </a:tc>
                <a:tc>
                  <a:txBody>
                    <a:bodyPr wrap="square"/>
                    <a:lstStyle/>
                    <a:p>
                      <a:r>
                        <a:rPr sz="1100" b="1">
                          <a:solidFill>
                            <a:srgbClr val="C2410C"/>
                          </a:solidFill>
                          <a:latin typeface="Noto Sans CJK SC"/>
                        </a:rPr>
                        <a:t>Must (必需)</a:t>
                      </a:r>
                      <a:endParaRPr sz="1100" b="1">
                        <a:solidFill>
                          <a:srgbClr val="C2410C"/>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核心基础功能</a:t>
                      </a:r>
                      <a:endParaRPr sz="1100">
                        <a:solidFill>
                          <a:srgbClr val="57534E"/>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评估多轮对话下的调度鲁棒性，保障调用稳定性</a:t>
                      </a:r>
                      <a:endParaRPr sz="1100">
                        <a:solidFill>
                          <a:srgbClr val="57534E"/>
                        </a:solidFill>
                        <a:latin typeface="Noto Sans CJK SC"/>
                      </a:endParaRPr>
                    </a:p>
                  </a:txBody>
                  <a:tcPr marL="109728" marR="109728" marT="54864" marB="54864">
                    <a:solidFill>
                      <a:srgbClr val="FBEDE3"/>
                    </a:solidFill>
                  </a:tcPr>
                </a:tc>
              </a:tr>
              <a:tr h="497840">
                <a:tc>
                  <a:txBody>
                    <a:bodyPr wrap="square"/>
                    <a:lstStyle/>
                    <a:p>
                      <a:r>
                        <a:rPr sz="1100" b="1">
                          <a:solidFill>
                            <a:srgbClr val="1C1917"/>
                          </a:solidFill>
                          <a:latin typeface="Noto Sans CJK SC"/>
                        </a:rPr>
                        <a:t>系统风险报告与建议</a:t>
                      </a:r>
                      <a:endParaRPr sz="1100" b="1">
                        <a:solidFill>
                          <a:srgbClr val="1C1917"/>
                        </a:solidFill>
                        <a:latin typeface="Noto Sans CJK SC"/>
                      </a:endParaRPr>
                    </a:p>
                  </a:txBody>
                  <a:tcPr marL="109728" marR="109728" marT="54864" marB="54864">
                    <a:solidFill>
                      <a:srgbClr val="FBEDE3"/>
                    </a:solidFill>
                  </a:tcPr>
                </a:tc>
                <a:tc>
                  <a:txBody>
                    <a:bodyPr wrap="square"/>
                    <a:lstStyle/>
                    <a:p>
                      <a:r>
                        <a:rPr sz="1100" b="1">
                          <a:solidFill>
                            <a:srgbClr val="C2410C"/>
                          </a:solidFill>
                          <a:latin typeface="Noto Sans CJK SC"/>
                        </a:rPr>
                        <a:t>Must (必需)</a:t>
                      </a:r>
                      <a:endParaRPr sz="1100" b="1">
                        <a:solidFill>
                          <a:srgbClr val="C2410C"/>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核心基础功能</a:t>
                      </a:r>
                      <a:endParaRPr sz="1100">
                        <a:solidFill>
                          <a:srgbClr val="57534E"/>
                        </a:solidFill>
                        <a:latin typeface="Noto Sans CJK SC"/>
                      </a:endParaRPr>
                    </a:p>
                  </a:txBody>
                  <a:tcPr marL="109728" marR="109728" marT="54864" marB="54864">
                    <a:solidFill>
                      <a:srgbClr val="FBEDE3"/>
                    </a:solidFill>
                  </a:tcPr>
                </a:tc>
                <a:tc>
                  <a:txBody>
                    <a:bodyPr wrap="square"/>
                    <a:lstStyle/>
                    <a:p>
                      <a:r>
                        <a:rPr sz="1100">
                          <a:solidFill>
                            <a:srgbClr val="57534E"/>
                          </a:solidFill>
                          <a:latin typeface="Noto Sans CJK SC"/>
                        </a:rPr>
                        <a:t>可视化导出评估结果，为管理者提供行动依据</a:t>
                      </a:r>
                      <a:endParaRPr sz="1100">
                        <a:solidFill>
                          <a:srgbClr val="57534E"/>
                        </a:solidFill>
                        <a:latin typeface="Noto Sans CJK SC"/>
                      </a:endParaRPr>
                    </a:p>
                  </a:txBody>
                  <a:tcPr marL="109728" marR="109728" marT="54864" marB="54864">
                    <a:solidFill>
                      <a:srgbClr val="FBEDE3"/>
                    </a:solidFill>
                  </a:tcPr>
                </a:tc>
              </a:tr>
              <a:tr h="497840">
                <a:tc>
                  <a:txBody>
                    <a:bodyPr wrap="square"/>
                    <a:lstStyle/>
                    <a:p>
                      <a:r>
                        <a:rPr sz="1100" b="1">
                          <a:solidFill>
                            <a:srgbClr val="1C1917"/>
                          </a:solidFill>
                          <a:latin typeface="Noto Sans CJK SC"/>
                        </a:rPr>
                        <a:t>Skill 冲突检测 (Conflict Detection)</a:t>
                      </a:r>
                      <a:endParaRPr sz="1100" b="1">
                        <a:solidFill>
                          <a:srgbClr val="1C1917"/>
                        </a:solidFill>
                        <a:latin typeface="Noto Sans CJK SC"/>
                      </a:endParaRPr>
                    </a:p>
                  </a:txBody>
                  <a:tcPr marL="109728" marR="109728" marT="54864" marB="54864">
                    <a:solidFill>
                      <a:srgbClr val="FFFBEB"/>
                    </a:solidFill>
                  </a:tcPr>
                </a:tc>
                <a:tc>
                  <a:txBody>
                    <a:bodyPr wrap="square"/>
                    <a:lstStyle/>
                    <a:p>
                      <a:r>
                        <a:rPr sz="1100" b="1">
                          <a:solidFill>
                            <a:srgbClr val="92400E"/>
                          </a:solidFill>
                          <a:latin typeface="Noto Sans CJK SC"/>
                        </a:rPr>
                        <a:t>Should (应该)</a:t>
                      </a:r>
                      <a:endParaRPr sz="1100" b="1">
                        <a:solidFill>
                          <a:srgbClr val="92400E"/>
                        </a:solidFill>
                        <a:latin typeface="Noto Sans CJK SC"/>
                      </a:endParaRPr>
                    </a:p>
                  </a:txBody>
                  <a:tcPr marL="109728" marR="109728" marT="54864" marB="54864">
                    <a:solidFill>
                      <a:srgbClr val="FFFBEB"/>
                    </a:solidFill>
                  </a:tcPr>
                </a:tc>
                <a:tc>
                  <a:txBody>
                    <a:bodyPr wrap="square"/>
                    <a:lstStyle/>
                    <a:p>
                      <a:r>
                        <a:rPr sz="1100">
                          <a:solidFill>
                            <a:srgbClr val="57534E"/>
                          </a:solidFill>
                          <a:latin typeface="Noto Sans CJK SC"/>
                        </a:rPr>
                        <a:t>重要增量功能</a:t>
                      </a:r>
                      <a:endParaRPr sz="1100">
                        <a:solidFill>
                          <a:srgbClr val="57534E"/>
                        </a:solidFill>
                        <a:latin typeface="Noto Sans CJK SC"/>
                      </a:endParaRPr>
                    </a:p>
                  </a:txBody>
                  <a:tcPr marL="109728" marR="109728" marT="54864" marB="54864">
                    <a:solidFill>
                      <a:srgbClr val="FFFBEB"/>
                    </a:solidFill>
                  </a:tcPr>
                </a:tc>
                <a:tc>
                  <a:txBody>
                    <a:bodyPr wrap="square"/>
                    <a:lstStyle/>
                    <a:p>
                      <a:r>
                        <a:rPr sz="1100">
                          <a:solidFill>
                            <a:srgbClr val="57534E"/>
                          </a:solidFill>
                          <a:latin typeface="Noto Sans CJK SC"/>
                        </a:rPr>
                        <a:t>检查重复/相似/功能冲突，列入二期研发</a:t>
                      </a:r>
                      <a:endParaRPr sz="1100">
                        <a:solidFill>
                          <a:srgbClr val="57534E"/>
                        </a:solidFill>
                        <a:latin typeface="Noto Sans CJK SC"/>
                      </a:endParaRPr>
                    </a:p>
                  </a:txBody>
                  <a:tcPr marL="109728" marR="109728" marT="54864" marB="54864">
                    <a:solidFill>
                      <a:srgbClr val="FFFBEB"/>
                    </a:solidFill>
                  </a:tcPr>
                </a:tc>
              </a:tr>
              <a:tr h="497840">
                <a:tc>
                  <a:txBody>
                    <a:bodyPr wrap="square"/>
                    <a:lstStyle/>
                    <a:p>
                      <a:r>
                        <a:rPr sz="1100" b="1">
                          <a:solidFill>
                            <a:srgbClr val="1C1917"/>
                          </a:solidFill>
                          <a:latin typeface="Noto Sans CJK SC"/>
                        </a:rPr>
                        <a:t>自动修改 Metadata / 自动修复</a:t>
                      </a:r>
                      <a:endParaRPr sz="1100" b="1">
                        <a:solidFill>
                          <a:srgbClr val="1C1917"/>
                        </a:solidFill>
                        <a:latin typeface="Noto Sans CJK SC"/>
                      </a:endParaRPr>
                    </a:p>
                  </a:txBody>
                  <a:tcPr marL="109728" marR="109728" marT="54864" marB="54864">
                    <a:solidFill>
                      <a:srgbClr val="F1F5F9"/>
                    </a:solidFill>
                  </a:tcPr>
                </a:tc>
                <a:tc>
                  <a:txBody>
                    <a:bodyPr wrap="square"/>
                    <a:lstStyle/>
                    <a:p>
                      <a:r>
                        <a:rPr sz="1100" b="1">
                          <a:solidFill>
                            <a:srgbClr val="57534E"/>
                          </a:solidFill>
                          <a:latin typeface="Noto Sans CJK SC"/>
                        </a:rPr>
                        <a:t>Could (可以)</a:t>
                      </a:r>
                      <a:endParaRPr sz="1100" b="1">
                        <a:solidFill>
                          <a:srgbClr val="57534E"/>
                        </a:solidFill>
                        <a:latin typeface="Noto Sans CJK SC"/>
                      </a:endParaRPr>
                    </a:p>
                  </a:txBody>
                  <a:tcPr marL="109728" marR="109728" marT="54864" marB="54864">
                    <a:solidFill>
                      <a:srgbClr val="F1F5F9"/>
                    </a:solidFill>
                  </a:tcPr>
                </a:tc>
                <a:tc>
                  <a:txBody>
                    <a:bodyPr wrap="square"/>
                    <a:lstStyle/>
                    <a:p>
                      <a:r>
                        <a:rPr sz="1100">
                          <a:solidFill>
                            <a:srgbClr val="57534E"/>
                          </a:solidFill>
                          <a:latin typeface="Noto Sans CJK SC"/>
                        </a:rPr>
                        <a:t>高级辅助体验</a:t>
                      </a:r>
                      <a:endParaRPr sz="1100">
                        <a:solidFill>
                          <a:srgbClr val="57534E"/>
                        </a:solidFill>
                        <a:latin typeface="Noto Sans CJK SC"/>
                      </a:endParaRPr>
                    </a:p>
                  </a:txBody>
                  <a:tcPr marL="109728" marR="109728" marT="54864" marB="54864">
                    <a:solidFill>
                      <a:srgbClr val="F1F5F9"/>
                    </a:solidFill>
                  </a:tcPr>
                </a:tc>
                <a:tc>
                  <a:txBody>
                    <a:bodyPr wrap="square"/>
                    <a:lstStyle/>
                    <a:p>
                      <a:r>
                        <a:rPr sz="1100">
                          <a:solidFill>
                            <a:srgbClr val="57534E"/>
                          </a:solidFill>
                          <a:latin typeface="Noto Sans CJK SC"/>
                        </a:rPr>
                        <a:t>逻辑复杂度高且存在次生风险，当前采用人机协同确认</a:t>
                      </a:r>
                      <a:endParaRPr sz="1100">
                        <a:solidFill>
                          <a:srgbClr val="57534E"/>
                        </a:solidFill>
                        <a:latin typeface="Noto Sans CJK SC"/>
                      </a:endParaRPr>
                    </a:p>
                  </a:txBody>
                  <a:tcPr marL="109728" marR="109728" marT="54864" marB="54864">
                    <a:solidFill>
                      <a:srgbClr val="F1F5F9"/>
                    </a:solidFill>
                  </a:tcPr>
                </a:tc>
              </a:tr>
              <a:tr h="497840">
                <a:tc>
                  <a:txBody>
                    <a:bodyPr wrap="square"/>
                    <a:lstStyle/>
                    <a:p>
                      <a:r>
                        <a:rPr sz="1100" b="1">
                          <a:solidFill>
                            <a:srgbClr val="1C1917"/>
                          </a:solidFill>
                          <a:latin typeface="Noto Sans CJK SC"/>
                        </a:rPr>
                        <a:t>自动重新训练大模型</a:t>
                      </a:r>
                      <a:endParaRPr sz="1100" b="1">
                        <a:solidFill>
                          <a:srgbClr val="1C1917"/>
                        </a:solidFill>
                        <a:latin typeface="Noto Sans CJK SC"/>
                      </a:endParaRPr>
                    </a:p>
                  </a:txBody>
                  <a:tcPr marL="109728" marR="109728" marT="54864" marB="54864">
                    <a:solidFill>
                      <a:srgbClr val="FFFFFF"/>
                    </a:solidFill>
                  </a:tcPr>
                </a:tc>
                <a:tc>
                  <a:txBody>
                    <a:bodyPr wrap="square"/>
                    <a:lstStyle/>
                    <a:p>
                      <a:r>
                        <a:rPr sz="1100" b="1">
                          <a:solidFill>
                            <a:srgbClr val="78716C"/>
                          </a:solidFill>
                          <a:latin typeface="Noto Sans CJK SC"/>
                        </a:rPr>
                        <a:t>Won't (不做)</a:t>
                      </a:r>
                      <a:endParaRPr sz="1100" b="1">
                        <a:solidFill>
                          <a:srgbClr val="78716C"/>
                        </a:solidFill>
                        <a:latin typeface="Noto Sans CJK SC"/>
                      </a:endParaRPr>
                    </a:p>
                  </a:txBody>
                  <a:tcPr marL="109728" marR="109728" marT="54864" marB="54864">
                    <a:solidFill>
                      <a:srgbClr val="FFFFFF"/>
                    </a:solidFill>
                  </a:tcPr>
                </a:tc>
                <a:tc>
                  <a:txBody>
                    <a:bodyPr wrap="square"/>
                    <a:lstStyle/>
                    <a:p>
                      <a:r>
                        <a:rPr sz="1100">
                          <a:solidFill>
                            <a:srgbClr val="57534E"/>
                          </a:solidFill>
                          <a:latin typeface="Noto Sans CJK SC"/>
                        </a:rPr>
                        <a:t>当前阶段不予实施</a:t>
                      </a:r>
                      <a:endParaRPr sz="1100">
                        <a:solidFill>
                          <a:srgbClr val="57534E"/>
                        </a:solidFill>
                        <a:latin typeface="Noto Sans CJK SC"/>
                      </a:endParaRPr>
                    </a:p>
                  </a:txBody>
                  <a:tcPr marL="109728" marR="109728" marT="54864" marB="54864">
                    <a:solidFill>
                      <a:srgbClr val="FFFFFF"/>
                    </a:solidFill>
                  </a:tcPr>
                </a:tc>
                <a:tc>
                  <a:txBody>
                    <a:bodyPr wrap="square"/>
                    <a:lstStyle/>
                    <a:p>
                      <a:r>
                        <a:rPr sz="1100">
                          <a:solidFill>
                            <a:srgbClr val="57534E"/>
                          </a:solidFill>
                          <a:latin typeface="Noto Sans CJK SC"/>
                        </a:rPr>
                        <a:t>超出本阶段技能治理系统范畴与算力预算</a:t>
                      </a:r>
                      <a:endParaRPr sz="1100">
                        <a:solidFill>
                          <a:srgbClr val="57534E"/>
                        </a:solidFill>
                        <a:latin typeface="Noto Sans CJK SC"/>
                      </a:endParaRPr>
                    </a:p>
                  </a:txBody>
                  <a:tcPr marL="109728" marR="109728" marT="54864" marB="54864">
                    <a:solidFill>
                      <a:srgbClr val="FFFFFF"/>
                    </a:solidFill>
                  </a:tcPr>
                </a:tc>
              </a:tr>
            </a:tbl>
          </a:graphicData>
        </a:graphic>
      </p:graphicFrame>
      <p:sp>
        <p:nvSpPr>
          <p:cNvPr id="223" name="Rectangle 6"/>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7"/>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225" name="TextBox 8"/>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7 / 18 页</a:t>
            </a:r>
            <a:endParaRPr sz="1050" b="1">
              <a:solidFill>
                <a:srgbClr val="78716C"/>
              </a:solidFill>
              <a:latin typeface="Noto Sans CJK S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26" name=""/>
        <p:cNvGrpSpPr/>
        <p:nvPr/>
      </p:nvGrpSpPr>
      <p:grpSpPr>
        <a:xfrm>
          <a:off x="0" y="0"/>
          <a:ext cx="0" cy="0"/>
          <a:chOff x="0" y="0"/>
          <a:chExt cx="0" cy="0"/>
        </a:xfrm>
      </p:grpSpPr>
      <p:sp>
        <p:nvSpPr>
          <p:cNvPr id="227"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04 · 系统总体架构设计</a:t>
            </a:r>
            <a:endParaRPr sz="1150" b="1">
              <a:solidFill>
                <a:srgbClr val="C2410C"/>
              </a:solidFill>
              <a:latin typeface="Noto Sans CJK SC"/>
            </a:endParaRPr>
          </a:p>
        </p:txBody>
      </p:sp>
      <p:sp>
        <p:nvSpPr>
          <p:cNvPr id="229"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产品总体方案：AI 辅助索引 + 人机协同治理（全景框架）</a:t>
            </a:r>
            <a:endParaRPr sz="2100" b="1">
              <a:solidFill>
                <a:srgbClr val="1C1917"/>
              </a:solidFill>
              <a:latin typeface="Noto Sans CJK SC"/>
            </a:endParaRPr>
          </a:p>
        </p:txBody>
      </p:sp>
      <p:sp>
        <p:nvSpPr>
          <p:cNvPr id="230"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ounded Rectangle 5"/>
          <p:cNvSpPr/>
          <p:nvPr/>
        </p:nvSpPr>
        <p:spPr>
          <a:xfrm>
            <a:off x="731520" y="1600200"/>
            <a:ext cx="2423160" cy="37033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6"/>
          <p:cNvSpPr txBox="1"/>
          <p:nvPr/>
        </p:nvSpPr>
        <p:spPr>
          <a:xfrm>
            <a:off x="914400" y="1783080"/>
            <a:ext cx="2057400" cy="3337560"/>
          </a:xfrm>
          <a:prstGeom prst="rect">
            <a:avLst/>
          </a:prstGeom>
          <a:noFill/>
        </p:spPr>
        <p:txBody>
          <a:bodyPr wrap="square" lIns="0" tIns="0" rIns="0" bIns="0">
            <a:spAutoFit/>
          </a:bodyPr>
          <a:lstStyle/>
          <a:p>
            <a:pPr>
              <a:spcAft>
                <a:spcPts val="200"/>
              </a:spcAft>
            </a:pPr>
            <a:r>
              <a:rPr sz="1100" b="1">
                <a:solidFill>
                  <a:srgbClr val="C2410C"/>
                </a:solidFill>
                <a:latin typeface="Noto Sans CJK SC"/>
              </a:rPr>
              <a:t>第 1 环节</a:t>
            </a:r>
            <a:endParaRPr sz="1100" b="1">
              <a:solidFill>
                <a:srgbClr val="C2410C"/>
              </a:solidFill>
              <a:latin typeface="Noto Sans CJK SC"/>
            </a:endParaRPr>
          </a:p>
          <a:p>
            <a:pPr>
              <a:spcAft>
                <a:spcPts val="1000"/>
              </a:spcAft>
            </a:pPr>
            <a:r>
              <a:rPr sz="1600" b="1">
                <a:solidFill>
                  <a:srgbClr val="C2410C"/>
                </a:solidFill>
                <a:latin typeface="Noto Sans CJK SC"/>
              </a:rPr>
              <a:t>技能注册</a:t>
            </a:r>
            <a:endParaRPr sz="1600" b="1">
              <a:solidFill>
                <a:srgbClr val="C2410C"/>
              </a:solidFill>
              <a:latin typeface="Noto Sans CJK SC"/>
            </a:endParaRPr>
          </a:p>
          <a:p>
            <a:pPr>
              <a:spcAft>
                <a:spcPts val="400"/>
              </a:spcAft>
            </a:pPr>
            <a:r>
              <a:rPr sz="1200" b="1">
                <a:solidFill>
                  <a:srgbClr val="1C1917"/>
                </a:solidFill>
                <a:latin typeface="Noto Sans CJK SC"/>
              </a:rPr>
              <a:t>入口门禁把控：</a:t>
            </a:r>
            <a:endParaRPr sz="1200" b="1">
              <a:solidFill>
                <a:srgbClr val="1C1917"/>
              </a:solidFill>
              <a:latin typeface="Noto Sans CJK SC"/>
            </a:endParaRPr>
          </a:p>
          <a:p>
            <a:r>
              <a:rPr sz="1150">
                <a:solidFill>
                  <a:srgbClr val="57534E"/>
                </a:solidFill>
                <a:latin typeface="Noto Sans CJK SC"/>
              </a:rPr>
              <a:t>向量排他门禁比对，相似度 &gt; 0.90 强制驳回，必须补充消歧专有属性与反面示例。</a:t>
            </a:r>
            <a:endParaRPr sz="1150">
              <a:solidFill>
                <a:srgbClr val="57534E"/>
              </a:solidFill>
              <a:latin typeface="Noto Sans CJK SC"/>
            </a:endParaRPr>
          </a:p>
        </p:txBody>
      </p:sp>
      <p:sp>
        <p:nvSpPr>
          <p:cNvPr id="233" name="Rounded Rectangle 7"/>
          <p:cNvSpPr/>
          <p:nvPr/>
        </p:nvSpPr>
        <p:spPr>
          <a:xfrm>
            <a:off x="3499408" y="1600200"/>
            <a:ext cx="2423160" cy="37033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8"/>
          <p:cNvSpPr txBox="1"/>
          <p:nvPr/>
        </p:nvSpPr>
        <p:spPr>
          <a:xfrm>
            <a:off x="3682288" y="1783080"/>
            <a:ext cx="2057400" cy="3337560"/>
          </a:xfrm>
          <a:prstGeom prst="rect">
            <a:avLst/>
          </a:prstGeom>
          <a:noFill/>
        </p:spPr>
        <p:txBody>
          <a:bodyPr wrap="square" lIns="0" tIns="0" rIns="0" bIns="0">
            <a:spAutoFit/>
          </a:bodyPr>
          <a:lstStyle/>
          <a:p>
            <a:pPr>
              <a:spcAft>
                <a:spcPts val="200"/>
              </a:spcAft>
            </a:pPr>
            <a:r>
              <a:rPr sz="1100" b="1">
                <a:solidFill>
                  <a:srgbClr val="C2410C"/>
                </a:solidFill>
                <a:latin typeface="Noto Sans CJK SC"/>
              </a:rPr>
              <a:t>第 2 环节</a:t>
            </a:r>
            <a:endParaRPr sz="1100" b="1">
              <a:solidFill>
                <a:srgbClr val="C2410C"/>
              </a:solidFill>
              <a:latin typeface="Noto Sans CJK SC"/>
            </a:endParaRPr>
          </a:p>
          <a:p>
            <a:pPr>
              <a:spcAft>
                <a:spcPts val="1000"/>
              </a:spcAft>
            </a:pPr>
            <a:r>
              <a:rPr sz="1600" b="1">
                <a:solidFill>
                  <a:srgbClr val="C2410C"/>
                </a:solidFill>
                <a:latin typeface="Noto Sans CJK SC"/>
              </a:rPr>
              <a:t>技能组织</a:t>
            </a:r>
            <a:endParaRPr sz="1600" b="1">
              <a:solidFill>
                <a:srgbClr val="C2410C"/>
              </a:solidFill>
              <a:latin typeface="Noto Sans CJK SC"/>
            </a:endParaRPr>
          </a:p>
          <a:p>
            <a:pPr>
              <a:spcAft>
                <a:spcPts val="400"/>
              </a:spcAft>
            </a:pPr>
            <a:r>
              <a:rPr sz="1200" b="1">
                <a:solidFill>
                  <a:srgbClr val="1C1917"/>
                </a:solidFill>
                <a:latin typeface="Noto Sans CJK SC"/>
              </a:rPr>
              <a:t>多维技能索引：</a:t>
            </a:r>
            <a:endParaRPr sz="1200" b="1">
              <a:solidFill>
                <a:srgbClr val="1C1917"/>
              </a:solidFill>
              <a:latin typeface="Noto Sans CJK SC"/>
            </a:endParaRPr>
          </a:p>
          <a:p>
            <a:r>
              <a:rPr sz="1150">
                <a:solidFill>
                  <a:srgbClr val="57534E"/>
                </a:solidFill>
                <a:latin typeface="Noto Sans CJK SC"/>
              </a:rPr>
              <a:t>打破扁平存储，基于业务领域与工具载体进行重叠聚类，形成工会般的技能簇（Skill Pods）。</a:t>
            </a:r>
            <a:endParaRPr sz="1150">
              <a:solidFill>
                <a:srgbClr val="57534E"/>
              </a:solidFill>
              <a:latin typeface="Noto Sans CJK SC"/>
            </a:endParaRPr>
          </a:p>
        </p:txBody>
      </p:sp>
      <p:sp>
        <p:nvSpPr>
          <p:cNvPr id="235" name="Rounded Rectangle 9"/>
          <p:cNvSpPr/>
          <p:nvPr/>
        </p:nvSpPr>
        <p:spPr>
          <a:xfrm>
            <a:off x="6267297" y="1600200"/>
            <a:ext cx="2423160" cy="37033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10"/>
          <p:cNvSpPr txBox="1"/>
          <p:nvPr/>
        </p:nvSpPr>
        <p:spPr>
          <a:xfrm>
            <a:off x="6450177" y="1783080"/>
            <a:ext cx="2057400" cy="3337560"/>
          </a:xfrm>
          <a:prstGeom prst="rect">
            <a:avLst/>
          </a:prstGeom>
          <a:noFill/>
        </p:spPr>
        <p:txBody>
          <a:bodyPr wrap="square" lIns="0" tIns="0" rIns="0" bIns="0">
            <a:spAutoFit/>
          </a:bodyPr>
          <a:lstStyle/>
          <a:p>
            <a:pPr>
              <a:spcAft>
                <a:spcPts val="200"/>
              </a:spcAft>
            </a:pPr>
            <a:r>
              <a:rPr sz="1100" b="1">
                <a:solidFill>
                  <a:srgbClr val="C2410C"/>
                </a:solidFill>
                <a:latin typeface="Noto Sans CJK SC"/>
              </a:rPr>
              <a:t>第 3 环节</a:t>
            </a:r>
            <a:endParaRPr sz="1100" b="1">
              <a:solidFill>
                <a:srgbClr val="C2410C"/>
              </a:solidFill>
              <a:latin typeface="Noto Sans CJK SC"/>
            </a:endParaRPr>
          </a:p>
          <a:p>
            <a:pPr>
              <a:spcAft>
                <a:spcPts val="1000"/>
              </a:spcAft>
            </a:pPr>
            <a:r>
              <a:rPr sz="1600" b="1">
                <a:solidFill>
                  <a:srgbClr val="C2410C"/>
                </a:solidFill>
                <a:latin typeface="Noto Sans CJK SC"/>
              </a:rPr>
              <a:t>技能检索与调度</a:t>
            </a:r>
            <a:endParaRPr sz="1600" b="1">
              <a:solidFill>
                <a:srgbClr val="C2410C"/>
              </a:solidFill>
              <a:latin typeface="Noto Sans CJK SC"/>
            </a:endParaRPr>
          </a:p>
          <a:p>
            <a:pPr>
              <a:spcAft>
                <a:spcPts val="400"/>
              </a:spcAft>
            </a:pPr>
            <a:r>
              <a:rPr sz="1200" b="1">
                <a:solidFill>
                  <a:srgbClr val="1C1917"/>
                </a:solidFill>
                <a:latin typeface="Noto Sans CJK SC"/>
              </a:rPr>
              <a:t>双层微检索：</a:t>
            </a:r>
            <a:endParaRPr sz="1200" b="1">
              <a:solidFill>
                <a:srgbClr val="1C1917"/>
              </a:solidFill>
              <a:latin typeface="Noto Sans CJK SC"/>
            </a:endParaRPr>
          </a:p>
          <a:p>
            <a:r>
              <a:rPr sz="1150">
                <a:solidFill>
                  <a:srgbClr val="57534E"/>
                </a:solidFill>
                <a:latin typeface="Noto Sans CJK SC"/>
              </a:rPr>
              <a:t>微名片毫秒粗筛 + 手册按需注入；Top-4 动态裁剪沙箱，实现 87.5% Token 压缩与冷门配额。</a:t>
            </a:r>
            <a:endParaRPr sz="1150">
              <a:solidFill>
                <a:srgbClr val="57534E"/>
              </a:solidFill>
              <a:latin typeface="Noto Sans CJK SC"/>
            </a:endParaRPr>
          </a:p>
        </p:txBody>
      </p:sp>
      <p:sp>
        <p:nvSpPr>
          <p:cNvPr id="237" name="Rounded Rectangle 11"/>
          <p:cNvSpPr/>
          <p:nvPr/>
        </p:nvSpPr>
        <p:spPr>
          <a:xfrm>
            <a:off x="9035186" y="1600200"/>
            <a:ext cx="2423160" cy="37033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12"/>
          <p:cNvSpPr txBox="1"/>
          <p:nvPr/>
        </p:nvSpPr>
        <p:spPr>
          <a:xfrm>
            <a:off x="9218066" y="1783080"/>
            <a:ext cx="2057400" cy="3337560"/>
          </a:xfrm>
          <a:prstGeom prst="rect">
            <a:avLst/>
          </a:prstGeom>
          <a:noFill/>
        </p:spPr>
        <p:txBody>
          <a:bodyPr wrap="square" lIns="0" tIns="0" rIns="0" bIns="0">
            <a:spAutoFit/>
          </a:bodyPr>
          <a:lstStyle/>
          <a:p>
            <a:pPr>
              <a:spcAft>
                <a:spcPts val="200"/>
              </a:spcAft>
            </a:pPr>
            <a:r>
              <a:rPr sz="1100" b="1">
                <a:solidFill>
                  <a:srgbClr val="C2410C"/>
                </a:solidFill>
                <a:latin typeface="Noto Sans CJK SC"/>
              </a:rPr>
              <a:t>第 4 环节</a:t>
            </a:r>
            <a:endParaRPr sz="1100" b="1">
              <a:solidFill>
                <a:srgbClr val="C2410C"/>
              </a:solidFill>
              <a:latin typeface="Noto Sans CJK SC"/>
            </a:endParaRPr>
          </a:p>
          <a:p>
            <a:pPr>
              <a:spcAft>
                <a:spcPts val="1000"/>
              </a:spcAft>
            </a:pPr>
            <a:r>
              <a:rPr sz="1600" b="1">
                <a:solidFill>
                  <a:srgbClr val="C2410C"/>
                </a:solidFill>
                <a:latin typeface="Noto Sans CJK SC"/>
              </a:rPr>
              <a:t>技能更新与治理</a:t>
            </a:r>
            <a:endParaRPr sz="1600" b="1">
              <a:solidFill>
                <a:srgbClr val="C2410C"/>
              </a:solidFill>
              <a:latin typeface="Noto Sans CJK SC"/>
            </a:endParaRPr>
          </a:p>
          <a:p>
            <a:pPr>
              <a:spcAft>
                <a:spcPts val="400"/>
              </a:spcAft>
            </a:pPr>
            <a:r>
              <a:rPr sz="1200" b="1">
                <a:solidFill>
                  <a:srgbClr val="1C1917"/>
                </a:solidFill>
                <a:latin typeface="Noto Sans CJK SC"/>
              </a:rPr>
              <a:t>人机协同闭环：</a:t>
            </a:r>
            <a:endParaRPr sz="1200" b="1">
              <a:solidFill>
                <a:srgbClr val="1C1917"/>
              </a:solidFill>
              <a:latin typeface="Noto Sans CJK SC"/>
            </a:endParaRPr>
          </a:p>
          <a:p>
            <a:r>
              <a:rPr sz="1150">
                <a:solidFill>
                  <a:srgbClr val="57534E"/>
                </a:solidFill>
                <a:latin typeface="Noto Sans CJK SC"/>
              </a:rPr>
              <a:t>三级报错机制监控，依托溯源指针反向追踪契约更新日志，沙箱热补丁无感自愈。</a:t>
            </a:r>
            <a:endParaRPr sz="1150">
              <a:solidFill>
                <a:srgbClr val="57534E"/>
              </a:solidFill>
              <a:latin typeface="Noto Sans CJK SC"/>
            </a:endParaRPr>
          </a:p>
        </p:txBody>
      </p:sp>
      <p:sp>
        <p:nvSpPr>
          <p:cNvPr id="239" name="Rounded Rectangle 13"/>
          <p:cNvSpPr/>
          <p:nvPr/>
        </p:nvSpPr>
        <p:spPr>
          <a:xfrm>
            <a:off x="731520" y="5440680"/>
            <a:ext cx="10728655" cy="685800"/>
          </a:xfrm>
          <a:prstGeom prst="roundRect">
            <a:avLst>
              <a:gd name="adj" fmla="val 5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14"/>
          <p:cNvSpPr txBox="1"/>
          <p:nvPr/>
        </p:nvSpPr>
        <p:spPr>
          <a:xfrm>
            <a:off x="960120" y="5532120"/>
            <a:ext cx="10271455" cy="502920"/>
          </a:xfrm>
          <a:prstGeom prst="rect">
            <a:avLst/>
          </a:prstGeom>
          <a:noFill/>
        </p:spPr>
        <p:txBody>
          <a:bodyPr wrap="square" lIns="0" tIns="0" rIns="0" bIns="0">
            <a:spAutoFit/>
          </a:bodyPr>
          <a:lstStyle/>
          <a:p>
            <a:r>
              <a:rPr sz="1200" b="1">
                <a:solidFill>
                  <a:srgbClr val="C2410C"/>
                </a:solidFill>
                <a:latin typeface="Noto Sans CJK SC"/>
              </a:rPr>
              <a:t>核心设计理念：</a:t>
            </a:r>
            <a:r>
              <a:rPr sz="1200">
                <a:solidFill>
                  <a:srgbClr val="1C1917"/>
                </a:solidFill>
                <a:latin typeface="Noto Sans CJK SC"/>
              </a:rPr>
              <a:t>前置建立机器友好的索引体系，中置极简动态裁剪隔绝噪声，后置溯源指针保障自愈进化。</a:t>
            </a:r>
            <a:endParaRPr sz="1200">
              <a:solidFill>
                <a:srgbClr val="1C1917"/>
              </a:solidFill>
              <a:latin typeface="Noto Sans CJK SC"/>
            </a:endParaRPr>
          </a:p>
        </p:txBody>
      </p:sp>
      <p:sp>
        <p:nvSpPr>
          <p:cNvPr id="241" name="Rectangle 15"/>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16"/>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243" name="TextBox 17"/>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8 / 18 页</a:t>
            </a:r>
            <a:endParaRPr sz="1050" b="1">
              <a:solidFill>
                <a:srgbClr val="78716C"/>
              </a:solidFill>
              <a:latin typeface="Noto Sans CJK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44" name=""/>
        <p:cNvGrpSpPr/>
        <p:nvPr/>
      </p:nvGrpSpPr>
      <p:grpSpPr>
        <a:xfrm>
          <a:off x="0" y="0"/>
          <a:ext cx="0" cy="0"/>
          <a:chOff x="0" y="0"/>
          <a:chExt cx="0" cy="0"/>
        </a:xfrm>
      </p:grpSpPr>
      <p:sp>
        <p:nvSpPr>
          <p:cNvPr id="245"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04 · 关键机制一：技能注册门禁</a:t>
            </a:r>
            <a:endParaRPr sz="1150" b="1">
              <a:solidFill>
                <a:srgbClr val="C2410C"/>
              </a:solidFill>
              <a:latin typeface="Noto Sans CJK SC"/>
            </a:endParaRPr>
          </a:p>
        </p:txBody>
      </p:sp>
      <p:sp>
        <p:nvSpPr>
          <p:cNvPr id="247"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技能注册规范化设计：防碰撞排他检查与反面示例</a:t>
            </a:r>
            <a:endParaRPr sz="2100" b="1">
              <a:solidFill>
                <a:srgbClr val="1C1917"/>
              </a:solidFill>
              <a:latin typeface="Noto Sans CJK SC"/>
            </a:endParaRPr>
          </a:p>
        </p:txBody>
      </p:sp>
      <p:sp>
        <p:nvSpPr>
          <p:cNvPr id="248"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ounded Rectangle 5"/>
          <p:cNvSpPr/>
          <p:nvPr/>
        </p:nvSpPr>
        <p:spPr>
          <a:xfrm>
            <a:off x="731520" y="1536192"/>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6"/>
          <p:cNvSpPr txBox="1"/>
          <p:nvPr/>
        </p:nvSpPr>
        <p:spPr>
          <a:xfrm>
            <a:off x="960120" y="1645919"/>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一、面临问题：</a:t>
            </a:r>
            <a:r>
              <a:rPr sz="1300" b="1">
                <a:solidFill>
                  <a:srgbClr val="1C1917"/>
                </a:solidFill>
                <a:latin typeface="Noto Sans CJK SC"/>
              </a:rPr>
              <a:t>技能准入缺乏标准，同质化严重导致库极度臃肿</a:t>
            </a:r>
            <a:endParaRPr sz="1300" b="1">
              <a:solidFill>
                <a:srgbClr val="1C1917"/>
              </a:solidFill>
              <a:latin typeface="Noto Sans CJK SC"/>
            </a:endParaRPr>
          </a:p>
          <a:p>
            <a:pPr>
              <a:spcAft>
                <a:spcPts val="200"/>
              </a:spcAft>
            </a:pPr>
            <a:r>
              <a:rPr sz="1150">
                <a:solidFill>
                  <a:srgbClr val="57534E"/>
                </a:solidFill>
                <a:latin typeface="Noto Sans CJK SC"/>
              </a:rPr>
              <a:t>平台对提交的技能来者不拒，开发者命名随意、描述宽泛，导致大量功能重复甚至名称极其相近的技能混杂入库。</a:t>
            </a:r>
            <a:endParaRPr sz="1150">
              <a:solidFill>
                <a:srgbClr val="57534E"/>
              </a:solidFill>
              <a:latin typeface="Noto Sans CJK SC"/>
            </a:endParaRPr>
          </a:p>
        </p:txBody>
      </p:sp>
      <p:sp>
        <p:nvSpPr>
          <p:cNvPr id="251" name="Rounded Rectangle 7"/>
          <p:cNvSpPr/>
          <p:nvPr/>
        </p:nvSpPr>
        <p:spPr>
          <a:xfrm>
            <a:off x="731520" y="3063239"/>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8"/>
          <p:cNvSpPr txBox="1"/>
          <p:nvPr/>
        </p:nvSpPr>
        <p:spPr>
          <a:xfrm>
            <a:off x="960120" y="3172968"/>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二、根因剖析：</a:t>
            </a:r>
            <a:r>
              <a:rPr sz="1300" b="1">
                <a:solidFill>
                  <a:srgbClr val="1C1917"/>
                </a:solidFill>
                <a:latin typeface="Noto Sans CJK SC"/>
              </a:rPr>
              <a:t>缺少准入门禁，技能缺乏明确的能力边界与消歧属性</a:t>
            </a:r>
            <a:endParaRPr sz="1300" b="1">
              <a:solidFill>
                <a:srgbClr val="1C1917"/>
              </a:solidFill>
              <a:latin typeface="Noto Sans CJK SC"/>
            </a:endParaRPr>
          </a:p>
          <a:p>
            <a:pPr>
              <a:spcAft>
                <a:spcPts val="200"/>
              </a:spcAft>
            </a:pPr>
            <a:r>
              <a:rPr sz="1150">
                <a:solidFill>
                  <a:srgbClr val="57534E"/>
                </a:solidFill>
                <a:latin typeface="Noto Sans CJK SC"/>
              </a:rPr>
              <a:t>缺乏与库内已有实体的向量相似度排他比对，使得“语义大而全”的通用技能无序滋生，为后续的检索混乱埋下祸根。</a:t>
            </a:r>
            <a:endParaRPr sz="1150">
              <a:solidFill>
                <a:srgbClr val="57534E"/>
              </a:solidFill>
              <a:latin typeface="Noto Sans CJK SC"/>
            </a:endParaRPr>
          </a:p>
        </p:txBody>
      </p:sp>
      <p:sp>
        <p:nvSpPr>
          <p:cNvPr id="253" name="Rounded Rectangle 9"/>
          <p:cNvSpPr/>
          <p:nvPr/>
        </p:nvSpPr>
        <p:spPr>
          <a:xfrm>
            <a:off x="731520" y="4590288"/>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10"/>
          <p:cNvSpPr txBox="1"/>
          <p:nvPr/>
        </p:nvSpPr>
        <p:spPr>
          <a:xfrm>
            <a:off x="960120" y="4700016"/>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三、应对方案：</a:t>
            </a:r>
            <a:r>
              <a:rPr sz="1300" b="1">
                <a:solidFill>
                  <a:srgbClr val="1C1917"/>
                </a:solidFill>
                <a:latin typeface="Noto Sans CJK SC"/>
              </a:rPr>
              <a:t>设立防碰撞排他门禁，强制声明反面示例（Negative Examples）</a:t>
            </a:r>
            <a:endParaRPr sz="1300" b="1">
              <a:solidFill>
                <a:srgbClr val="1C1917"/>
              </a:solidFill>
              <a:latin typeface="Noto Sans CJK SC"/>
            </a:endParaRPr>
          </a:p>
          <a:p>
            <a:pPr>
              <a:spcAft>
                <a:spcPts val="200"/>
              </a:spcAft>
            </a:pPr>
            <a:r>
              <a:rPr sz="1150">
                <a:solidFill>
                  <a:srgbClr val="57534E"/>
                </a:solidFill>
                <a:latin typeface="Noto Sans CJK SC"/>
              </a:rPr>
              <a:t>① 防碰撞排他检查 (Collision Gate)：提取微名片向量计算相似度，若与现有技能相似度 &gt; 0.90，系统直接驳回申请；</a:t>
            </a:r>
            <a:endParaRPr sz="1150">
              <a:solidFill>
                <a:srgbClr val="57534E"/>
              </a:solidFill>
              <a:latin typeface="Noto Sans CJK SC"/>
            </a:endParaRPr>
          </a:p>
          <a:p>
            <a:pPr>
              <a:spcAft>
                <a:spcPts val="200"/>
              </a:spcAft>
            </a:pPr>
            <a:r>
              <a:rPr sz="1150">
                <a:solidFill>
                  <a:srgbClr val="57534E"/>
                </a:solidFill>
                <a:latin typeface="Noto Sans CJK SC"/>
              </a:rPr>
              <a:t>② 强制补充消歧专有属性：开发者必须说明本技能比旧技能更适用的垂直场景；</a:t>
            </a:r>
            <a:endParaRPr sz="1150">
              <a:solidFill>
                <a:srgbClr val="57534E"/>
              </a:solidFill>
              <a:latin typeface="Noto Sans CJK SC"/>
            </a:endParaRPr>
          </a:p>
          <a:p>
            <a:pPr>
              <a:spcAft>
                <a:spcPts val="200"/>
              </a:spcAft>
            </a:pPr>
            <a:r>
              <a:rPr sz="1150">
                <a:solidFill>
                  <a:srgbClr val="57534E"/>
                </a:solidFill>
                <a:latin typeface="Noto Sans CJK SC"/>
              </a:rPr>
              <a:t>③ 强制引入负向触发规则：在定义中明确写明“当遇到某种情况时严禁调用我”，大幅降低大模型误触发率。</a:t>
            </a:r>
            <a:endParaRPr sz="1150">
              <a:solidFill>
                <a:srgbClr val="57534E"/>
              </a:solidFill>
              <a:latin typeface="Noto Sans CJK SC"/>
            </a:endParaRPr>
          </a:p>
        </p:txBody>
      </p:sp>
      <p:sp>
        <p:nvSpPr>
          <p:cNvPr id="255" name="Rectangle 11"/>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12"/>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257" name="TextBox 13"/>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9 / 18 页</a:t>
            </a:r>
            <a:endParaRPr sz="1050" b="1">
              <a:solidFill>
                <a:srgbClr val="78716C"/>
              </a:solidFill>
              <a:latin typeface="Noto Sans CJK S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6" name=""/>
        <p:cNvGrpSpPr/>
        <p:nvPr/>
      </p:nvGrpSpPr>
      <p:grpSpPr>
        <a:xfrm>
          <a:off x="0" y="0"/>
          <a:ext cx="0" cy="0"/>
          <a:chOff x="0" y="0"/>
          <a:chExt cx="0" cy="0"/>
        </a:xfrm>
      </p:grpSpPr>
      <p:sp>
        <p:nvSpPr>
          <p:cNvPr id="17"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04 · 关键机制二：高维技能组织</a:t>
            </a:r>
            <a:endParaRPr sz="1150" b="1">
              <a:solidFill>
                <a:srgbClr val="C2410C"/>
              </a:solidFill>
              <a:latin typeface="Noto Sans CJK SC"/>
            </a:endParaRPr>
          </a:p>
        </p:txBody>
      </p:sp>
      <p:sp>
        <p:nvSpPr>
          <p:cNvPr id="19"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技能组织架构：多维语义索引与重叠聚类机制</a:t>
            </a:r>
            <a:endParaRPr sz="2100" b="1">
              <a:solidFill>
                <a:srgbClr val="1C1917"/>
              </a:solidFill>
              <a:latin typeface="Noto Sans CJK SC"/>
            </a:endParaRPr>
          </a:p>
        </p:txBody>
      </p:sp>
      <p:sp>
        <p:nvSpPr>
          <p:cNvPr id="20"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5"/>
          <p:cNvSpPr/>
          <p:nvPr/>
        </p:nvSpPr>
        <p:spPr>
          <a:xfrm>
            <a:off x="731520" y="1536192"/>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6"/>
          <p:cNvSpPr txBox="1"/>
          <p:nvPr/>
        </p:nvSpPr>
        <p:spPr>
          <a:xfrm>
            <a:off x="960120" y="1645919"/>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一、面临问题：</a:t>
            </a:r>
            <a:r>
              <a:rPr sz="1300" b="1">
                <a:solidFill>
                  <a:srgbClr val="1C1917"/>
                </a:solidFill>
                <a:latin typeface="Noto Sans CJK SC"/>
              </a:rPr>
              <a:t>海量技能扁平化存储，检索遍历耗费大量算力与时间</a:t>
            </a:r>
            <a:endParaRPr sz="1300" b="1">
              <a:solidFill>
                <a:srgbClr val="1C1917"/>
              </a:solidFill>
              <a:latin typeface="Noto Sans CJK SC"/>
            </a:endParaRPr>
          </a:p>
          <a:p>
            <a:pPr>
              <a:spcAft>
                <a:spcPts val="200"/>
              </a:spcAft>
            </a:pPr>
            <a:r>
              <a:rPr sz="1150">
                <a:solidFill>
                  <a:srgbClr val="57534E"/>
                </a:solidFill>
                <a:latin typeface="Noto Sans CJK SC"/>
              </a:rPr>
              <a:t>当技能扩充至数千上万规模时，单纯依靠扁平文件列表，模型在检索初期必须遍历全库元数据，导致推理时延陡增、上下文预算承压。</a:t>
            </a:r>
            <a:endParaRPr sz="1150">
              <a:solidFill>
                <a:srgbClr val="57534E"/>
              </a:solidFill>
              <a:latin typeface="Noto Sans CJK SC"/>
            </a:endParaRPr>
          </a:p>
        </p:txBody>
      </p:sp>
      <p:sp>
        <p:nvSpPr>
          <p:cNvPr id="23" name="Rounded Rectangle 7"/>
          <p:cNvSpPr/>
          <p:nvPr/>
        </p:nvSpPr>
        <p:spPr>
          <a:xfrm>
            <a:off x="731520" y="3063239"/>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8"/>
          <p:cNvSpPr txBox="1"/>
          <p:nvPr/>
        </p:nvSpPr>
        <p:spPr>
          <a:xfrm>
            <a:off x="960120" y="3172968"/>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二、根因剖析：</a:t>
            </a:r>
            <a:r>
              <a:rPr sz="1300" b="1">
                <a:solidFill>
                  <a:srgbClr val="1C1917"/>
                </a:solidFill>
                <a:latin typeface="Noto Sans CJK SC"/>
              </a:rPr>
              <a:t>传统目录只方便人类浏览，缺乏面向大模型的语义索引架构</a:t>
            </a:r>
            <a:endParaRPr sz="1300" b="1">
              <a:solidFill>
                <a:srgbClr val="1C1917"/>
              </a:solidFill>
              <a:latin typeface="Noto Sans CJK SC"/>
            </a:endParaRPr>
          </a:p>
          <a:p>
            <a:pPr>
              <a:spcAft>
                <a:spcPts val="200"/>
              </a:spcAft>
            </a:pPr>
            <a:r>
              <a:rPr sz="1150">
                <a:solidFill>
                  <a:srgbClr val="57534E"/>
                </a:solidFill>
                <a:latin typeface="Noto Sans CJK SC"/>
              </a:rPr>
              <a:t>人类习惯的文件夹或单层标签无法反映技能在复合业务中的交叉属性，机器在解析任务时无法在多维空间中快速锁定候选范围。</a:t>
            </a:r>
            <a:endParaRPr sz="1150">
              <a:solidFill>
                <a:srgbClr val="57534E"/>
              </a:solidFill>
              <a:latin typeface="Noto Sans CJK SC"/>
            </a:endParaRPr>
          </a:p>
        </p:txBody>
      </p:sp>
      <p:sp>
        <p:nvSpPr>
          <p:cNvPr id="25" name="Rounded Rectangle 9"/>
          <p:cNvSpPr/>
          <p:nvPr/>
        </p:nvSpPr>
        <p:spPr>
          <a:xfrm>
            <a:off x="731520" y="4590288"/>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10"/>
          <p:cNvSpPr txBox="1"/>
          <p:nvPr/>
        </p:nvSpPr>
        <p:spPr>
          <a:xfrm>
            <a:off x="960120" y="4700016"/>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三、应对方案：</a:t>
            </a:r>
            <a:r>
              <a:rPr sz="1300" b="1">
                <a:solidFill>
                  <a:srgbClr val="1C1917"/>
                </a:solidFill>
                <a:latin typeface="Noto Sans CJK SC"/>
              </a:rPr>
              <a:t>构建多维技能索引系统（Skill Index）与技能簇</a:t>
            </a:r>
            <a:endParaRPr sz="1300" b="1">
              <a:solidFill>
                <a:srgbClr val="1C1917"/>
              </a:solidFill>
              <a:latin typeface="Noto Sans CJK SC"/>
            </a:endParaRPr>
          </a:p>
          <a:p>
            <a:pPr>
              <a:spcAft>
                <a:spcPts val="200"/>
              </a:spcAft>
            </a:pPr>
            <a:r>
              <a:rPr sz="1150">
                <a:solidFill>
                  <a:srgbClr val="57534E"/>
                </a:solidFill>
                <a:latin typeface="Noto Sans CJK SC"/>
              </a:rPr>
              <a:t>① 多维语义索引建模：利用语义表征模型解析元数据，将技能归入业务语义维度（如气象、金融）与工具依托维度（如文档、绘图）；</a:t>
            </a:r>
            <a:endParaRPr sz="1150">
              <a:solidFill>
                <a:srgbClr val="57534E"/>
              </a:solidFill>
              <a:latin typeface="Noto Sans CJK SC"/>
            </a:endParaRPr>
          </a:p>
          <a:p>
            <a:pPr>
              <a:spcAft>
                <a:spcPts val="200"/>
              </a:spcAft>
            </a:pPr>
            <a:r>
              <a:rPr sz="1150">
                <a:solidFill>
                  <a:srgbClr val="57534E"/>
                </a:solidFill>
                <a:latin typeface="Noto Sans CJK SC"/>
              </a:rPr>
              <a:t>② 多标签与重叠聚类机制：允许单一技能同时从属于多个语义类簇，形成技能簇（Skill Pods），将检索范围压缩一个数量级。</a:t>
            </a:r>
            <a:endParaRPr sz="1150">
              <a:solidFill>
                <a:srgbClr val="57534E"/>
              </a:solidFill>
              <a:latin typeface="Noto Sans CJK SC"/>
            </a:endParaRPr>
          </a:p>
        </p:txBody>
      </p:sp>
      <p:sp>
        <p:nvSpPr>
          <p:cNvPr id="27" name="Rectangle 11"/>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12"/>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29" name="TextBox 13"/>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10 / 18 页</a:t>
            </a:r>
            <a:endParaRPr sz="1050" b="1">
              <a:solidFill>
                <a:srgbClr val="78716C"/>
              </a:solidFill>
              <a:latin typeface="Noto Sans CJK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31"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04 · 关键机制三：动态检索调度</a:t>
            </a:r>
            <a:endParaRPr sz="1150" b="1">
              <a:solidFill>
                <a:srgbClr val="C2410C"/>
              </a:solidFill>
              <a:latin typeface="Noto Sans CJK SC"/>
            </a:endParaRPr>
          </a:p>
        </p:txBody>
      </p:sp>
      <p:sp>
        <p:nvSpPr>
          <p:cNvPr id="33"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技能检索与调度：双层微检索与 Top-4 裁剪沙箱</a:t>
            </a:r>
            <a:endParaRPr sz="2100" b="1">
              <a:solidFill>
                <a:srgbClr val="1C1917"/>
              </a:solidFill>
              <a:latin typeface="Noto Sans CJK SC"/>
            </a:endParaRPr>
          </a:p>
        </p:txBody>
      </p:sp>
      <p:sp>
        <p:nvSpPr>
          <p:cNvPr id="34"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5"/>
          <p:cNvSpPr/>
          <p:nvPr/>
        </p:nvSpPr>
        <p:spPr>
          <a:xfrm>
            <a:off x="731520" y="1536192"/>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6"/>
          <p:cNvSpPr txBox="1"/>
          <p:nvPr/>
        </p:nvSpPr>
        <p:spPr>
          <a:xfrm>
            <a:off x="960120" y="1645919"/>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一、面临问题：</a:t>
            </a:r>
            <a:r>
              <a:rPr sz="1300" b="1">
                <a:solidFill>
                  <a:srgbClr val="1C1917"/>
                </a:solidFill>
                <a:latin typeface="Noto Sans CJK SC"/>
              </a:rPr>
              <a:t>全量曝光工具导致 System Prompt 膨胀与模型选择混乱</a:t>
            </a:r>
            <a:endParaRPr sz="1300" b="1">
              <a:solidFill>
                <a:srgbClr val="1C1917"/>
              </a:solidFill>
              <a:latin typeface="Noto Sans CJK SC"/>
            </a:endParaRPr>
          </a:p>
          <a:p>
            <a:pPr>
              <a:spcAft>
                <a:spcPts val="200"/>
              </a:spcAft>
            </a:pPr>
            <a:r>
              <a:rPr sz="1150">
                <a:solidFill>
                  <a:srgbClr val="57534E"/>
                </a:solidFill>
                <a:latin typeface="Noto Sans CJK SC"/>
              </a:rPr>
              <a:t>单次请求中向模型同时暴露几十个工具的完整声明，导致模型注意力被无关参数干扰，极易选错工具；同时新开发技能长期得不到曝光。</a:t>
            </a:r>
            <a:endParaRPr sz="1150">
              <a:solidFill>
                <a:srgbClr val="57534E"/>
              </a:solidFill>
              <a:latin typeface="Noto Sans CJK SC"/>
            </a:endParaRPr>
          </a:p>
        </p:txBody>
      </p:sp>
      <p:sp>
        <p:nvSpPr>
          <p:cNvPr id="37" name="Rounded Rectangle 7"/>
          <p:cNvSpPr/>
          <p:nvPr/>
        </p:nvSpPr>
        <p:spPr>
          <a:xfrm>
            <a:off x="731520" y="3063239"/>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8"/>
          <p:cNvSpPr txBox="1"/>
          <p:nvPr/>
        </p:nvSpPr>
        <p:spPr>
          <a:xfrm>
            <a:off x="960120" y="3172968"/>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二、根因剖析：</a:t>
            </a:r>
            <a:r>
              <a:rPr sz="1300" b="1">
                <a:solidFill>
                  <a:srgbClr val="1C1917"/>
                </a:solidFill>
                <a:latin typeface="Noto Sans CJK SC"/>
              </a:rPr>
              <a:t>大模型上下文需要分层减负，需要动态沙箱隔离与探索配额</a:t>
            </a:r>
            <a:endParaRPr sz="1300" b="1">
              <a:solidFill>
                <a:srgbClr val="1C1917"/>
              </a:solidFill>
              <a:latin typeface="Noto Sans CJK SC"/>
            </a:endParaRPr>
          </a:p>
          <a:p>
            <a:pPr>
              <a:spcAft>
                <a:spcPts val="200"/>
              </a:spcAft>
            </a:pPr>
            <a:r>
              <a:rPr sz="1150">
                <a:solidFill>
                  <a:srgbClr val="57534E"/>
                </a:solidFill>
                <a:latin typeface="Noto Sans CJK SC"/>
              </a:rPr>
              <a:t>模型在具体单步推理时，真正需要的核心工具通常不超过 3~4 个，海量的非核心声明直接构成了严重的注意力噪声。</a:t>
            </a:r>
            <a:endParaRPr sz="1150">
              <a:solidFill>
                <a:srgbClr val="57534E"/>
              </a:solidFill>
              <a:latin typeface="Noto Sans CJK SC"/>
            </a:endParaRPr>
          </a:p>
        </p:txBody>
      </p:sp>
      <p:sp>
        <p:nvSpPr>
          <p:cNvPr id="39" name="Rounded Rectangle 9"/>
          <p:cNvSpPr/>
          <p:nvPr/>
        </p:nvSpPr>
        <p:spPr>
          <a:xfrm>
            <a:off x="731520" y="4590288"/>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10"/>
          <p:cNvSpPr txBox="1"/>
          <p:nvPr/>
        </p:nvSpPr>
        <p:spPr>
          <a:xfrm>
            <a:off x="960120" y="4700016"/>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三、应对方案：</a:t>
            </a:r>
            <a:r>
              <a:rPr sz="1300" b="1">
                <a:solidFill>
                  <a:srgbClr val="1C1917"/>
                </a:solidFill>
                <a:latin typeface="Noto Sans CJK SC"/>
              </a:rPr>
              <a:t>双层微检索 + Top-4 精炼裁剪沙箱 + 10% 冷门配额</a:t>
            </a:r>
            <a:endParaRPr sz="1300" b="1">
              <a:solidFill>
                <a:srgbClr val="1C1917"/>
              </a:solidFill>
              <a:latin typeface="Noto Sans CJK SC"/>
            </a:endParaRPr>
          </a:p>
          <a:p>
            <a:pPr>
              <a:spcAft>
                <a:spcPts val="200"/>
              </a:spcAft>
            </a:pPr>
            <a:r>
              <a:rPr sz="1150">
                <a:solidFill>
                  <a:srgbClr val="57534E"/>
                </a:solidFill>
                <a:latin typeface="Noto Sans CJK SC"/>
              </a:rPr>
              <a:t>① 微名片极速粗筛：初始状态仅加载十几个字的微名片（Micro-Card），毫秒级比对意图；</a:t>
            </a:r>
            <a:endParaRPr sz="1150">
              <a:solidFill>
                <a:srgbClr val="57534E"/>
              </a:solidFill>
              <a:latin typeface="Noto Sans CJK SC"/>
            </a:endParaRPr>
          </a:p>
          <a:p>
            <a:pPr>
              <a:spcAft>
                <a:spcPts val="200"/>
              </a:spcAft>
            </a:pPr>
            <a:r>
              <a:rPr sz="1150">
                <a:solidFill>
                  <a:srgbClr val="57534E"/>
                </a:solidFill>
                <a:latin typeface="Noto Sans CJK SC"/>
              </a:rPr>
              <a:t>② 操作手册按需注入：确认选中后才挂载完整入参操作手册（Operation Manual）；</a:t>
            </a:r>
            <a:endParaRPr sz="1150">
              <a:solidFill>
                <a:srgbClr val="57534E"/>
              </a:solidFill>
              <a:latin typeface="Noto Sans CJK SC"/>
            </a:endParaRPr>
          </a:p>
          <a:p>
            <a:pPr>
              <a:spcAft>
                <a:spcPts val="200"/>
              </a:spcAft>
            </a:pPr>
            <a:r>
              <a:rPr sz="1150">
                <a:solidFill>
                  <a:srgbClr val="57534E"/>
                </a:solidFill>
                <a:latin typeface="Noto Sans CJK SC"/>
              </a:rPr>
              <a:t>③ Query-Specific Top-4 裁剪：单次仅暴露 4 个高置信度工具，实现 87.5% Token 压缩；</a:t>
            </a:r>
            <a:endParaRPr sz="1150">
              <a:solidFill>
                <a:srgbClr val="57534E"/>
              </a:solidFill>
              <a:latin typeface="Noto Sans CJK SC"/>
            </a:endParaRPr>
          </a:p>
          <a:p>
            <a:pPr>
              <a:spcAft>
                <a:spcPts val="200"/>
              </a:spcAft>
            </a:pPr>
            <a:r>
              <a:rPr sz="1150">
                <a:solidFill>
                  <a:srgbClr val="57534E"/>
                </a:solidFill>
                <a:latin typeface="Noto Sans CJK SC"/>
              </a:rPr>
              <a:t>④ 探索配额机制：调度固定留出 10% 配额给冷门/新上线技能，规避马太效应。</a:t>
            </a:r>
            <a:endParaRPr sz="1150">
              <a:solidFill>
                <a:srgbClr val="57534E"/>
              </a:solidFill>
              <a:latin typeface="Noto Sans CJK SC"/>
            </a:endParaRPr>
          </a:p>
        </p:txBody>
      </p:sp>
      <p:sp>
        <p:nvSpPr>
          <p:cNvPr id="41" name="Rectangle 11"/>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12"/>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43" name="TextBox 13"/>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11 / 18 页</a:t>
            </a:r>
            <a:endParaRPr sz="1050" b="1">
              <a:solidFill>
                <a:srgbClr val="78716C"/>
              </a:solidFill>
              <a:latin typeface="Noto Sans CJK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45"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04 · 关键机制四：契约自愈治理</a:t>
            </a:r>
            <a:endParaRPr sz="1150" b="1">
              <a:solidFill>
                <a:srgbClr val="C2410C"/>
              </a:solidFill>
              <a:latin typeface="Noto Sans CJK SC"/>
            </a:endParaRPr>
          </a:p>
        </p:txBody>
      </p:sp>
      <p:sp>
        <p:nvSpPr>
          <p:cNvPr id="47"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技能更新与治理：三级报错体系与契约溯源自愈机制</a:t>
            </a:r>
            <a:endParaRPr sz="2100" b="1">
              <a:solidFill>
                <a:srgbClr val="1C1917"/>
              </a:solidFill>
              <a:latin typeface="Noto Sans CJK SC"/>
            </a:endParaRPr>
          </a:p>
        </p:txBody>
      </p:sp>
      <p:sp>
        <p:nvSpPr>
          <p:cNvPr id="48"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5"/>
          <p:cNvSpPr/>
          <p:nvPr/>
        </p:nvSpPr>
        <p:spPr>
          <a:xfrm>
            <a:off x="731520" y="1536192"/>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6"/>
          <p:cNvSpPr txBox="1"/>
          <p:nvPr/>
        </p:nvSpPr>
        <p:spPr>
          <a:xfrm>
            <a:off x="960120" y="1645919"/>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一、面临问题：</a:t>
            </a:r>
            <a:r>
              <a:rPr sz="1300" b="1">
                <a:solidFill>
                  <a:srgbClr val="1C1917"/>
                </a:solidFill>
                <a:latin typeface="Noto Sans CJK SC"/>
              </a:rPr>
              <a:t>底层接口悄悄变更导致技能坏死，人工排查周期极其滞后</a:t>
            </a:r>
            <a:endParaRPr sz="1300" b="1">
              <a:solidFill>
                <a:srgbClr val="1C1917"/>
              </a:solidFill>
              <a:latin typeface="Noto Sans CJK SC"/>
            </a:endParaRPr>
          </a:p>
          <a:p>
            <a:pPr>
              <a:spcAft>
                <a:spcPts val="200"/>
              </a:spcAft>
            </a:pPr>
            <a:r>
              <a:rPr sz="1150">
                <a:solidFill>
                  <a:srgbClr val="57534E"/>
                </a:solidFill>
                <a:latin typeface="Noto Sans CJK SC"/>
              </a:rPr>
              <a:t>第三方 API 路径变迁或字段改名后，往往等用户在业务中报错投诉了，管理员才去手工排查修改；而完全由 AI 自动改代码又容易改坏业务。</a:t>
            </a:r>
            <a:endParaRPr sz="1150">
              <a:solidFill>
                <a:srgbClr val="57534E"/>
              </a:solidFill>
              <a:latin typeface="Noto Sans CJK SC"/>
            </a:endParaRPr>
          </a:p>
        </p:txBody>
      </p:sp>
      <p:sp>
        <p:nvSpPr>
          <p:cNvPr id="51" name="Rounded Rectangle 7"/>
          <p:cNvSpPr/>
          <p:nvPr/>
        </p:nvSpPr>
        <p:spPr>
          <a:xfrm>
            <a:off x="731520" y="3063239"/>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8"/>
          <p:cNvSpPr txBox="1"/>
          <p:nvPr/>
        </p:nvSpPr>
        <p:spPr>
          <a:xfrm>
            <a:off x="960120" y="3172968"/>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二、根因剖析：</a:t>
            </a:r>
            <a:r>
              <a:rPr sz="1300" b="1">
                <a:solidFill>
                  <a:srgbClr val="1C1917"/>
                </a:solidFill>
                <a:latin typeface="Noto Sans CJK SC"/>
              </a:rPr>
              <a:t>缺少规范的报错分级监控，缺少技能出厂时的来源溯源基因</a:t>
            </a:r>
            <a:endParaRPr sz="1300" b="1">
              <a:solidFill>
                <a:srgbClr val="1C1917"/>
              </a:solidFill>
              <a:latin typeface="Noto Sans CJK SC"/>
            </a:endParaRPr>
          </a:p>
          <a:p>
            <a:pPr>
              <a:spcAft>
                <a:spcPts val="200"/>
              </a:spcAft>
            </a:pPr>
            <a:r>
              <a:rPr sz="1150">
                <a:solidFill>
                  <a:srgbClr val="57534E"/>
                </a:solidFill>
                <a:latin typeface="Noto Sans CJK SC"/>
              </a:rPr>
              <a:t>接口失效时无法自动追溯到最初的 OpenAPI 文档与版本更新记录（Changelog），造成自动化修复无从下手。</a:t>
            </a:r>
            <a:endParaRPr sz="1150">
              <a:solidFill>
                <a:srgbClr val="57534E"/>
              </a:solidFill>
              <a:latin typeface="Noto Sans CJK SC"/>
            </a:endParaRPr>
          </a:p>
        </p:txBody>
      </p:sp>
      <p:sp>
        <p:nvSpPr>
          <p:cNvPr id="53" name="Rounded Rectangle 9"/>
          <p:cNvSpPr/>
          <p:nvPr/>
        </p:nvSpPr>
        <p:spPr>
          <a:xfrm>
            <a:off x="731520" y="4590288"/>
            <a:ext cx="10728655" cy="1389888"/>
          </a:xfrm>
          <a:prstGeom prst="roundRect">
            <a:avLst>
              <a:gd name="adj" fmla="val 3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10"/>
          <p:cNvSpPr txBox="1"/>
          <p:nvPr/>
        </p:nvSpPr>
        <p:spPr>
          <a:xfrm>
            <a:off x="960120" y="4700016"/>
            <a:ext cx="10271455" cy="1170432"/>
          </a:xfrm>
          <a:prstGeom prst="rect">
            <a:avLst/>
          </a:prstGeom>
          <a:noFill/>
        </p:spPr>
        <p:txBody>
          <a:bodyPr wrap="square" lIns="0" tIns="0" rIns="0" bIns="0">
            <a:spAutoFit/>
          </a:bodyPr>
          <a:lstStyle/>
          <a:p>
            <a:pPr>
              <a:spcAft>
                <a:spcPts val="400"/>
              </a:spcAft>
            </a:pPr>
            <a:r>
              <a:rPr sz="1300" b="1">
                <a:solidFill>
                  <a:srgbClr val="C2410C"/>
                </a:solidFill>
                <a:latin typeface="Noto Sans CJK SC"/>
              </a:rPr>
              <a:t>三、应对方案：</a:t>
            </a:r>
            <a:r>
              <a:rPr sz="1300" b="1">
                <a:solidFill>
                  <a:srgbClr val="1C1917"/>
                </a:solidFill>
                <a:latin typeface="Noto Sans CJK SC"/>
              </a:rPr>
              <a:t>三级报错体系 + 元数据溯源指针自愈 + 人机协同确认</a:t>
            </a:r>
            <a:endParaRPr sz="1300" b="1">
              <a:solidFill>
                <a:srgbClr val="1C1917"/>
              </a:solidFill>
              <a:latin typeface="Noto Sans CJK SC"/>
            </a:endParaRPr>
          </a:p>
          <a:p>
            <a:pPr>
              <a:spcAft>
                <a:spcPts val="200"/>
              </a:spcAft>
            </a:pPr>
            <a:r>
              <a:rPr sz="1150">
                <a:solidFill>
                  <a:srgbClr val="57534E"/>
                </a:solidFill>
                <a:latin typeface="Noto Sans CJK SC"/>
              </a:rPr>
              <a:t>① 三级报错监控：细分 Skill 级（接口故障）、Cluster 级（分类混乱）、Retrieval 级（检索选错）；</a:t>
            </a:r>
            <a:endParaRPr sz="1150">
              <a:solidFill>
                <a:srgbClr val="57534E"/>
              </a:solidFill>
              <a:latin typeface="Noto Sans CJK SC"/>
            </a:endParaRPr>
          </a:p>
          <a:p>
            <a:pPr>
              <a:spcAft>
                <a:spcPts val="200"/>
              </a:spcAft>
            </a:pPr>
            <a:r>
              <a:rPr sz="1150">
                <a:solidFill>
                  <a:srgbClr val="57534E"/>
                </a:solidFill>
                <a:latin typeface="Noto Sans CJK SC"/>
              </a:rPr>
              <a:t>② 基于溯源指针的自愈 (Provenance-based Recovery)：元数据强制绑定 Swagger/Changelog 地址。捕获 404 时自动查阅更新日志并比对参数差异，沙箱测试通过后写回热补丁；</a:t>
            </a:r>
            <a:endParaRPr sz="1150">
              <a:solidFill>
                <a:srgbClr val="57534E"/>
              </a:solidFill>
              <a:latin typeface="Noto Sans CJK SC"/>
            </a:endParaRPr>
          </a:p>
          <a:p>
            <a:pPr>
              <a:spcAft>
                <a:spcPts val="200"/>
              </a:spcAft>
            </a:pPr>
            <a:r>
              <a:rPr sz="1150">
                <a:solidFill>
                  <a:srgbClr val="57534E"/>
                </a:solidFill>
                <a:latin typeface="Noto Sans CJK SC"/>
              </a:rPr>
              <a:t>③ 人机协同 (HITL)：AI 完成诊断并生成工单，管理员一键审核放行，确保系统安全。</a:t>
            </a:r>
            <a:endParaRPr sz="1150">
              <a:solidFill>
                <a:srgbClr val="57534E"/>
              </a:solidFill>
              <a:latin typeface="Noto Sans CJK SC"/>
            </a:endParaRPr>
          </a:p>
        </p:txBody>
      </p:sp>
      <p:sp>
        <p:nvSpPr>
          <p:cNvPr id="55" name="Rectangle 11"/>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12"/>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57" name="TextBox 13"/>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12 / 18 页</a:t>
            </a:r>
            <a:endParaRPr sz="1050" b="1">
              <a:solidFill>
                <a:srgbClr val="78716C"/>
              </a:solidFill>
              <a:latin typeface="Noto Sans CJK S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59"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05 · 系统工程落地与演示</a:t>
            </a:r>
            <a:endParaRPr sz="1150" b="1">
              <a:solidFill>
                <a:srgbClr val="C2410C"/>
              </a:solidFill>
              <a:latin typeface="Noto Sans CJK SC"/>
            </a:endParaRPr>
          </a:p>
        </p:txBody>
      </p:sp>
      <p:sp>
        <p:nvSpPr>
          <p:cNvPr id="61"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产品落地：MVP-Agent 系统核心功能模块与在线演示</a:t>
            </a:r>
            <a:endParaRPr sz="2100" b="1">
              <a:solidFill>
                <a:srgbClr val="1C1917"/>
              </a:solidFill>
              <a:latin typeface="Noto Sans CJK SC"/>
            </a:endParaRPr>
          </a:p>
        </p:txBody>
      </p:sp>
      <p:sp>
        <p:nvSpPr>
          <p:cNvPr id="62"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5"/>
          <p:cNvSpPr/>
          <p:nvPr/>
        </p:nvSpPr>
        <p:spPr>
          <a:xfrm>
            <a:off x="731520" y="1600200"/>
            <a:ext cx="5120640" cy="182880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
          <p:cNvSpPr txBox="1"/>
          <p:nvPr/>
        </p:nvSpPr>
        <p:spPr>
          <a:xfrm>
            <a:off x="914400" y="1737360"/>
            <a:ext cx="4800600" cy="1554480"/>
          </a:xfrm>
          <a:prstGeom prst="rect">
            <a:avLst/>
          </a:prstGeom>
          <a:noFill/>
        </p:spPr>
        <p:txBody>
          <a:bodyPr wrap="square" lIns="0" tIns="0" rIns="0" bIns="0">
            <a:spAutoFit/>
          </a:bodyPr>
          <a:lstStyle/>
          <a:p>
            <a:pPr>
              <a:spcAft>
                <a:spcPts val="800"/>
              </a:spcAft>
            </a:pPr>
            <a:r>
              <a:rPr sz="1350" b="1">
                <a:solidFill>
                  <a:srgbClr val="C2410C"/>
                </a:solidFill>
                <a:latin typeface="Noto Sans CJK SC"/>
              </a:rPr>
              <a:t>功能一：技能基础健康检查 (Health Check)</a:t>
            </a:r>
            <a:endParaRPr sz="1350" b="1">
              <a:solidFill>
                <a:srgbClr val="C2410C"/>
              </a:solidFill>
              <a:latin typeface="Noto Sans CJK SC"/>
            </a:endParaRPr>
          </a:p>
          <a:p>
            <a:r>
              <a:rPr sz="1150">
                <a:solidFill>
                  <a:srgbClr val="57534E"/>
                </a:solidFill>
                <a:latin typeface="Noto Sans CJK SC"/>
              </a:rPr>
              <a:t>一键发起全库巡检，自动扫描元数据规范度、更新时间时效与底层 API 实际网络连通性，秒级标红失效死链与异常接口。</a:t>
            </a:r>
            <a:endParaRPr sz="1150">
              <a:solidFill>
                <a:srgbClr val="57534E"/>
              </a:solidFill>
              <a:latin typeface="Noto Sans CJK SC"/>
            </a:endParaRPr>
          </a:p>
        </p:txBody>
      </p:sp>
      <p:sp>
        <p:nvSpPr>
          <p:cNvPr id="65" name="Rounded Rectangle 7"/>
          <p:cNvSpPr/>
          <p:nvPr/>
        </p:nvSpPr>
        <p:spPr>
          <a:xfrm>
            <a:off x="6126480" y="1600200"/>
            <a:ext cx="5333695" cy="182880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8"/>
          <p:cNvSpPr txBox="1"/>
          <p:nvPr/>
        </p:nvSpPr>
        <p:spPr>
          <a:xfrm>
            <a:off x="6309360" y="1737360"/>
            <a:ext cx="5013655" cy="1554480"/>
          </a:xfrm>
          <a:prstGeom prst="rect">
            <a:avLst/>
          </a:prstGeom>
          <a:noFill/>
        </p:spPr>
        <p:txBody>
          <a:bodyPr wrap="square" lIns="0" tIns="0" rIns="0" bIns="0">
            <a:spAutoFit/>
          </a:bodyPr>
          <a:lstStyle/>
          <a:p>
            <a:pPr>
              <a:spcAft>
                <a:spcPts val="800"/>
              </a:spcAft>
            </a:pPr>
            <a:r>
              <a:rPr sz="1350" b="1">
                <a:solidFill>
                  <a:srgbClr val="C2410C"/>
                </a:solidFill>
                <a:latin typeface="Noto Sans CJK SC"/>
              </a:rPr>
              <a:t>功能二：冲突排查与消歧配置中心</a:t>
            </a:r>
            <a:endParaRPr sz="1350" b="1">
              <a:solidFill>
                <a:srgbClr val="C2410C"/>
              </a:solidFill>
              <a:latin typeface="Noto Sans CJK SC"/>
            </a:endParaRPr>
          </a:p>
          <a:p>
            <a:r>
              <a:rPr sz="1150">
                <a:solidFill>
                  <a:srgbClr val="57534E"/>
                </a:solidFill>
                <a:latin typeface="Noto Sans CJK SC"/>
              </a:rPr>
              <a:t>可视化排查相似度高于 0.90 的疑似冲突项，引导开发者在线填写消歧专有属性与负向触发规则（Negative Triggers）。</a:t>
            </a:r>
            <a:endParaRPr sz="1150">
              <a:solidFill>
                <a:srgbClr val="57534E"/>
              </a:solidFill>
              <a:latin typeface="Noto Sans CJK SC"/>
            </a:endParaRPr>
          </a:p>
        </p:txBody>
      </p:sp>
      <p:sp>
        <p:nvSpPr>
          <p:cNvPr id="67" name="Rounded Rectangle 9"/>
          <p:cNvSpPr/>
          <p:nvPr/>
        </p:nvSpPr>
        <p:spPr>
          <a:xfrm>
            <a:off x="731520" y="3566160"/>
            <a:ext cx="5120640" cy="182880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10"/>
          <p:cNvSpPr txBox="1"/>
          <p:nvPr/>
        </p:nvSpPr>
        <p:spPr>
          <a:xfrm>
            <a:off x="914400" y="3703320"/>
            <a:ext cx="4800600" cy="1554480"/>
          </a:xfrm>
          <a:prstGeom prst="rect">
            <a:avLst/>
          </a:prstGeom>
          <a:noFill/>
        </p:spPr>
        <p:txBody>
          <a:bodyPr wrap="square" lIns="0" tIns="0" rIns="0" bIns="0">
            <a:spAutoFit/>
          </a:bodyPr>
          <a:lstStyle/>
          <a:p>
            <a:pPr>
              <a:spcAft>
                <a:spcPts val="800"/>
              </a:spcAft>
            </a:pPr>
            <a:r>
              <a:rPr sz="1350" b="1">
                <a:solidFill>
                  <a:srgbClr val="C2410C"/>
                </a:solidFill>
                <a:latin typeface="Noto Sans CJK SC"/>
              </a:rPr>
              <a:t>功能三：长对话压测实验室 (Stress Test Lab)</a:t>
            </a:r>
            <a:endParaRPr sz="1350" b="1">
              <a:solidFill>
                <a:srgbClr val="C2410C"/>
              </a:solidFill>
              <a:latin typeface="Noto Sans CJK SC"/>
            </a:endParaRPr>
          </a:p>
          <a:p>
            <a:r>
              <a:rPr sz="1150">
                <a:solidFill>
                  <a:srgbClr val="57534E"/>
                </a:solidFill>
                <a:latin typeface="Noto Sans CJK SC"/>
              </a:rPr>
              <a:t>在前端完整开放论文实验测试台，支持用户设置 1~20 轮对话深度并注入干扰技能，直观对比原生调用与 SIS 裁剪沙箱表现。</a:t>
            </a:r>
            <a:endParaRPr sz="1150">
              <a:solidFill>
                <a:srgbClr val="57534E"/>
              </a:solidFill>
              <a:latin typeface="Noto Sans CJK SC"/>
            </a:endParaRPr>
          </a:p>
        </p:txBody>
      </p:sp>
      <p:sp>
        <p:nvSpPr>
          <p:cNvPr id="69" name="Rounded Rectangle 11"/>
          <p:cNvSpPr/>
          <p:nvPr/>
        </p:nvSpPr>
        <p:spPr>
          <a:xfrm>
            <a:off x="6126480" y="3566160"/>
            <a:ext cx="5333695" cy="182880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12"/>
          <p:cNvSpPr txBox="1"/>
          <p:nvPr/>
        </p:nvSpPr>
        <p:spPr>
          <a:xfrm>
            <a:off x="6309360" y="3703320"/>
            <a:ext cx="5013655" cy="1554480"/>
          </a:xfrm>
          <a:prstGeom prst="rect">
            <a:avLst/>
          </a:prstGeom>
          <a:noFill/>
        </p:spPr>
        <p:txBody>
          <a:bodyPr wrap="square" lIns="0" tIns="0" rIns="0" bIns="0">
            <a:spAutoFit/>
          </a:bodyPr>
          <a:lstStyle/>
          <a:p>
            <a:pPr>
              <a:spcAft>
                <a:spcPts val="800"/>
              </a:spcAft>
            </a:pPr>
            <a:r>
              <a:rPr sz="1350" b="1">
                <a:solidFill>
                  <a:srgbClr val="C2410C"/>
                </a:solidFill>
                <a:latin typeface="Noto Sans CJK SC"/>
              </a:rPr>
              <a:t>功能四：系统风险报告与维护工单</a:t>
            </a:r>
            <a:endParaRPr sz="1350" b="1">
              <a:solidFill>
                <a:srgbClr val="C2410C"/>
              </a:solidFill>
              <a:latin typeface="Noto Sans CJK SC"/>
            </a:endParaRPr>
          </a:p>
          <a:p>
            <a:r>
              <a:rPr sz="1150">
                <a:solidFill>
                  <a:srgbClr val="57534E"/>
                </a:solidFill>
                <a:latin typeface="Noto Sans CJK SC"/>
              </a:rPr>
              <a:t>一键导出当前技能库的全局健康度评分、高频报错分布及优化工单，形成规范的人机协同（HITL）闭环。</a:t>
            </a:r>
            <a:endParaRPr sz="1150">
              <a:solidFill>
                <a:srgbClr val="57534E"/>
              </a:solidFill>
              <a:latin typeface="Noto Sans CJK SC"/>
            </a:endParaRPr>
          </a:p>
        </p:txBody>
      </p:sp>
      <p:sp>
        <p:nvSpPr>
          <p:cNvPr id="71" name="Rounded Rectangle 13"/>
          <p:cNvSpPr/>
          <p:nvPr/>
        </p:nvSpPr>
        <p:spPr>
          <a:xfrm>
            <a:off x="731520" y="5532120"/>
            <a:ext cx="10728655" cy="594360"/>
          </a:xfrm>
          <a:prstGeom prst="roundRect">
            <a:avLst>
              <a:gd name="adj" fmla="val 5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14"/>
          <p:cNvSpPr txBox="1"/>
          <p:nvPr/>
        </p:nvSpPr>
        <p:spPr>
          <a:xfrm>
            <a:off x="960120" y="5596128"/>
            <a:ext cx="10271455" cy="457200"/>
          </a:xfrm>
          <a:prstGeom prst="rect">
            <a:avLst/>
          </a:prstGeom>
          <a:noFill/>
        </p:spPr>
        <p:txBody>
          <a:bodyPr wrap="square" lIns="0" tIns="0" rIns="0" bIns="0">
            <a:spAutoFit/>
          </a:bodyPr>
          <a:lstStyle/>
          <a:p>
            <a:r>
              <a:rPr sz="1200" b="1">
                <a:solidFill>
                  <a:srgbClr val="C2410C"/>
                </a:solidFill>
                <a:latin typeface="Noto Sans CJK SC"/>
              </a:rPr>
              <a:t>系统验证平台：</a:t>
            </a:r>
            <a:r>
              <a:rPr sz="1200">
                <a:solidFill>
                  <a:srgbClr val="1C1917"/>
                </a:solidFill>
                <a:latin typeface="Noto Sans CJK SC"/>
              </a:rPr>
              <a:t>mvp-agent-1.ai.studio  |  完整实现核心功能列表，支持实时在线交互测试与验证。</a:t>
            </a:r>
            <a:endParaRPr sz="1200">
              <a:solidFill>
                <a:srgbClr val="1C1917"/>
              </a:solidFill>
              <a:latin typeface="Noto Sans CJK SC"/>
            </a:endParaRPr>
          </a:p>
        </p:txBody>
      </p:sp>
      <p:sp>
        <p:nvSpPr>
          <p:cNvPr id="73" name="Rectangle 15"/>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16"/>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75" name="TextBox 17"/>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13 / 18 页</a:t>
            </a:r>
            <a:endParaRPr sz="1050" b="1">
              <a:solidFill>
                <a:srgbClr val="78716C"/>
              </a:solidFill>
              <a:latin typeface="Noto Sans CJK S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77"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06 · 实证研究：GAIA 实验设计</a:t>
            </a:r>
            <a:endParaRPr sz="1150" b="1">
              <a:solidFill>
                <a:srgbClr val="C2410C"/>
              </a:solidFill>
              <a:latin typeface="Noto Sans CJK SC"/>
            </a:endParaRPr>
          </a:p>
        </p:txBody>
      </p:sp>
      <p:sp>
        <p:nvSpPr>
          <p:cNvPr id="79"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基于 GAIA 真实业务任务的 4 阶段长会话对照实验</a:t>
            </a:r>
            <a:endParaRPr sz="2100" b="1">
              <a:solidFill>
                <a:srgbClr val="1C1917"/>
              </a:solidFill>
              <a:latin typeface="Noto Sans CJK SC"/>
            </a:endParaRPr>
          </a:p>
        </p:txBody>
      </p:sp>
      <p:sp>
        <p:nvSpPr>
          <p:cNvPr id="80"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5"/>
          <p:cNvSpPr/>
          <p:nvPr/>
        </p:nvSpPr>
        <p:spPr>
          <a:xfrm>
            <a:off x="731520" y="1600200"/>
            <a:ext cx="2423160" cy="37033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6"/>
          <p:cNvSpPr txBox="1"/>
          <p:nvPr/>
        </p:nvSpPr>
        <p:spPr>
          <a:xfrm>
            <a:off x="914400" y="1783080"/>
            <a:ext cx="2057400" cy="3337560"/>
          </a:xfrm>
          <a:prstGeom prst="rect">
            <a:avLst/>
          </a:prstGeom>
          <a:noFill/>
        </p:spPr>
        <p:txBody>
          <a:bodyPr wrap="square" lIns="0" tIns="0" rIns="0" bIns="0">
            <a:spAutoFit/>
          </a:bodyPr>
          <a:lstStyle/>
          <a:p>
            <a:pPr>
              <a:spcAft>
                <a:spcPts val="200"/>
              </a:spcAft>
            </a:pPr>
            <a:r>
              <a:rPr sz="1100" b="1">
                <a:solidFill>
                  <a:srgbClr val="C2410C"/>
                </a:solidFill>
                <a:latin typeface="Noto Sans CJK SC"/>
              </a:rPr>
              <a:t>阶段一 · 场景构建</a:t>
            </a:r>
            <a:endParaRPr sz="1100" b="1">
              <a:solidFill>
                <a:srgbClr val="C2410C"/>
              </a:solidFill>
              <a:latin typeface="Noto Sans CJK SC"/>
            </a:endParaRPr>
          </a:p>
          <a:p>
            <a:pPr>
              <a:spcAft>
                <a:spcPts val="1000"/>
              </a:spcAft>
            </a:pPr>
            <a:r>
              <a:rPr sz="1600" b="1">
                <a:solidFill>
                  <a:srgbClr val="C2410C"/>
                </a:solidFill>
                <a:latin typeface="Noto Sans CJK SC"/>
              </a:rPr>
              <a:t>GAIA 深度会话</a:t>
            </a:r>
            <a:endParaRPr sz="1600" b="1">
              <a:solidFill>
                <a:srgbClr val="C2410C"/>
              </a:solidFill>
              <a:latin typeface="Noto Sans CJK SC"/>
            </a:endParaRPr>
          </a:p>
          <a:p>
            <a:pPr>
              <a:spcAft>
                <a:spcPts val="400"/>
              </a:spcAft>
            </a:pPr>
            <a:r>
              <a:rPr sz="1150" b="1">
                <a:solidFill>
                  <a:srgbClr val="1C1917"/>
                </a:solidFill>
                <a:latin typeface="Noto Sans CJK SC"/>
              </a:rPr>
              <a:t>场景设计：</a:t>
            </a:r>
            <a:endParaRPr sz="1150" b="1">
              <a:solidFill>
                <a:srgbClr val="1C1917"/>
              </a:solidFill>
              <a:latin typeface="Noto Sans CJK SC"/>
            </a:endParaRPr>
          </a:p>
          <a:p>
            <a:pPr>
              <a:spcAft>
                <a:spcPts val="600"/>
              </a:spcAft>
            </a:pPr>
            <a:r>
              <a:rPr sz="1100">
                <a:solidFill>
                  <a:srgbClr val="57534E"/>
                </a:solidFill>
                <a:latin typeface="Noto Sans CJK SC"/>
              </a:rPr>
              <a:t>以 GAIA 数据集为种子，设计 1~20 轮真实递增深度会话；严禁在提问中透露底层函数名，纯靠意图触发。</a:t>
            </a:r>
            <a:endParaRPr sz="1100">
              <a:solidFill>
                <a:srgbClr val="57534E"/>
              </a:solidFill>
              <a:latin typeface="Noto Sans CJK SC"/>
            </a:endParaRPr>
          </a:p>
        </p:txBody>
      </p:sp>
      <p:sp>
        <p:nvSpPr>
          <p:cNvPr id="83" name="Rounded Rectangle 7"/>
          <p:cNvSpPr/>
          <p:nvPr/>
        </p:nvSpPr>
        <p:spPr>
          <a:xfrm>
            <a:off x="3499408" y="1600200"/>
            <a:ext cx="2423160" cy="37033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
          <p:cNvSpPr txBox="1"/>
          <p:nvPr/>
        </p:nvSpPr>
        <p:spPr>
          <a:xfrm>
            <a:off x="3682288" y="1783080"/>
            <a:ext cx="2057400" cy="3337560"/>
          </a:xfrm>
          <a:prstGeom prst="rect">
            <a:avLst/>
          </a:prstGeom>
          <a:noFill/>
        </p:spPr>
        <p:txBody>
          <a:bodyPr wrap="square" lIns="0" tIns="0" rIns="0" bIns="0">
            <a:spAutoFit/>
          </a:bodyPr>
          <a:lstStyle/>
          <a:p>
            <a:pPr>
              <a:spcAft>
                <a:spcPts val="200"/>
              </a:spcAft>
            </a:pPr>
            <a:r>
              <a:rPr sz="1100" b="1">
                <a:solidFill>
                  <a:srgbClr val="C2410C"/>
                </a:solidFill>
                <a:latin typeface="Noto Sans CJK SC"/>
              </a:rPr>
              <a:t>阶段二 · 变量控制</a:t>
            </a:r>
            <a:endParaRPr sz="1100" b="1">
              <a:solidFill>
                <a:srgbClr val="C2410C"/>
              </a:solidFill>
              <a:latin typeface="Noto Sans CJK SC"/>
            </a:endParaRPr>
          </a:p>
          <a:p>
            <a:pPr>
              <a:spcAft>
                <a:spcPts val="1000"/>
              </a:spcAft>
            </a:pPr>
            <a:r>
              <a:rPr sz="1600" b="1">
                <a:solidFill>
                  <a:srgbClr val="C2410C"/>
                </a:solidFill>
                <a:latin typeface="Noto Sans CJK SC"/>
              </a:rPr>
              <a:t>严密对照设计</a:t>
            </a:r>
            <a:endParaRPr sz="1600" b="1">
              <a:solidFill>
                <a:srgbClr val="C2410C"/>
              </a:solidFill>
              <a:latin typeface="Noto Sans CJK SC"/>
            </a:endParaRPr>
          </a:p>
          <a:p>
            <a:pPr>
              <a:spcAft>
                <a:spcPts val="400"/>
              </a:spcAft>
            </a:pPr>
            <a:r>
              <a:rPr sz="1150" b="1">
                <a:solidFill>
                  <a:srgbClr val="1C1917"/>
                </a:solidFill>
                <a:latin typeface="Noto Sans CJK SC"/>
              </a:rPr>
              <a:t>对照组 (Baseline)：</a:t>
            </a:r>
            <a:endParaRPr sz="1150" b="1">
              <a:solidFill>
                <a:srgbClr val="1C1917"/>
              </a:solidFill>
              <a:latin typeface="Noto Sans CJK SC"/>
            </a:endParaRPr>
          </a:p>
          <a:p>
            <a:pPr>
              <a:spcAft>
                <a:spcPts val="600"/>
              </a:spcAft>
            </a:pPr>
            <a:r>
              <a:rPr sz="1100">
                <a:solidFill>
                  <a:srgbClr val="57534E"/>
                </a:solidFill>
                <a:latin typeface="Noto Sans CJK SC"/>
              </a:rPr>
              <a:t>单次暴露 79 个全量工具；</a:t>
            </a:r>
            <a:endParaRPr sz="1100">
              <a:solidFill>
                <a:srgbClr val="57534E"/>
              </a:solidFill>
              <a:latin typeface="Noto Sans CJK SC"/>
            </a:endParaRPr>
          </a:p>
          <a:p>
            <a:pPr>
              <a:spcAft>
                <a:spcPts val="400"/>
              </a:spcAft>
            </a:pPr>
            <a:r>
              <a:rPr sz="1150" b="1">
                <a:solidFill>
                  <a:srgbClr val="1C1917"/>
                </a:solidFill>
                <a:latin typeface="Noto Sans CJK SC"/>
              </a:rPr>
              <a:t>实验组 (SIS)：</a:t>
            </a:r>
            <a:endParaRPr sz="1150" b="1">
              <a:solidFill>
                <a:srgbClr val="1C1917"/>
              </a:solidFill>
              <a:latin typeface="Noto Sans CJK SC"/>
            </a:endParaRPr>
          </a:p>
          <a:p>
            <a:pPr>
              <a:spcAft>
                <a:spcPts val="600"/>
              </a:spcAft>
            </a:pPr>
            <a:r>
              <a:rPr sz="1100">
                <a:solidFill>
                  <a:srgbClr val="57534E"/>
                </a:solidFill>
                <a:latin typeface="Noto Sans CJK SC"/>
              </a:rPr>
              <a:t>Top-4 裁剪沙箱；两组均混入大量高相似干扰项。</a:t>
            </a:r>
            <a:endParaRPr sz="1100">
              <a:solidFill>
                <a:srgbClr val="57534E"/>
              </a:solidFill>
              <a:latin typeface="Noto Sans CJK SC"/>
            </a:endParaRPr>
          </a:p>
        </p:txBody>
      </p:sp>
      <p:sp>
        <p:nvSpPr>
          <p:cNvPr id="85" name="Rounded Rectangle 9"/>
          <p:cNvSpPr/>
          <p:nvPr/>
        </p:nvSpPr>
        <p:spPr>
          <a:xfrm>
            <a:off x="6267297" y="1600200"/>
            <a:ext cx="2423160" cy="37033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10"/>
          <p:cNvSpPr txBox="1"/>
          <p:nvPr/>
        </p:nvSpPr>
        <p:spPr>
          <a:xfrm>
            <a:off x="6450177" y="1783080"/>
            <a:ext cx="2057400" cy="3337560"/>
          </a:xfrm>
          <a:prstGeom prst="rect">
            <a:avLst/>
          </a:prstGeom>
          <a:noFill/>
        </p:spPr>
        <p:txBody>
          <a:bodyPr wrap="square" lIns="0" tIns="0" rIns="0" bIns="0">
            <a:spAutoFit/>
          </a:bodyPr>
          <a:lstStyle/>
          <a:p>
            <a:pPr>
              <a:spcAft>
                <a:spcPts val="200"/>
              </a:spcAft>
            </a:pPr>
            <a:r>
              <a:rPr sz="1100" b="1">
                <a:solidFill>
                  <a:srgbClr val="C2410C"/>
                </a:solidFill>
                <a:latin typeface="Noto Sans CJK SC"/>
              </a:rPr>
              <a:t>阶段三 · 隔离执行</a:t>
            </a:r>
            <a:endParaRPr sz="1100" b="1">
              <a:solidFill>
                <a:srgbClr val="C2410C"/>
              </a:solidFill>
              <a:latin typeface="Noto Sans CJK SC"/>
            </a:endParaRPr>
          </a:p>
          <a:p>
            <a:pPr>
              <a:spcAft>
                <a:spcPts val="1000"/>
              </a:spcAft>
            </a:pPr>
            <a:r>
              <a:rPr sz="1600" b="1">
                <a:solidFill>
                  <a:srgbClr val="C2410C"/>
                </a:solidFill>
                <a:latin typeface="Noto Sans CJK SC"/>
              </a:rPr>
              <a:t>真机独立运行</a:t>
            </a:r>
            <a:endParaRPr sz="1600" b="1">
              <a:solidFill>
                <a:srgbClr val="C2410C"/>
              </a:solidFill>
              <a:latin typeface="Noto Sans CJK SC"/>
            </a:endParaRPr>
          </a:p>
          <a:p>
            <a:pPr>
              <a:spcAft>
                <a:spcPts val="400"/>
              </a:spcAft>
            </a:pPr>
            <a:r>
              <a:rPr sz="1150" b="1">
                <a:solidFill>
                  <a:srgbClr val="1C1917"/>
                </a:solidFill>
                <a:latin typeface="Noto Sans CJK SC"/>
              </a:rPr>
              <a:t>执行标准：</a:t>
            </a:r>
            <a:endParaRPr sz="1150" b="1">
              <a:solidFill>
                <a:srgbClr val="1C1917"/>
              </a:solidFill>
              <a:latin typeface="Noto Sans CJK SC"/>
            </a:endParaRPr>
          </a:p>
          <a:p>
            <a:pPr>
              <a:spcAft>
                <a:spcPts val="600"/>
              </a:spcAft>
            </a:pPr>
            <a:r>
              <a:rPr sz="1100">
                <a:solidFill>
                  <a:srgbClr val="57534E"/>
                </a:solidFill>
                <a:latin typeface="Noto Sans CJK SC"/>
              </a:rPr>
              <a:t>独立重复消除方差，内置指数退避重试；全流程精确留痕毫秒耗时、Token 消耗与命中状态。</a:t>
            </a:r>
            <a:endParaRPr sz="1100">
              <a:solidFill>
                <a:srgbClr val="57534E"/>
              </a:solidFill>
              <a:latin typeface="Noto Sans CJK SC"/>
            </a:endParaRPr>
          </a:p>
        </p:txBody>
      </p:sp>
      <p:sp>
        <p:nvSpPr>
          <p:cNvPr id="87" name="Rounded Rectangle 11"/>
          <p:cNvSpPr/>
          <p:nvPr/>
        </p:nvSpPr>
        <p:spPr>
          <a:xfrm>
            <a:off x="9035186" y="1600200"/>
            <a:ext cx="2423160" cy="37033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12"/>
          <p:cNvSpPr txBox="1"/>
          <p:nvPr/>
        </p:nvSpPr>
        <p:spPr>
          <a:xfrm>
            <a:off x="9218066" y="1783080"/>
            <a:ext cx="2057400" cy="3337560"/>
          </a:xfrm>
          <a:prstGeom prst="rect">
            <a:avLst/>
          </a:prstGeom>
          <a:noFill/>
        </p:spPr>
        <p:txBody>
          <a:bodyPr wrap="square" lIns="0" tIns="0" rIns="0" bIns="0">
            <a:spAutoFit/>
          </a:bodyPr>
          <a:lstStyle/>
          <a:p>
            <a:pPr>
              <a:spcAft>
                <a:spcPts val="200"/>
              </a:spcAft>
            </a:pPr>
            <a:r>
              <a:rPr sz="1100" b="1">
                <a:solidFill>
                  <a:srgbClr val="C2410C"/>
                </a:solidFill>
                <a:latin typeface="Noto Sans CJK SC"/>
              </a:rPr>
              <a:t>阶段四 · 归因分析</a:t>
            </a:r>
            <a:endParaRPr sz="1100" b="1">
              <a:solidFill>
                <a:srgbClr val="C2410C"/>
              </a:solidFill>
              <a:latin typeface="Noto Sans CJK SC"/>
            </a:endParaRPr>
          </a:p>
          <a:p>
            <a:pPr>
              <a:spcAft>
                <a:spcPts val="1000"/>
              </a:spcAft>
            </a:pPr>
            <a:r>
              <a:rPr sz="1600" b="1">
                <a:solidFill>
                  <a:srgbClr val="C2410C"/>
                </a:solidFill>
                <a:latin typeface="Noto Sans CJK SC"/>
              </a:rPr>
              <a:t>多维客观评价</a:t>
            </a:r>
            <a:endParaRPr sz="1600" b="1">
              <a:solidFill>
                <a:srgbClr val="C2410C"/>
              </a:solidFill>
              <a:latin typeface="Noto Sans CJK SC"/>
            </a:endParaRPr>
          </a:p>
          <a:p>
            <a:pPr>
              <a:spcAft>
                <a:spcPts val="400"/>
              </a:spcAft>
            </a:pPr>
            <a:r>
              <a:rPr sz="1150" b="1">
                <a:solidFill>
                  <a:srgbClr val="1C1917"/>
                </a:solidFill>
                <a:latin typeface="Noto Sans CJK SC"/>
              </a:rPr>
              <a:t>多维分析：</a:t>
            </a:r>
            <a:endParaRPr sz="1150" b="1">
              <a:solidFill>
                <a:srgbClr val="1C1917"/>
              </a:solidFill>
              <a:latin typeface="Noto Sans CJK SC"/>
            </a:endParaRPr>
          </a:p>
          <a:p>
            <a:pPr>
              <a:spcAft>
                <a:spcPts val="600"/>
              </a:spcAft>
            </a:pPr>
            <a:r>
              <a:rPr sz="1100">
                <a:solidFill>
                  <a:srgbClr val="57534E"/>
                </a:solidFill>
                <a:latin typeface="Noto Sans CJK SC"/>
              </a:rPr>
              <a:t>统计分轮次错误率，寻找长对话发生质变的临界深度，重点观测“噪声反噬”与“注意力劫持”。</a:t>
            </a:r>
            <a:endParaRPr sz="1100">
              <a:solidFill>
                <a:srgbClr val="57534E"/>
              </a:solidFill>
              <a:latin typeface="Noto Sans CJK SC"/>
            </a:endParaRPr>
          </a:p>
        </p:txBody>
      </p:sp>
      <p:sp>
        <p:nvSpPr>
          <p:cNvPr id="89" name="Rounded Rectangle 13"/>
          <p:cNvSpPr/>
          <p:nvPr/>
        </p:nvSpPr>
        <p:spPr>
          <a:xfrm>
            <a:off x="731520" y="5440680"/>
            <a:ext cx="10728655" cy="685800"/>
          </a:xfrm>
          <a:prstGeom prst="roundRect">
            <a:avLst>
              <a:gd name="adj" fmla="val 5000"/>
            </a:avLst>
          </a:prstGeom>
          <a:solidFill>
            <a:srgbClr val="FBEDE3"/>
          </a:solidFill>
          <a:ln w="12700">
            <a:solidFill>
              <a:srgbClr val="EB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14"/>
          <p:cNvSpPr txBox="1"/>
          <p:nvPr/>
        </p:nvSpPr>
        <p:spPr>
          <a:xfrm>
            <a:off x="960120" y="5532120"/>
            <a:ext cx="10271455" cy="502920"/>
          </a:xfrm>
          <a:prstGeom prst="rect">
            <a:avLst/>
          </a:prstGeom>
          <a:noFill/>
        </p:spPr>
        <p:txBody>
          <a:bodyPr wrap="square" lIns="0" tIns="0" rIns="0" bIns="0">
            <a:spAutoFit/>
          </a:bodyPr>
          <a:lstStyle/>
          <a:p>
            <a:r>
              <a:rPr sz="1200" b="1">
                <a:solidFill>
                  <a:srgbClr val="C2410C"/>
                </a:solidFill>
                <a:latin typeface="Noto Sans CJK SC"/>
              </a:rPr>
              <a:t>实验目标：</a:t>
            </a:r>
            <a:r>
              <a:rPr sz="1200">
                <a:solidFill>
                  <a:srgbClr val="1C1917"/>
                </a:solidFill>
                <a:latin typeface="Noto Sans CJK SC"/>
              </a:rPr>
              <a:t>验证随着会话深度增加与工具数量增长，原生模型何时发生崩溃，以及 SIS 架构的稳态防御效果。</a:t>
            </a:r>
            <a:endParaRPr sz="1200">
              <a:solidFill>
                <a:srgbClr val="1C1917"/>
              </a:solidFill>
              <a:latin typeface="Noto Sans CJK SC"/>
            </a:endParaRPr>
          </a:p>
        </p:txBody>
      </p:sp>
      <p:sp>
        <p:nvSpPr>
          <p:cNvPr id="91" name="Rectangle 15"/>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16"/>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93" name="TextBox 17"/>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14 / 18 页</a:t>
            </a:r>
            <a:endParaRPr sz="1050" b="1">
              <a:solidFill>
                <a:srgbClr val="78716C"/>
              </a:solidFill>
              <a:latin typeface="Noto Sans CJK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95"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06 · 实证研究：长会话对比分析</a:t>
            </a:r>
            <a:endParaRPr sz="1150" b="1">
              <a:solidFill>
                <a:srgbClr val="C2410C"/>
              </a:solidFill>
              <a:latin typeface="Noto Sans CJK SC"/>
            </a:endParaRPr>
          </a:p>
        </p:txBody>
      </p:sp>
      <p:sp>
        <p:nvSpPr>
          <p:cNvPr id="97"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长会话错误率与耗时折线统计图实测对比</a:t>
            </a:r>
            <a:endParaRPr sz="2100" b="1">
              <a:solidFill>
                <a:srgbClr val="1C1917"/>
              </a:solidFill>
              <a:latin typeface="Noto Sans CJK SC"/>
            </a:endParaRPr>
          </a:p>
        </p:txBody>
      </p:sp>
      <p:sp>
        <p:nvSpPr>
          <p:cNvPr id="98"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5"/>
          <p:cNvSpPr/>
          <p:nvPr/>
        </p:nvSpPr>
        <p:spPr>
          <a:xfrm>
            <a:off x="731520" y="1600200"/>
            <a:ext cx="5120640" cy="43891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0" name="Picture 6" descr="chart_slide_15.png"/>
          <p:cNvPicPr>
            <a:picLocks noChangeAspect="1"/>
          </p:cNvPicPr>
          <p:nvPr/>
        </p:nvPicPr>
        <p:blipFill>
          <a:blip r:embed="rId1"/>
          <a:stretch>
            <a:fillRect/>
          </a:stretch>
        </p:blipFill>
        <p:spPr>
          <a:xfrm>
            <a:off x="822960" y="1691640"/>
            <a:ext cx="4937760" cy="4206240"/>
          </a:xfrm>
          <a:prstGeom prst="rect">
            <a:avLst/>
          </a:prstGeom>
          <a:ln>
            <a:noFill/>
          </a:ln>
        </p:spPr>
      </p:pic>
      <p:sp>
        <p:nvSpPr>
          <p:cNvPr id="101" name="Rounded Rectangle 7"/>
          <p:cNvSpPr/>
          <p:nvPr/>
        </p:nvSpPr>
        <p:spPr>
          <a:xfrm>
            <a:off x="6126480" y="1600200"/>
            <a:ext cx="5333695" cy="43891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8"/>
          <p:cNvSpPr txBox="1"/>
          <p:nvPr/>
        </p:nvSpPr>
        <p:spPr>
          <a:xfrm>
            <a:off x="6355080" y="1783080"/>
            <a:ext cx="4892040" cy="4023360"/>
          </a:xfrm>
          <a:prstGeom prst="rect">
            <a:avLst/>
          </a:prstGeom>
          <a:noFill/>
        </p:spPr>
        <p:txBody>
          <a:bodyPr wrap="square" lIns="0" tIns="0" rIns="0" bIns="0">
            <a:spAutoFit/>
          </a:bodyPr>
          <a:lstStyle/>
          <a:p>
            <a:pPr>
              <a:spcAft>
                <a:spcPts val="1200"/>
              </a:spcAft>
            </a:pPr>
            <a:r>
              <a:rPr sz="1600" b="1">
                <a:solidFill>
                  <a:srgbClr val="C2410C"/>
                </a:solidFill>
                <a:latin typeface="Noto Sans CJK SC"/>
              </a:rPr>
              <a:t>关键实验发现与归因分析</a:t>
            </a:r>
            <a:endParaRPr sz="1600" b="1">
              <a:solidFill>
                <a:srgbClr val="C2410C"/>
              </a:solidFill>
              <a:latin typeface="Noto Sans CJK SC"/>
            </a:endParaRPr>
          </a:p>
          <a:p>
            <a:pPr>
              <a:spcAft>
                <a:spcPts val="800"/>
              </a:spcAft>
            </a:pPr>
            <a:r>
              <a:rPr sz="1200" b="1">
                <a:solidFill>
                  <a:srgbClr val="1C1917"/>
                </a:solidFill>
                <a:latin typeface="Noto Sans CJK SC"/>
              </a:rPr>
              <a:t>• 恒定 Token 压缩率： </a:t>
            </a:r>
            <a:r>
              <a:rPr sz="1150">
                <a:solidFill>
                  <a:srgbClr val="57534E"/>
                </a:solidFill>
                <a:latin typeface="Noto Sans CJK SC"/>
              </a:rPr>
              <a:t>SIS 架构全程实现 -87.5% 的极高压缩率，彻底切断上下文膨胀。</a:t>
            </a:r>
            <a:endParaRPr sz="1150">
              <a:solidFill>
                <a:srgbClr val="57534E"/>
              </a:solidFill>
              <a:latin typeface="Noto Sans CJK SC"/>
            </a:endParaRPr>
          </a:p>
          <a:p>
            <a:pPr>
              <a:spcAft>
                <a:spcPts val="800"/>
              </a:spcAft>
            </a:pPr>
            <a:r>
              <a:rPr sz="1200" b="1">
                <a:solidFill>
                  <a:srgbClr val="1C1917"/>
                </a:solidFill>
                <a:latin typeface="Noto Sans CJK SC"/>
              </a:rPr>
              <a:t>• 第 8 轮（临界起点）： </a:t>
            </a:r>
            <a:r>
              <a:rPr sz="1150">
                <a:solidFill>
                  <a:srgbClr val="57534E"/>
                </a:solidFill>
                <a:latin typeface="Noto Sans CJK SC"/>
              </a:rPr>
              <a:t>长上下文噪声开始累积，对照组开始出现候选工具混淆迹象。</a:t>
            </a:r>
            <a:endParaRPr sz="1150">
              <a:solidFill>
                <a:srgbClr val="57534E"/>
              </a:solidFill>
              <a:latin typeface="Noto Sans CJK SC"/>
            </a:endParaRPr>
          </a:p>
          <a:p>
            <a:pPr>
              <a:spcAft>
                <a:spcPts val="800"/>
              </a:spcAft>
            </a:pPr>
            <a:r>
              <a:rPr sz="1200" b="1">
                <a:solidFill>
                  <a:srgbClr val="C2410C"/>
                </a:solidFill>
                <a:latin typeface="Noto Sans CJK SC"/>
              </a:rPr>
              <a:t>• 第 10 轮（质变临界点）： </a:t>
            </a:r>
            <a:r>
              <a:rPr sz="1150" b="1">
                <a:solidFill>
                  <a:srgbClr val="C2410C"/>
                </a:solidFill>
                <a:latin typeface="Noto Sans CJK SC"/>
              </a:rPr>
              <a:t>严重注意力劫持！对照组因前序差旅干扰误调天气工具，错误率陡增至 66.7% ~ 100%；而 SIS 稳居 0.0% 精准命中邮件网关。</a:t>
            </a:r>
            <a:endParaRPr sz="1150" b="1">
              <a:solidFill>
                <a:srgbClr val="C2410C"/>
              </a:solidFill>
              <a:latin typeface="Noto Sans CJK SC"/>
            </a:endParaRPr>
          </a:p>
          <a:p>
            <a:pPr>
              <a:spcAft>
                <a:spcPts val="800"/>
              </a:spcAft>
            </a:pPr>
            <a:r>
              <a:rPr sz="1200" b="1">
                <a:solidFill>
                  <a:srgbClr val="1C1917"/>
                </a:solidFill>
                <a:latin typeface="Noto Sans CJK SC"/>
              </a:rPr>
              <a:t>• 第 20 轮（超长深度）： </a:t>
            </a:r>
            <a:r>
              <a:rPr sz="1150">
                <a:solidFill>
                  <a:srgbClr val="57534E"/>
                </a:solidFill>
                <a:latin typeface="Noto Sans CJK SC"/>
              </a:rPr>
              <a:t>对照组因携带 79 声明推理耗时飙升至 6856 ms；SIS 保持 1137 ms 毫秒级极速响应。</a:t>
            </a:r>
            <a:endParaRPr sz="1150">
              <a:solidFill>
                <a:srgbClr val="57534E"/>
              </a:solidFill>
              <a:latin typeface="Noto Sans CJK SC"/>
            </a:endParaRPr>
          </a:p>
        </p:txBody>
      </p:sp>
      <p:sp>
        <p:nvSpPr>
          <p:cNvPr id="103" name="Rectangle 9"/>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105" name="TextBox 11"/>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15 / 18 页</a:t>
            </a:r>
            <a:endParaRPr sz="1050" b="1">
              <a:solidFill>
                <a:srgbClr val="78716C"/>
              </a:solidFill>
              <a:latin typeface="Noto Sans CJK S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7"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07 · 系统定位与差异化优势</a:t>
            </a:r>
            <a:endParaRPr sz="1150" b="1">
              <a:solidFill>
                <a:srgbClr val="C2410C"/>
              </a:solidFill>
              <a:latin typeface="Noto Sans CJK SC"/>
            </a:endParaRPr>
          </a:p>
        </p:txBody>
      </p:sp>
      <p:sp>
        <p:nvSpPr>
          <p:cNvPr id="109"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系统核心技术定位与相对竞品的显著差异化壁垒</a:t>
            </a:r>
            <a:endParaRPr sz="2100" b="1">
              <a:solidFill>
                <a:srgbClr val="1C1917"/>
              </a:solidFill>
              <a:latin typeface="Noto Sans CJK SC"/>
            </a:endParaRPr>
          </a:p>
        </p:txBody>
      </p:sp>
      <p:sp>
        <p:nvSpPr>
          <p:cNvPr id="110"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5"/>
          <p:cNvSpPr/>
          <p:nvPr/>
        </p:nvSpPr>
        <p:spPr>
          <a:xfrm>
            <a:off x="731520" y="1600200"/>
            <a:ext cx="5120640" cy="43891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6"/>
          <p:cNvSpPr txBox="1"/>
          <p:nvPr/>
        </p:nvSpPr>
        <p:spPr>
          <a:xfrm>
            <a:off x="960120" y="1828800"/>
            <a:ext cx="4663440" cy="3931920"/>
          </a:xfrm>
          <a:prstGeom prst="rect">
            <a:avLst/>
          </a:prstGeom>
          <a:noFill/>
        </p:spPr>
        <p:txBody>
          <a:bodyPr wrap="square" lIns="0" tIns="0" rIns="0" bIns="0">
            <a:spAutoFit/>
          </a:bodyPr>
          <a:lstStyle/>
          <a:p>
            <a:pPr>
              <a:spcAft>
                <a:spcPts val="1600"/>
              </a:spcAft>
            </a:pPr>
            <a:r>
              <a:rPr sz="1600" b="1">
                <a:solidFill>
                  <a:srgbClr val="C2410C"/>
                </a:solidFill>
                <a:latin typeface="Noto Sans CJK SC"/>
              </a:rPr>
              <a:t>相对竞品的技术突破点</a:t>
            </a:r>
            <a:endParaRPr sz="1600" b="1">
              <a:solidFill>
                <a:srgbClr val="C2410C"/>
              </a:solidFill>
              <a:latin typeface="Noto Sans CJK SC"/>
            </a:endParaRPr>
          </a:p>
          <a:p>
            <a:pPr>
              <a:spcAft>
                <a:spcPts val="1200"/>
              </a:spcAft>
            </a:pPr>
            <a:r>
              <a:rPr sz="1200" b="1">
                <a:solidFill>
                  <a:srgbClr val="C2410C"/>
                </a:solidFill>
                <a:latin typeface="Noto Sans CJK SC"/>
              </a:rPr>
              <a:t>• 超越 Custom GPT： </a:t>
            </a:r>
            <a:r>
              <a:rPr sz="1200">
                <a:solidFill>
                  <a:srgbClr val="57534E"/>
                </a:solidFill>
                <a:latin typeface="Noto Sans CJK SC"/>
              </a:rPr>
              <a:t>从“人工目录查阅”升维到“大模型自主语义分簇与动态调度”；</a:t>
            </a:r>
            <a:endParaRPr sz="1200">
              <a:solidFill>
                <a:srgbClr val="57534E"/>
              </a:solidFill>
              <a:latin typeface="Noto Sans CJK SC"/>
            </a:endParaRPr>
          </a:p>
          <a:p>
            <a:pPr>
              <a:spcAft>
                <a:spcPts val="1200"/>
              </a:spcAft>
            </a:pPr>
            <a:r>
              <a:rPr sz="1200" b="1">
                <a:solidFill>
                  <a:srgbClr val="C2410C"/>
                </a:solidFill>
                <a:latin typeface="Noto Sans CJK SC"/>
              </a:rPr>
              <a:t>• 超越 Claude Skills： </a:t>
            </a:r>
            <a:r>
              <a:rPr sz="1200">
                <a:solidFill>
                  <a:srgbClr val="57534E"/>
                </a:solidFill>
                <a:latin typeface="Noto Sans CJK SC"/>
              </a:rPr>
              <a:t>彻底解决“数千技能下元数据撑爆 System Prompt”的死穴；</a:t>
            </a:r>
            <a:endParaRPr sz="1200">
              <a:solidFill>
                <a:srgbClr val="57534E"/>
              </a:solidFill>
              <a:latin typeface="Noto Sans CJK SC"/>
            </a:endParaRPr>
          </a:p>
          <a:p>
            <a:pPr>
              <a:spcAft>
                <a:spcPts val="1200"/>
              </a:spcAft>
            </a:pPr>
            <a:r>
              <a:rPr sz="1200" b="1">
                <a:solidFill>
                  <a:srgbClr val="C2410C"/>
                </a:solidFill>
                <a:latin typeface="Noto Sans CJK SC"/>
              </a:rPr>
              <a:t>• 超越 Coze 扣子： </a:t>
            </a:r>
            <a:r>
              <a:rPr sz="1200">
                <a:solidFill>
                  <a:srgbClr val="57534E"/>
                </a:solidFill>
                <a:latin typeface="Noto Sans CJK SC"/>
              </a:rPr>
              <a:t>业界首创“API 模式漂移反向溯源自愈机制”与“防碰撞排他门禁”。</a:t>
            </a:r>
            <a:endParaRPr sz="1200">
              <a:solidFill>
                <a:srgbClr val="57534E"/>
              </a:solidFill>
              <a:latin typeface="Noto Sans CJK SC"/>
            </a:endParaRPr>
          </a:p>
        </p:txBody>
      </p:sp>
      <p:sp>
        <p:nvSpPr>
          <p:cNvPr id="113" name="Rounded Rectangle 7"/>
          <p:cNvSpPr/>
          <p:nvPr/>
        </p:nvSpPr>
        <p:spPr>
          <a:xfrm>
            <a:off x="6126480" y="1600200"/>
            <a:ext cx="5333695" cy="438912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8"/>
          <p:cNvSpPr txBox="1"/>
          <p:nvPr/>
        </p:nvSpPr>
        <p:spPr>
          <a:xfrm>
            <a:off x="6355080" y="1828800"/>
            <a:ext cx="4876495" cy="3931920"/>
          </a:xfrm>
          <a:prstGeom prst="rect">
            <a:avLst/>
          </a:prstGeom>
          <a:noFill/>
        </p:spPr>
        <p:txBody>
          <a:bodyPr wrap="square" lIns="0" tIns="0" rIns="0" bIns="0">
            <a:spAutoFit/>
          </a:bodyPr>
          <a:lstStyle/>
          <a:p>
            <a:pPr>
              <a:spcAft>
                <a:spcPts val="1400"/>
              </a:spcAft>
            </a:pPr>
            <a:r>
              <a:rPr sz="1600" b="1">
                <a:solidFill>
                  <a:srgbClr val="C2410C"/>
                </a:solidFill>
                <a:latin typeface="Noto Sans CJK SC"/>
              </a:rPr>
              <a:t>系统设计准则与定位基石</a:t>
            </a:r>
            <a:endParaRPr sz="1600" b="1">
              <a:solidFill>
                <a:srgbClr val="C2410C"/>
              </a:solidFill>
              <a:latin typeface="Noto Sans CJK SC"/>
            </a:endParaRPr>
          </a:p>
          <a:p>
            <a:pPr>
              <a:spcAft>
                <a:spcPts val="2000"/>
              </a:spcAft>
            </a:pPr>
            <a:r>
              <a:rPr sz="1250" b="1">
                <a:solidFill>
                  <a:srgbClr val="1C1917"/>
                </a:solidFill>
                <a:latin typeface="Noto Sans CJK SC"/>
              </a:rPr>
              <a:t>目标：构建面向大规模智能体（Agent）的生产级技能治理基础设施</a:t>
            </a:r>
            <a:endParaRPr sz="1250" b="1">
              <a:solidFill>
                <a:srgbClr val="1C1917"/>
              </a:solidFill>
              <a:latin typeface="Noto Sans CJK SC"/>
            </a:endParaRPr>
          </a:p>
          <a:p>
            <a:pPr>
              <a:spcAft>
                <a:spcPts val="1000"/>
              </a:spcAft>
            </a:pPr>
            <a:r>
              <a:rPr sz="1200" b="1">
                <a:solidFill>
                  <a:srgbClr val="C2410C"/>
                </a:solidFill>
                <a:latin typeface="Noto Sans CJK SC"/>
              </a:rPr>
              <a:t>• 精准召回准则： </a:t>
            </a:r>
            <a:r>
              <a:rPr sz="1200">
                <a:solidFill>
                  <a:srgbClr val="57534E"/>
                </a:solidFill>
                <a:latin typeface="Noto Sans CJK SC"/>
              </a:rPr>
              <a:t>设立防碰撞排他门禁与双层微检索机制，从根源杜绝语义踩踏；</a:t>
            </a:r>
            <a:endParaRPr sz="1200">
              <a:solidFill>
                <a:srgbClr val="57534E"/>
              </a:solidFill>
              <a:latin typeface="Noto Sans CJK SC"/>
            </a:endParaRPr>
          </a:p>
          <a:p>
            <a:pPr>
              <a:spcAft>
                <a:spcPts val="1000"/>
              </a:spcAft>
            </a:pPr>
            <a:r>
              <a:rPr sz="1200" b="1">
                <a:solidFill>
                  <a:srgbClr val="C2410C"/>
                </a:solidFill>
                <a:latin typeface="Noto Sans CJK SC"/>
              </a:rPr>
              <a:t>• 长程稳定准则： </a:t>
            </a:r>
            <a:r>
              <a:rPr sz="1200">
                <a:solidFill>
                  <a:srgbClr val="57534E"/>
                </a:solidFill>
                <a:latin typeface="Noto Sans CJK SC"/>
              </a:rPr>
              <a:t>实施 Top-4 裁剪沙箱与智能会话抢占，切断长上下文时序滞后；</a:t>
            </a:r>
            <a:endParaRPr sz="1200">
              <a:solidFill>
                <a:srgbClr val="57534E"/>
              </a:solidFill>
              <a:latin typeface="Noto Sans CJK SC"/>
            </a:endParaRPr>
          </a:p>
          <a:p>
            <a:pPr>
              <a:spcAft>
                <a:spcPts val="1000"/>
              </a:spcAft>
            </a:pPr>
            <a:r>
              <a:rPr sz="1200" b="1">
                <a:solidFill>
                  <a:srgbClr val="C2410C"/>
                </a:solidFill>
                <a:latin typeface="Noto Sans CJK SC"/>
              </a:rPr>
              <a:t>• 韧性自愈准则： </a:t>
            </a:r>
            <a:r>
              <a:rPr sz="1200">
                <a:solidFill>
                  <a:srgbClr val="57534E"/>
                </a:solidFill>
                <a:latin typeface="Noto Sans CJK SC"/>
              </a:rPr>
              <a:t>建立契约溯源指针与沙箱热补丁验证机制，实现接口失效自动恢复。</a:t>
            </a:r>
            <a:endParaRPr sz="1200">
              <a:solidFill>
                <a:srgbClr val="57534E"/>
              </a:solidFill>
              <a:latin typeface="Noto Sans CJK SC"/>
            </a:endParaRPr>
          </a:p>
        </p:txBody>
      </p:sp>
      <p:sp>
        <p:nvSpPr>
          <p:cNvPr id="115" name="Rectangle 9"/>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0"/>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117" name="TextBox 11"/>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16 / 18 页</a:t>
            </a:r>
            <a:endParaRPr sz="1050" b="1">
              <a:solidFill>
                <a:srgbClr val="78716C"/>
              </a:solidFill>
              <a:latin typeface="Noto Sans CJK S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19"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08 · 总结与答辩致谢</a:t>
            </a:r>
            <a:endParaRPr sz="1150" b="1">
              <a:solidFill>
                <a:srgbClr val="C2410C"/>
              </a:solidFill>
              <a:latin typeface="Noto Sans CJK SC"/>
            </a:endParaRPr>
          </a:p>
        </p:txBody>
      </p:sp>
      <p:sp>
        <p:nvSpPr>
          <p:cNvPr id="121"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总结：以索引促精准，以治理筑基石</a:t>
            </a:r>
            <a:endParaRPr sz="2100" b="1">
              <a:solidFill>
                <a:srgbClr val="1C1917"/>
              </a:solidFill>
              <a:latin typeface="Noto Sans CJK SC"/>
            </a:endParaRPr>
          </a:p>
        </p:txBody>
      </p:sp>
      <p:sp>
        <p:nvSpPr>
          <p:cNvPr id="122"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5"/>
          <p:cNvSpPr/>
          <p:nvPr/>
        </p:nvSpPr>
        <p:spPr>
          <a:xfrm>
            <a:off x="731520" y="1691640"/>
            <a:ext cx="3383280" cy="310896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6"/>
          <p:cNvSpPr txBox="1"/>
          <p:nvPr/>
        </p:nvSpPr>
        <p:spPr>
          <a:xfrm>
            <a:off x="932688" y="1965960"/>
            <a:ext cx="2971800" cy="2560320"/>
          </a:xfrm>
          <a:prstGeom prst="rect">
            <a:avLst/>
          </a:prstGeom>
          <a:noFill/>
        </p:spPr>
        <p:txBody>
          <a:bodyPr wrap="square" lIns="0" tIns="0" rIns="0" bIns="0">
            <a:spAutoFit/>
          </a:bodyPr>
          <a:lstStyle/>
          <a:p>
            <a:pPr>
              <a:spcAft>
                <a:spcPts val="1400"/>
              </a:spcAft>
            </a:pPr>
            <a:r>
              <a:rPr sz="1600" b="1">
                <a:solidFill>
                  <a:srgbClr val="C2410C"/>
                </a:solidFill>
                <a:latin typeface="Noto Sans CJK SC"/>
              </a:rPr>
              <a:t>1. 理论剖析深入</a:t>
            </a:r>
            <a:endParaRPr sz="1600" b="1">
              <a:solidFill>
                <a:srgbClr val="C2410C"/>
              </a:solidFill>
              <a:latin typeface="Noto Sans CJK SC"/>
            </a:endParaRPr>
          </a:p>
          <a:p>
            <a:pPr>
              <a:spcAft>
                <a:spcPts val="400"/>
              </a:spcAft>
            </a:pPr>
            <a:r>
              <a:rPr sz="1250">
                <a:solidFill>
                  <a:srgbClr val="57534E"/>
                </a:solidFill>
                <a:latin typeface="Noto Sans CJK SC"/>
              </a:rPr>
              <a:t>深度解构行业主流产品架构盲区，精确定位长对话滞后、语义踩踏与模式漂移三大根因，建立问题到需求的严密映射。</a:t>
            </a:r>
            <a:endParaRPr sz="1250">
              <a:solidFill>
                <a:srgbClr val="57534E"/>
              </a:solidFill>
              <a:latin typeface="Noto Sans CJK SC"/>
            </a:endParaRPr>
          </a:p>
        </p:txBody>
      </p:sp>
      <p:sp>
        <p:nvSpPr>
          <p:cNvPr id="125" name="Rounded Rectangle 7"/>
          <p:cNvSpPr/>
          <p:nvPr/>
        </p:nvSpPr>
        <p:spPr>
          <a:xfrm>
            <a:off x="4403750" y="1691640"/>
            <a:ext cx="3383280" cy="310896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8"/>
          <p:cNvSpPr txBox="1"/>
          <p:nvPr/>
        </p:nvSpPr>
        <p:spPr>
          <a:xfrm>
            <a:off x="4604918" y="1965960"/>
            <a:ext cx="2971800" cy="2560320"/>
          </a:xfrm>
          <a:prstGeom prst="rect">
            <a:avLst/>
          </a:prstGeom>
          <a:noFill/>
        </p:spPr>
        <p:txBody>
          <a:bodyPr wrap="square" lIns="0" tIns="0" rIns="0" bIns="0">
            <a:spAutoFit/>
          </a:bodyPr>
          <a:lstStyle/>
          <a:p>
            <a:pPr>
              <a:spcAft>
                <a:spcPts val="1400"/>
              </a:spcAft>
            </a:pPr>
            <a:r>
              <a:rPr sz="1600" b="1">
                <a:solidFill>
                  <a:srgbClr val="C2410C"/>
                </a:solidFill>
                <a:latin typeface="Noto Sans CJK SC"/>
              </a:rPr>
              <a:t>2. 实证数据扎实</a:t>
            </a:r>
            <a:endParaRPr sz="1600" b="1">
              <a:solidFill>
                <a:srgbClr val="C2410C"/>
              </a:solidFill>
              <a:latin typeface="Noto Sans CJK SC"/>
            </a:endParaRPr>
          </a:p>
          <a:p>
            <a:pPr>
              <a:spcAft>
                <a:spcPts val="400"/>
              </a:spcAft>
            </a:pPr>
            <a:r>
              <a:rPr sz="1250">
                <a:solidFill>
                  <a:srgbClr val="57534E"/>
                </a:solidFill>
                <a:latin typeface="Noto Sans CJK SC"/>
              </a:rPr>
              <a:t>基于 GAIA 真实业务任务开展 1~20 轮深度对照实验，折线图证实临界点，达成 -87.5% Token 压缩与 0% 错误率。</a:t>
            </a:r>
            <a:endParaRPr sz="1250">
              <a:solidFill>
                <a:srgbClr val="57534E"/>
              </a:solidFill>
              <a:latin typeface="Noto Sans CJK SC"/>
            </a:endParaRPr>
          </a:p>
        </p:txBody>
      </p:sp>
      <p:sp>
        <p:nvSpPr>
          <p:cNvPr id="127" name="Rounded Rectangle 9"/>
          <p:cNvSpPr/>
          <p:nvPr/>
        </p:nvSpPr>
        <p:spPr>
          <a:xfrm>
            <a:off x="8075980" y="1691640"/>
            <a:ext cx="3383280" cy="310896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0"/>
          <p:cNvSpPr txBox="1"/>
          <p:nvPr/>
        </p:nvSpPr>
        <p:spPr>
          <a:xfrm>
            <a:off x="8277148" y="1965960"/>
            <a:ext cx="2971800" cy="2560320"/>
          </a:xfrm>
          <a:prstGeom prst="rect">
            <a:avLst/>
          </a:prstGeom>
          <a:noFill/>
        </p:spPr>
        <p:txBody>
          <a:bodyPr wrap="square" lIns="0" tIns="0" rIns="0" bIns="0">
            <a:spAutoFit/>
          </a:bodyPr>
          <a:lstStyle/>
          <a:p>
            <a:pPr>
              <a:spcAft>
                <a:spcPts val="1400"/>
              </a:spcAft>
            </a:pPr>
            <a:r>
              <a:rPr sz="1600" b="1">
                <a:solidFill>
                  <a:srgbClr val="C2410C"/>
                </a:solidFill>
                <a:latin typeface="Noto Sans CJK SC"/>
              </a:rPr>
              <a:t>3. 工程闭环完备</a:t>
            </a:r>
            <a:endParaRPr sz="1600" b="1">
              <a:solidFill>
                <a:srgbClr val="C2410C"/>
              </a:solidFill>
              <a:latin typeface="Noto Sans CJK SC"/>
            </a:endParaRPr>
          </a:p>
          <a:p>
            <a:pPr>
              <a:spcAft>
                <a:spcPts val="400"/>
              </a:spcAft>
            </a:pPr>
            <a:r>
              <a:rPr sz="1250">
                <a:solidFill>
                  <a:srgbClr val="57534E"/>
                </a:solidFill>
                <a:latin typeface="Noto Sans CJK SC"/>
              </a:rPr>
              <a:t>研发并部署高可用 MVP-Agent 平台，实现健康检查、冲突消歧、压测实验与风险报告全流程开箱即用。</a:t>
            </a:r>
            <a:endParaRPr sz="1250">
              <a:solidFill>
                <a:srgbClr val="57534E"/>
              </a:solidFill>
              <a:latin typeface="Noto Sans CJK SC"/>
            </a:endParaRPr>
          </a:p>
        </p:txBody>
      </p:sp>
      <p:sp>
        <p:nvSpPr>
          <p:cNvPr id="129" name="Rounded Rectangle 11"/>
          <p:cNvSpPr/>
          <p:nvPr/>
        </p:nvSpPr>
        <p:spPr>
          <a:xfrm>
            <a:off x="731520" y="5029200"/>
            <a:ext cx="10728655" cy="960120"/>
          </a:xfrm>
          <a:prstGeom prst="roundRect">
            <a:avLst>
              <a:gd name="adj" fmla="val 4000"/>
            </a:avLst>
          </a:prstGeom>
          <a:solidFill>
            <a:srgbClr val="FBEDE3"/>
          </a:solidFill>
          <a:ln w="12700">
            <a:solidFill>
              <a:srgbClr val="EBD9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
          <p:cNvSpPr txBox="1"/>
          <p:nvPr/>
        </p:nvSpPr>
        <p:spPr>
          <a:xfrm>
            <a:off x="960120" y="5138928"/>
            <a:ext cx="10271455" cy="777240"/>
          </a:xfrm>
          <a:prstGeom prst="rect">
            <a:avLst/>
          </a:prstGeom>
          <a:noFill/>
        </p:spPr>
        <p:txBody>
          <a:bodyPr wrap="square" lIns="0" tIns="0" rIns="0" bIns="0">
            <a:spAutoFit/>
          </a:bodyPr>
          <a:lstStyle/>
          <a:p>
            <a:pPr algn="ctr">
              <a:spcAft>
                <a:spcPts val="600"/>
              </a:spcAft>
            </a:pPr>
            <a:r>
              <a:rPr sz="1700" b="1">
                <a:solidFill>
                  <a:srgbClr val="C2410C"/>
                </a:solidFill>
                <a:latin typeface="Noto Sans CJK SC"/>
              </a:rPr>
              <a:t>感谢各位评审专家的审阅与指导！恳请各位老师批评指正！</a:t>
            </a:r>
            <a:endParaRPr sz="1700" b="1">
              <a:solidFill>
                <a:srgbClr val="C2410C"/>
              </a:solidFill>
              <a:latin typeface="Noto Sans CJK SC"/>
            </a:endParaRPr>
          </a:p>
          <a:p>
            <a:pPr algn="ctr"/>
            <a:r>
              <a:rPr sz="1200">
                <a:solidFill>
                  <a:srgbClr val="78716C"/>
                </a:solidFill>
                <a:latin typeface="Noto Sans CJK SC"/>
              </a:rPr>
              <a:t>汇报人：刘璨玮  |  项目成员：刘璨玮、冯维一  |  赛题七 高级挑战</a:t>
            </a:r>
            <a:endParaRPr sz="1200">
              <a:solidFill>
                <a:srgbClr val="78716C"/>
              </a:solidFill>
              <a:latin typeface="Noto Sans CJK SC"/>
            </a:endParaRPr>
          </a:p>
        </p:txBody>
      </p:sp>
      <p:sp>
        <p:nvSpPr>
          <p:cNvPr id="131" name="Rectangle 13"/>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4"/>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133" name="TextBox 15"/>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17 / 18 页</a:t>
            </a:r>
            <a:endParaRPr sz="1050" b="1">
              <a:solidFill>
                <a:srgbClr val="78716C"/>
              </a:solidFill>
              <a:latin typeface="Noto Sans CJK S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34" name=""/>
        <p:cNvGrpSpPr/>
        <p:nvPr/>
      </p:nvGrpSpPr>
      <p:grpSpPr>
        <a:xfrm>
          <a:off x="0" y="0"/>
          <a:ext cx="0" cy="0"/>
          <a:chOff x="0" y="0"/>
          <a:chExt cx="0" cy="0"/>
        </a:xfrm>
      </p:grpSpPr>
      <p:sp>
        <p:nvSpPr>
          <p:cNvPr id="135" name="Rectangle 1"/>
          <p:cNvSpPr/>
          <p:nvPr/>
        </p:nvSpPr>
        <p:spPr>
          <a:xfrm>
            <a:off x="0" y="0"/>
            <a:ext cx="12191695" cy="6858000"/>
          </a:xfrm>
          <a:prstGeom prst="rect">
            <a:avLst/>
          </a:prstGeom>
          <a:solidFill>
            <a:srgbClr val="FB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2"/>
          <p:cNvSpPr txBox="1"/>
          <p:nvPr/>
        </p:nvSpPr>
        <p:spPr>
          <a:xfrm>
            <a:off x="731520" y="365760"/>
            <a:ext cx="10728655" cy="256032"/>
          </a:xfrm>
          <a:prstGeom prst="rect">
            <a:avLst/>
          </a:prstGeom>
          <a:noFill/>
        </p:spPr>
        <p:txBody>
          <a:bodyPr wrap="square" lIns="0" tIns="0" rIns="0" bIns="0">
            <a:spAutoFit/>
          </a:bodyPr>
          <a:lstStyle/>
          <a:p>
            <a:pPr algn="l"/>
            <a:r>
              <a:rPr sz="1150" b="1">
                <a:solidFill>
                  <a:srgbClr val="C2410C"/>
                </a:solidFill>
                <a:latin typeface="Noto Sans CJK SC"/>
              </a:rPr>
              <a:t>附录 · 答辩问答预案 (Q&amp;A)</a:t>
            </a:r>
            <a:endParaRPr sz="1150" b="1">
              <a:solidFill>
                <a:srgbClr val="C2410C"/>
              </a:solidFill>
              <a:latin typeface="Noto Sans CJK SC"/>
            </a:endParaRPr>
          </a:p>
        </p:txBody>
      </p:sp>
      <p:sp>
        <p:nvSpPr>
          <p:cNvPr id="137" name="TextBox 3"/>
          <p:cNvSpPr txBox="1"/>
          <p:nvPr/>
        </p:nvSpPr>
        <p:spPr>
          <a:xfrm>
            <a:off x="731520" y="621792"/>
            <a:ext cx="10728655" cy="640080"/>
          </a:xfrm>
          <a:prstGeom prst="rect">
            <a:avLst/>
          </a:prstGeom>
          <a:noFill/>
        </p:spPr>
        <p:txBody>
          <a:bodyPr wrap="square" lIns="0" tIns="0" rIns="0" bIns="0">
            <a:spAutoFit/>
          </a:bodyPr>
          <a:lstStyle/>
          <a:p>
            <a:pPr algn="l"/>
            <a:r>
              <a:rPr sz="2100" b="1">
                <a:solidFill>
                  <a:srgbClr val="1C1917"/>
                </a:solidFill>
                <a:latin typeface="Noto Sans CJK SC"/>
              </a:rPr>
              <a:t>答辩附录：评审专家高频提问应对策略与深度预案</a:t>
            </a:r>
            <a:endParaRPr sz="2100" b="1">
              <a:solidFill>
                <a:srgbClr val="1C1917"/>
              </a:solidFill>
              <a:latin typeface="Noto Sans CJK SC"/>
            </a:endParaRPr>
          </a:p>
        </p:txBody>
      </p:sp>
      <p:sp>
        <p:nvSpPr>
          <p:cNvPr id="138" name="Rectangle 4"/>
          <p:cNvSpPr/>
          <p:nvPr/>
        </p:nvSpPr>
        <p:spPr>
          <a:xfrm>
            <a:off x="731520" y="1353312"/>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ounded Rectangle 5"/>
          <p:cNvSpPr/>
          <p:nvPr/>
        </p:nvSpPr>
        <p:spPr>
          <a:xfrm>
            <a:off x="731520" y="1600200"/>
            <a:ext cx="5120640" cy="214884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6"/>
          <p:cNvSpPr txBox="1"/>
          <p:nvPr/>
        </p:nvSpPr>
        <p:spPr>
          <a:xfrm>
            <a:off x="914400" y="1737360"/>
            <a:ext cx="4800600" cy="1874520"/>
          </a:xfrm>
          <a:prstGeom prst="rect">
            <a:avLst/>
          </a:prstGeom>
          <a:noFill/>
        </p:spPr>
        <p:txBody>
          <a:bodyPr wrap="square" lIns="0" tIns="0" rIns="0" bIns="0">
            <a:spAutoFit/>
          </a:bodyPr>
          <a:lstStyle/>
          <a:p>
            <a:pPr>
              <a:spcAft>
                <a:spcPts val="600"/>
              </a:spcAft>
            </a:pPr>
            <a:r>
              <a:rPr sz="1300" b="1">
                <a:solidFill>
                  <a:srgbClr val="C2410C"/>
                </a:solidFill>
                <a:latin typeface="Noto Sans CJK SC"/>
              </a:rPr>
              <a:t>Q1: Top-4 裁剪会导致冷门技能饿死吗？</a:t>
            </a:r>
            <a:endParaRPr sz="1300" b="1">
              <a:solidFill>
                <a:srgbClr val="C2410C"/>
              </a:solidFill>
              <a:latin typeface="Noto Sans CJK SC"/>
            </a:endParaRPr>
          </a:p>
          <a:p>
            <a:r>
              <a:rPr sz="1150" b="1">
                <a:solidFill>
                  <a:srgbClr val="1C1917"/>
                </a:solidFill>
                <a:latin typeface="Noto Sans CJK SC"/>
              </a:rPr>
              <a:t>答辩策略：</a:t>
            </a:r>
            <a:r>
              <a:rPr sz="1150">
                <a:solidFill>
                  <a:srgbClr val="57534E"/>
                </a:solidFill>
                <a:latin typeface="Noto Sans CJK SC"/>
              </a:rPr>
              <a:t>我们在调度设计中专门设立了“10% 冷门探索配额”，强制把探测机会留给新技能和长尾技能；且微名片粗筛结合语义标签，只要垂直意图命中即可公平召回，不会发生马太效应。</a:t>
            </a:r>
            <a:endParaRPr sz="1150">
              <a:solidFill>
                <a:srgbClr val="57534E"/>
              </a:solidFill>
              <a:latin typeface="Noto Sans CJK SC"/>
            </a:endParaRPr>
          </a:p>
        </p:txBody>
      </p:sp>
      <p:sp>
        <p:nvSpPr>
          <p:cNvPr id="141" name="Rounded Rectangle 7"/>
          <p:cNvSpPr/>
          <p:nvPr/>
        </p:nvSpPr>
        <p:spPr>
          <a:xfrm>
            <a:off x="6126480" y="1600200"/>
            <a:ext cx="5333695" cy="214884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8"/>
          <p:cNvSpPr txBox="1"/>
          <p:nvPr/>
        </p:nvSpPr>
        <p:spPr>
          <a:xfrm>
            <a:off x="6309360" y="1737360"/>
            <a:ext cx="5013655" cy="1874520"/>
          </a:xfrm>
          <a:prstGeom prst="rect">
            <a:avLst/>
          </a:prstGeom>
          <a:noFill/>
        </p:spPr>
        <p:txBody>
          <a:bodyPr wrap="square" lIns="0" tIns="0" rIns="0" bIns="0">
            <a:spAutoFit/>
          </a:bodyPr>
          <a:lstStyle/>
          <a:p>
            <a:pPr>
              <a:spcAft>
                <a:spcPts val="600"/>
              </a:spcAft>
            </a:pPr>
            <a:r>
              <a:rPr sz="1300" b="1">
                <a:solidFill>
                  <a:srgbClr val="C2410C"/>
                </a:solidFill>
                <a:latin typeface="Noto Sans CJK SC"/>
              </a:rPr>
              <a:t>Q2: 接口漂移反向溯源自愈会不会拖慢速度？</a:t>
            </a:r>
            <a:endParaRPr sz="1300" b="1">
              <a:solidFill>
                <a:srgbClr val="C2410C"/>
              </a:solidFill>
              <a:latin typeface="Noto Sans CJK SC"/>
            </a:endParaRPr>
          </a:p>
          <a:p>
            <a:r>
              <a:rPr sz="1150" b="1">
                <a:solidFill>
                  <a:srgbClr val="1C1917"/>
                </a:solidFill>
                <a:latin typeface="Noto Sans CJK SC"/>
              </a:rPr>
              <a:t>答辩策略：</a:t>
            </a:r>
            <a:r>
              <a:rPr sz="1150">
                <a:solidFill>
                  <a:srgbClr val="57534E"/>
                </a:solidFill>
                <a:latin typeface="Noto Sans CJK SC"/>
              </a:rPr>
              <a:t>采用“双轨处理”：字段微调在当前轮次内秒级自愈；大版本文档抓取则先响应用户，后台异步完成溯源；且内嵌置信度熔断，遇到架构级破坏重构直接提单告警，不盲目瞎猜。</a:t>
            </a:r>
            <a:endParaRPr sz="1150">
              <a:solidFill>
                <a:srgbClr val="57534E"/>
              </a:solidFill>
              <a:latin typeface="Noto Sans CJK SC"/>
            </a:endParaRPr>
          </a:p>
        </p:txBody>
      </p:sp>
      <p:sp>
        <p:nvSpPr>
          <p:cNvPr id="143" name="Rounded Rectangle 9"/>
          <p:cNvSpPr/>
          <p:nvPr/>
        </p:nvSpPr>
        <p:spPr>
          <a:xfrm>
            <a:off x="731520" y="3931920"/>
            <a:ext cx="5120640" cy="214884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0"/>
          <p:cNvSpPr txBox="1"/>
          <p:nvPr/>
        </p:nvSpPr>
        <p:spPr>
          <a:xfrm>
            <a:off x="914400" y="4069080"/>
            <a:ext cx="4800600" cy="1874520"/>
          </a:xfrm>
          <a:prstGeom prst="rect">
            <a:avLst/>
          </a:prstGeom>
          <a:noFill/>
        </p:spPr>
        <p:txBody>
          <a:bodyPr wrap="square" lIns="0" tIns="0" rIns="0" bIns="0">
            <a:spAutoFit/>
          </a:bodyPr>
          <a:lstStyle/>
          <a:p>
            <a:pPr>
              <a:spcAft>
                <a:spcPts val="600"/>
              </a:spcAft>
            </a:pPr>
            <a:r>
              <a:rPr sz="1300" b="1">
                <a:solidFill>
                  <a:srgbClr val="C2410C"/>
                </a:solidFill>
                <a:latin typeface="Noto Sans CJK SC"/>
              </a:rPr>
              <a:t>Q3: 人机协同治理（HITL）会不会运维太重？</a:t>
            </a:r>
            <a:endParaRPr sz="1300" b="1">
              <a:solidFill>
                <a:srgbClr val="C2410C"/>
              </a:solidFill>
              <a:latin typeface="Noto Sans CJK SC"/>
            </a:endParaRPr>
          </a:p>
          <a:p>
            <a:r>
              <a:rPr sz="1150" b="1">
                <a:solidFill>
                  <a:srgbClr val="1C1917"/>
                </a:solidFill>
                <a:latin typeface="Noto Sans CJK SC"/>
              </a:rPr>
              <a:t>答辩策略：</a:t>
            </a:r>
            <a:r>
              <a:rPr sz="1150">
                <a:solidFill>
                  <a:srgbClr val="57534E"/>
                </a:solidFill>
                <a:latin typeface="Noto Sans CJK SC"/>
              </a:rPr>
              <a:t>系统实行“三级报错分级 + Meta-Skill 辅助”，AI 自动完成排查和建议生成，人工仅需在关键节点一键确认，运维成本极低。</a:t>
            </a:r>
            <a:endParaRPr sz="1150">
              <a:solidFill>
                <a:srgbClr val="57534E"/>
              </a:solidFill>
              <a:latin typeface="Noto Sans CJK SC"/>
            </a:endParaRPr>
          </a:p>
        </p:txBody>
      </p:sp>
      <p:sp>
        <p:nvSpPr>
          <p:cNvPr id="145" name="Rounded Rectangle 11"/>
          <p:cNvSpPr/>
          <p:nvPr/>
        </p:nvSpPr>
        <p:spPr>
          <a:xfrm>
            <a:off x="6126480" y="3931920"/>
            <a:ext cx="5333695" cy="2148840"/>
          </a:xfrm>
          <a:prstGeom prst="roundRect">
            <a:avLst>
              <a:gd name="adj" fmla="val 4000"/>
            </a:avLst>
          </a:prstGeom>
          <a:solidFill>
            <a:srgbClr val="FFFFFF"/>
          </a:solidFill>
          <a:ln w="12700">
            <a:solidFill>
              <a:srgbClr val="E7E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2"/>
          <p:cNvSpPr txBox="1"/>
          <p:nvPr/>
        </p:nvSpPr>
        <p:spPr>
          <a:xfrm>
            <a:off x="6309360" y="4069080"/>
            <a:ext cx="5013655" cy="1874520"/>
          </a:xfrm>
          <a:prstGeom prst="rect">
            <a:avLst/>
          </a:prstGeom>
          <a:noFill/>
        </p:spPr>
        <p:txBody>
          <a:bodyPr wrap="square" lIns="0" tIns="0" rIns="0" bIns="0">
            <a:spAutoFit/>
          </a:bodyPr>
          <a:lstStyle/>
          <a:p>
            <a:pPr>
              <a:spcAft>
                <a:spcPts val="600"/>
              </a:spcAft>
            </a:pPr>
            <a:r>
              <a:rPr sz="1300" b="1">
                <a:solidFill>
                  <a:srgbClr val="C2410C"/>
                </a:solidFill>
                <a:latin typeface="Noto Sans CJK SC"/>
              </a:rPr>
              <a:t>Q4: 为什么第一版不做“自动修改元数据”？</a:t>
            </a:r>
            <a:endParaRPr sz="1300" b="1">
              <a:solidFill>
                <a:srgbClr val="C2410C"/>
              </a:solidFill>
              <a:latin typeface="Noto Sans CJK SC"/>
            </a:endParaRPr>
          </a:p>
          <a:p>
            <a:r>
              <a:rPr sz="1150" b="1">
                <a:solidFill>
                  <a:srgbClr val="1C1917"/>
                </a:solidFill>
                <a:latin typeface="Noto Sans CJK SC"/>
              </a:rPr>
              <a:t>答辩策略：</a:t>
            </a:r>
            <a:r>
              <a:rPr sz="1150">
                <a:solidFill>
                  <a:srgbClr val="57534E"/>
                </a:solidFill>
                <a:latin typeface="Noto Sans CJK SC"/>
              </a:rPr>
              <a:t>严格遵守 MoSCoW 原则。元数据修改关系到底层路由生命线，盲目全自动极易引发次生语义污染。坚持“AI诊断、人工确认”是最务实的工程防线。</a:t>
            </a:r>
            <a:endParaRPr sz="1150">
              <a:solidFill>
                <a:srgbClr val="57534E"/>
              </a:solidFill>
              <a:latin typeface="Noto Sans CJK SC"/>
            </a:endParaRPr>
          </a:p>
        </p:txBody>
      </p:sp>
      <p:sp>
        <p:nvSpPr>
          <p:cNvPr id="147" name="Rectangle 13"/>
          <p:cNvSpPr/>
          <p:nvPr/>
        </p:nvSpPr>
        <p:spPr>
          <a:xfrm>
            <a:off x="731520" y="6263640"/>
            <a:ext cx="10728655" cy="13716"/>
          </a:xfrm>
          <a:prstGeom prst="rect">
            <a:avLst/>
          </a:prstGeom>
          <a:solidFill>
            <a:srgbClr val="E7E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
          <p:cNvSpPr txBox="1"/>
          <p:nvPr/>
        </p:nvSpPr>
        <p:spPr>
          <a:xfrm>
            <a:off x="731520" y="6355080"/>
            <a:ext cx="7772400" cy="320040"/>
          </a:xfrm>
          <a:prstGeom prst="rect">
            <a:avLst/>
          </a:prstGeom>
          <a:noFill/>
        </p:spPr>
        <p:txBody>
          <a:bodyPr wrap="square" lIns="0" tIns="0" rIns="0" bIns="0">
            <a:spAutoFit/>
          </a:bodyPr>
          <a:lstStyle/>
          <a:p>
            <a:pPr algn="l"/>
            <a:r>
              <a:rPr sz="1050">
                <a:solidFill>
                  <a:srgbClr val="78716C"/>
                </a:solidFill>
                <a:latin typeface="Noto Sans CJK SC"/>
              </a:rPr>
              <a:t>面向大规模技能（Agent Skill）的管理系统 · 答辩汇报</a:t>
            </a:r>
            <a:endParaRPr sz="1050">
              <a:solidFill>
                <a:srgbClr val="78716C"/>
              </a:solidFill>
              <a:latin typeface="Noto Sans CJK SC"/>
            </a:endParaRPr>
          </a:p>
        </p:txBody>
      </p:sp>
      <p:sp>
        <p:nvSpPr>
          <p:cNvPr id="149" name="TextBox 15"/>
          <p:cNvSpPr txBox="1"/>
          <p:nvPr/>
        </p:nvSpPr>
        <p:spPr>
          <a:xfrm>
            <a:off x="8686800" y="6355080"/>
            <a:ext cx="2773375" cy="320040"/>
          </a:xfrm>
          <a:prstGeom prst="rect">
            <a:avLst/>
          </a:prstGeom>
          <a:noFill/>
        </p:spPr>
        <p:txBody>
          <a:bodyPr wrap="square" lIns="0" tIns="0" rIns="0" bIns="0">
            <a:spAutoFit/>
          </a:bodyPr>
          <a:lstStyle/>
          <a:p>
            <a:pPr algn="r"/>
            <a:r>
              <a:rPr sz="1050" b="1">
                <a:solidFill>
                  <a:srgbClr val="78716C"/>
                </a:solidFill>
                <a:latin typeface="Noto Sans CJK SC"/>
              </a:rPr>
              <a:t>第 18 / 18 页</a:t>
            </a:r>
            <a:endParaRPr sz="1050" b="1">
              <a:solidFill>
                <a:srgbClr val="78716C"/>
              </a:solidFill>
              <a:latin typeface="Noto Sans CJK SC"/>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7714</Words>
  <Application>WPS 演示</Application>
  <PresentationFormat/>
  <Paragraphs>461</Paragraphs>
  <Slides>18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宋体</vt:lpstr>
      <vt:lpstr>Wingdings</vt:lpstr>
      <vt:lpstr>Arial</vt:lpstr>
      <vt:lpstr>Noto Sans CJK SC</vt:lpstr>
      <vt:lpstr>Segoe Print</vt:lpstr>
      <vt:lpstr>Calibri</vt:lpstr>
      <vt:lpstr>微软雅黑</vt:lpstr>
      <vt:lpstr>Arial Unicode MS</vt:lpstr>
      <vt:lpstr>Noto Sans CJK SC</vt:lpstr>
      <vt:lpstr>Saturday Sans Regular</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一叶之秋</cp:lastModifiedBy>
  <cp:revision>5</cp:revision>
  <dcterms:created xsi:type="dcterms:W3CDTF">2026-10-14T08:46:00Z</dcterms:created>
  <dcterms:modified xsi:type="dcterms:W3CDTF">2026-10-14T09:59:51Z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01F4DEB982464CA08A5F57DA3352D2EA_12</vt:lpwstr>
  </property>
  <property fmtid="{D5CDD505-2E9C-101B-9397-08002B2CF9AE}" pid="3" name="KSOProductBuildVer">
    <vt:lpwstr>2052-12.1.0.28505</vt:lpwstr>
  </property>
</Properties>
</file>