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02"/>
        <p:guide pos="28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72600" y="0"/>
            <a:ext cx="2816352" cy="6858000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88390"/>
            <a:ext cx="7132320" cy="1417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大规模 Skill 场景下的</a:t>
            </a:r>
          </a:p>
          <a:p>
            <a:pPr>
              <a:spcAft>
                <a:spcPts val="700"/>
              </a:spcAft>
              <a:defRPr sz="3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问题与产品方案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83180"/>
            <a:ext cx="676656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CDDCF0"/>
                </a:solidFill>
                <a:latin typeface="微软雅黑" panose="020B0503020204020204" charset="-122"/>
              </a:defRPr>
            </a:pPr>
            <a:r>
              <a:t>面向检索效率、技能冲突与生命周期治理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407661"/>
            <a:ext cx="960120" cy="64008"/>
          </a:xfrm>
          <a:prstGeom prst="rect">
            <a:avLst/>
          </a:prstGeom>
          <a:solidFill>
            <a:srgbClr val="ED9D45"/>
          </a:solidFill>
          <a:ln>
            <a:solidFill>
              <a:srgbClr val="ED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81855"/>
            <a:ext cx="3138805" cy="62357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答辩汇报｜</a:t>
            </a:r>
            <a:r>
              <a:rPr lang="zh-CN"/>
              <a:t>汇报人：刘璨玮</a:t>
            </a:r>
            <a:r>
              <a:rPr lang="en-US" altLang="zh-CN"/>
              <a:t>  </a:t>
            </a:r>
            <a:endParaRPr lang="en-US" altLang="zh-CN"/>
          </a:p>
          <a:p>
            <a:pPr>
              <a:spcAft>
                <a:spcPts val="700"/>
              </a:spcAft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 altLang="zh-CN"/>
              <a:t>  		</a:t>
            </a:r>
            <a:r>
              <a:rPr lang="zh-CN" altLang="en-US"/>
              <a:t>项目成员：刘璨玮</a:t>
            </a:r>
            <a:r>
              <a:rPr lang="en-US" altLang="zh-CN"/>
              <a:t> </a:t>
            </a:r>
            <a:r>
              <a:rPr lang="zh-CN" altLang="en-US"/>
              <a:t>冯维</a:t>
            </a:r>
            <a:r>
              <a:rPr lang="zh-CN" altLang="en-US"/>
              <a:t>依</a:t>
            </a:r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07085" y="3281680"/>
            <a:ext cx="6028690" cy="71564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CDDCF0"/>
                </a:solidFill>
                <a:latin typeface="微软雅黑" panose="020B0503020204020204" charset="-122"/>
              </a:defRPr>
            </a:pPr>
            <a:r>
              <a:rPr sz="1800" b="1" i="1">
                <a:latin typeface="Arial" panose="020B0604020202020204" pitchFamily="34" charset="0"/>
                <a:cs typeface="Arial" panose="020B0604020202020204" pitchFamily="34" charset="0"/>
              </a:rPr>
              <a:t>核心构想：Skill Index + Human-in-the-loop Governance</a:t>
            </a:r>
            <a:endParaRPr sz="18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457200">
              <a:spcAft>
                <a:spcPts val="700"/>
              </a:spcAft>
              <a:defRPr sz="1100" b="0">
                <a:solidFill>
                  <a:srgbClr val="CDDCF0"/>
                </a:solidFill>
                <a:latin typeface="微软雅黑" panose="020B0503020204020204" charset="-122"/>
              </a:defRPr>
            </a:pPr>
            <a:r>
              <a:rPr lang="zh-CN" sz="1800" b="1" i="1">
                <a:latin typeface="Arial" panose="020B0604020202020204" pitchFamily="34" charset="0"/>
                <a:cs typeface="Arial" panose="020B0604020202020204" pitchFamily="34" charset="0"/>
              </a:rPr>
              <a:t>即</a:t>
            </a:r>
            <a:r>
              <a:rPr lang="en-US" altLang="zh-CN" sz="1800" b="1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sz="1800" b="1" i="1">
                <a:latin typeface="Arial" panose="020B0604020202020204" pitchFamily="34" charset="0"/>
                <a:cs typeface="Arial" panose="020B0604020202020204" pitchFamily="34" charset="0"/>
              </a:rPr>
              <a:t>技能索引</a:t>
            </a:r>
            <a:r>
              <a:rPr lang="en-US" altLang="zh-CN" sz="1800" b="1" i="1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zh-CN" altLang="en-US" sz="1800" b="1" i="1">
                <a:latin typeface="Arial" panose="020B0604020202020204" pitchFamily="34" charset="0"/>
                <a:cs typeface="Arial" panose="020B0604020202020204" pitchFamily="34" charset="0"/>
              </a:rPr>
              <a:t>人工参与的管理机制</a:t>
            </a:r>
            <a:endParaRPr lang="zh-CN" altLang="en-US" sz="1800" b="1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823960" y="1097280"/>
            <a:ext cx="2377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88552" y="1252728"/>
            <a:ext cx="347472" cy="146304"/>
          </a:xfrm>
          <a:prstGeom prst="round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64040" y="1252728"/>
            <a:ext cx="1508760" cy="109728"/>
          </a:xfrm>
          <a:prstGeom prst="roundRect">
            <a:avLst/>
          </a:prstGeom>
          <a:solidFill>
            <a:srgbClr val="AFBED2"/>
          </a:solidFill>
          <a:ln>
            <a:solidFill>
              <a:srgbClr val="A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0" y="1874519"/>
            <a:ext cx="2103120" cy="475488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08592" y="2029967"/>
            <a:ext cx="347472" cy="146304"/>
          </a:xfrm>
          <a:prstGeom prst="round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4080" y="2029967"/>
            <a:ext cx="1234439" cy="109728"/>
          </a:xfrm>
          <a:prstGeom prst="roundRect">
            <a:avLst/>
          </a:prstGeom>
          <a:solidFill>
            <a:srgbClr val="AFBED2"/>
          </a:solidFill>
          <a:ln>
            <a:solidFill>
              <a:srgbClr val="A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2651760"/>
            <a:ext cx="26517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05672" y="2807208"/>
            <a:ext cx="347472" cy="146304"/>
          </a:xfrm>
          <a:prstGeom prst="round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59" y="2807208"/>
            <a:ext cx="1783080" cy="109728"/>
          </a:xfrm>
          <a:prstGeom prst="roundRect">
            <a:avLst/>
          </a:prstGeom>
          <a:solidFill>
            <a:srgbClr val="AFBED2"/>
          </a:solidFill>
          <a:ln>
            <a:solidFill>
              <a:srgbClr val="A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60" y="3429000"/>
            <a:ext cx="1920240" cy="475488"/>
          </a:xfrm>
          <a:prstGeom prst="roundRect">
            <a:avLst/>
          </a:prstGeom>
          <a:solidFill>
            <a:srgbClr val="E6EFFB"/>
          </a:solidFill>
          <a:ln>
            <a:solidFill>
              <a:srgbClr val="E6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45752" y="3584448"/>
            <a:ext cx="347472" cy="146304"/>
          </a:xfrm>
          <a:prstGeom prst="round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21240" y="3584448"/>
            <a:ext cx="1051560" cy="109728"/>
          </a:xfrm>
          <a:prstGeom prst="roundRect">
            <a:avLst/>
          </a:prstGeom>
          <a:solidFill>
            <a:srgbClr val="AFBED2"/>
          </a:solidFill>
          <a:ln>
            <a:solidFill>
              <a:srgbClr val="A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32520" y="4206240"/>
            <a:ext cx="24688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97112" y="4361688"/>
            <a:ext cx="347472" cy="146304"/>
          </a:xfrm>
          <a:prstGeom prst="round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72600" y="4361688"/>
            <a:ext cx="1600200" cy="109728"/>
          </a:xfrm>
          <a:prstGeom prst="roundRect">
            <a:avLst/>
          </a:prstGeom>
          <a:solidFill>
            <a:srgbClr val="AFBED2"/>
          </a:solidFill>
          <a:ln>
            <a:solidFill>
              <a:srgbClr val="AF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01｜项目背景：规模化管理成为下一阶段挑战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4262755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600"/>
              <a:t>从 Skill 创建，转向 Skill Library 的检索与治理</a:t>
            </a:r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554355" y="1765300"/>
            <a:ext cx="3429000" cy="1874520"/>
            <a:chOff x="1080" y="2232"/>
            <a:chExt cx="5400" cy="2952"/>
          </a:xfrm>
        </p:grpSpPr>
        <p:sp>
          <p:nvSpPr>
            <p:cNvPr id="6" name="Rounded Rectangle 5"/>
            <p:cNvSpPr/>
            <p:nvPr>
              <p:custDataLst>
                <p:tags r:id="rId2"/>
              </p:custDataLst>
            </p:nvPr>
          </p:nvSpPr>
          <p:spPr>
            <a:xfrm>
              <a:off x="1080" y="2232"/>
              <a:ext cx="5400" cy="295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>
              <p:custDataLst>
                <p:tags r:id="rId3"/>
              </p:custDataLst>
            </p:nvPr>
          </p:nvSpPr>
          <p:spPr>
            <a:xfrm>
              <a:off x="1080" y="2232"/>
              <a:ext cx="115" cy="2952"/>
            </a:xfrm>
            <a:prstGeom prst="rect">
              <a:avLst/>
            </a:prstGeom>
            <a:solidFill>
              <a:srgbClr val="3068BE"/>
            </a:solidFill>
            <a:ln>
              <a:solidFill>
                <a:srgbClr val="3068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>
              <p:custDataLst>
                <p:tags r:id="rId4"/>
              </p:custDataLst>
            </p:nvPr>
          </p:nvSpPr>
          <p:spPr>
            <a:xfrm>
              <a:off x="1397" y="2462"/>
              <a:ext cx="4824" cy="547"/>
            </a:xfrm>
            <a:prstGeom prst="rect">
              <a:avLst/>
            </a:prstGeom>
            <a:noFill/>
          </p:spPr>
          <p:txBody>
            <a:bodyPr wrap="none" lIns="36576" tIns="36576" rIns="36576" bIns="36576" anchor="t">
              <a:spAutoFit/>
            </a:bodyPr>
            <a:lstStyle/>
            <a:p>
              <a:pPr>
                <a:spcAft>
                  <a:spcPts val="700"/>
                </a:spcAft>
                <a:defRPr sz="1700" b="1">
                  <a:solidFill>
                    <a:srgbClr val="12223A"/>
                  </a:solidFill>
                  <a:latin typeface="微软雅黑" panose="020B0503020204020204" charset="-122"/>
                </a:defRPr>
              </a:pPr>
              <a:r>
                <a:t>从“能用”到“好用”</a:t>
              </a:r>
            </a:p>
          </p:txBody>
        </p:sp>
        <p:sp>
          <p:nvSpPr>
            <p:cNvPr id="9" name="TextBox 8"/>
            <p:cNvSpPr txBox="1"/>
            <p:nvPr>
              <p:custDataLst>
                <p:tags r:id="rId5"/>
              </p:custDataLst>
            </p:nvPr>
          </p:nvSpPr>
          <p:spPr>
            <a:xfrm>
              <a:off x="1397" y="3154"/>
              <a:ext cx="4973" cy="982"/>
            </a:xfrm>
            <a:prstGeom prst="rect">
              <a:avLst/>
            </a:prstGeom>
            <a:noFill/>
          </p:spPr>
          <p:txBody>
            <a:bodyPr wrap="none" lIns="36576" tIns="36576" rIns="36576" bIns="36576" anchor="t">
              <a:spAutoFit/>
            </a:bodyPr>
            <a:lstStyle/>
            <a:p>
              <a:pPr>
                <a:spcAft>
                  <a:spcPts val="700"/>
                </a:spcAft>
                <a:defRPr sz="1500" b="0">
                  <a:solidFill>
                    <a:srgbClr val="273242"/>
                  </a:solidFill>
                  <a:latin typeface="微软雅黑" panose="020B0503020204020204" charset="-122"/>
                </a:defRPr>
              </a:pPr>
              <a:r>
                <a:t>Agent 已从无技能走向可扩展技能；</a:t>
              </a:r>
            </a:p>
            <a:p>
              <a:pPr>
                <a:spcAft>
                  <a:spcPts val="700"/>
                </a:spcAft>
                <a:defRPr sz="1500" b="0">
                  <a:solidFill>
                    <a:srgbClr val="273242"/>
                  </a:solidFill>
                  <a:latin typeface="微软雅黑" panose="020B0503020204020204" charset="-122"/>
                </a:defRPr>
              </a:pPr>
              <a:r>
                <a:t>下一阶段挑战转向规模化管理。</a:t>
              </a:r>
            </a:p>
          </p:txBody>
        </p:sp>
      </p:grp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4389120" y="17653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4389120" y="1765300"/>
            <a:ext cx="73152" cy="1874519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4590288" y="1911604"/>
            <a:ext cx="30632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规模带来新瓶颈</a:t>
            </a: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4526788" y="2350516"/>
            <a:ext cx="3501390" cy="62357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技能越多，候选越相似；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元数据、检索与调度成本可能随之上升。</a:t>
            </a:r>
          </a:p>
        </p:txBody>
      </p:sp>
      <p:sp>
        <p:nvSpPr>
          <p:cNvPr id="14" name="Rounded Rectangle 13"/>
          <p:cNvSpPr/>
          <p:nvPr>
            <p:custDataLst>
              <p:tags r:id="rId10"/>
            </p:custDataLst>
          </p:nvPr>
        </p:nvSpPr>
        <p:spPr>
          <a:xfrm>
            <a:off x="8190230" y="17653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1"/>
            </p:custDataLst>
          </p:nvPr>
        </p:nvSpPr>
        <p:spPr>
          <a:xfrm>
            <a:off x="8190230" y="1765300"/>
            <a:ext cx="73152" cy="1874519"/>
          </a:xfrm>
          <a:prstGeom prst="rect">
            <a:avLst/>
          </a:prstGeom>
          <a:solidFill>
            <a:srgbClr val="ED9D45"/>
          </a:solidFill>
          <a:ln>
            <a:solidFill>
              <a:srgbClr val="ED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8391398" y="1911604"/>
            <a:ext cx="30632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核心判断</a:t>
            </a:r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8391398" y="2350516"/>
            <a:ext cx="3310890" cy="62357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人类可读的分类不等于机器高效检索；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组织方式需要直接服务任务匹配。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782819"/>
            <a:ext cx="7406640" cy="86995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研究问题：如何在大规模 Skill Library 中，</a:t>
            </a:r>
            <a:endParaRPr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  <a:p>
            <a:pPr algn="ctr">
              <a:spcAft>
                <a:spcPts val="700"/>
              </a:spcAft>
              <a:defRPr sz="23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缩小候选范围、减少技能误选，并持续维护技能可用性？</a:t>
            </a:r>
            <a:endParaRPr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02｜现状调研：现有机制解决了什么？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3861435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600"/>
              <a:t>对比 OpenAI 与 Claude 的 Skill 管理思路</a:t>
            </a:r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3474720"/>
          </a:xfrm>
          <a:prstGeom prst="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48920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OpenAI：偏平台化管理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02536"/>
            <a:ext cx="4892040" cy="2788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可视化创建与编辑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标签、视图和层级组织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安装、共享、更新等工作流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优势：易于管理和使用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3474720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63624"/>
            <a:ext cx="48920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Claude：文件体系与渐进式披露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02536"/>
            <a:ext cx="4892040" cy="2788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以 SKILL.md 为核心规范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可挂载脚本、参考资料等资源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先加载 name + description，命中后再加载完整内容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优势：按需加载，节约上下文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1024128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项目切入点：在渐进式披露之前，增加面向机器检索的 Skill Index。</a:t>
            </a:r>
            <a:endParaRPr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03｜问题定义：三个关键痛点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3729990" cy="3492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800"/>
              <a:t>从具体失效现象归纳出三类产品问题</a:t>
            </a:r>
            <a:endParaRPr sz="18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3291840"/>
          </a:xfrm>
          <a:prstGeom prst="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17904"/>
            <a:ext cx="3154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问题 1｜长对话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460" y="2179955"/>
            <a:ext cx="3118485" cy="238315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800"/>
              <a:t>旧 Skill 状态可能被错误继承；</a:t>
            </a:r>
            <a:endParaRPr sz="1800"/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800"/>
              <a:t>任务切换时缺少有效的终止与</a:t>
            </a:r>
            <a:endParaRPr sz="1800"/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800"/>
              <a:t>重路由判断。</a:t>
            </a:r>
            <a:endParaRPr sz="1800"/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73152" cy="3291840"/>
          </a:xfrm>
          <a:prstGeom prst="rect">
            <a:avLst/>
          </a:prstGeom>
          <a:solidFill>
            <a:srgbClr val="ED9D45"/>
          </a:solidFill>
          <a:ln>
            <a:solidFill>
              <a:srgbClr val="ED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17904"/>
            <a:ext cx="3154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问题 2｜技能冲突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585" y="2212975"/>
            <a:ext cx="3196590" cy="139319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2000"/>
              <a:t>功能相似、描述宽泛的 Skill 争夺调用机会；</a:t>
            </a:r>
            <a:endParaRPr sz="2000"/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2000"/>
              <a:t>垂直、适配度更高的技能可能被遮蔽。</a:t>
            </a:r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8001000" y="1371600"/>
            <a:ext cx="3520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71600"/>
            <a:ext cx="73152" cy="3291840"/>
          </a:xfrm>
          <a:prstGeom prst="rect">
            <a:avLst/>
          </a:prstGeom>
          <a:solidFill>
            <a:srgbClr val="CC5454"/>
          </a:solidFill>
          <a:ln>
            <a:solidFill>
              <a:srgbClr val="CC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517904"/>
            <a:ext cx="3154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问题 3｜更新滞后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815" y="2179955"/>
            <a:ext cx="4545330" cy="97599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2000"/>
              <a:t>外部 API 或参数结构变化，</a:t>
            </a:r>
            <a:endParaRPr sz="2000"/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2000"/>
              <a:t>但 Skill 描述未更新，</a:t>
            </a:r>
            <a:endParaRPr sz="2000"/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2000"/>
              <a:t>导致调用失败或参数幻觉。</a:t>
            </a:r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三类问题分别对应：状态治理｜检索治理｜健康与版本治理</a:t>
            </a:r>
            <a:endParaRPr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04｜用户与需求：谁在为什么问题买单？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3729990" cy="3492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800"/>
              <a:t>从技术问题映射到可理解的用户任务</a:t>
            </a:r>
            <a:endParaRPr sz="18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73152" cy="2148840"/>
          </a:xfrm>
          <a:prstGeom prst="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655063"/>
            <a:ext cx="288036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注册者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93976"/>
            <a:ext cx="2880360" cy="1463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新增 Skill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担心重复、边界不清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2148840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655063"/>
            <a:ext cx="288036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使用者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093976"/>
            <a:ext cx="2880360" cy="1463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检索 Skill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担心选错、不稳定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246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73152" cy="2148840"/>
          </a:xfrm>
          <a:prstGeom prst="rect">
            <a:avLst/>
          </a:prstGeom>
          <a:solidFill>
            <a:srgbClr val="ED9D45"/>
          </a:solidFill>
          <a:ln>
            <a:solidFill>
              <a:srgbClr val="ED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55063"/>
            <a:ext cx="288036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管理者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93976"/>
            <a:ext cx="2880360" cy="1463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维护 Skill 库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担心过期、难治理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194560"/>
            <a:ext cx="32004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2194560"/>
            <a:ext cx="32004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251960"/>
            <a:ext cx="9966960" cy="1051560"/>
          </a:xfrm>
          <a:prstGeom prst="roundRect">
            <a:avLst/>
          </a:prstGeom>
          <a:solidFill>
            <a:srgbClr val="E6EFFB"/>
          </a:solidFill>
          <a:ln>
            <a:solidFill>
              <a:srgbClr val="E6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共同需求：快速判断 Skill 是否合适、可用、边界清晰，并能持续改进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788025" cy="4876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05｜总体方案：索引 + 人</a:t>
            </a:r>
            <a:r>
              <a:rPr lang="zh-CN"/>
              <a:t>工</a:t>
            </a:r>
            <a:r>
              <a:rPr lang="zh-CN"/>
              <a:t>参与管理</a:t>
            </a:r>
            <a:endParaRPr lang="zh-CN"/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5882005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600"/>
              <a:t>AI-assisted Skill Indexing + Human-in-the-loop Governance</a:t>
            </a:r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390" y="1859915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269" y="2042794"/>
            <a:ext cx="5486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3A097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269" y="2454275"/>
            <a:ext cx="1093470" cy="37973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 sz="2000"/>
              <a:t>注册检测</a:t>
            </a:r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763269" y="3002915"/>
            <a:ext cx="2312035" cy="6540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600"/>
              <a:t>相似度检测</a:t>
            </a:r>
            <a:endParaRPr sz="1600"/>
          </a:p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600"/>
              <a:t>专有属性 / 负向触发条件</a:t>
            </a:r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3122421" y="2774315"/>
            <a:ext cx="32004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3068BE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0749" y="1859915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3630" y="2042794"/>
            <a:ext cx="5486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3A097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630" y="2454275"/>
            <a:ext cx="1093470" cy="37973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 sz="2000"/>
              <a:t>建立索引</a:t>
            </a:r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43630" y="3002915"/>
            <a:ext cx="2108835" cy="6540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600"/>
              <a:t>语义向量表征</a:t>
            </a:r>
            <a:endParaRPr sz="1600"/>
          </a:p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600"/>
              <a:t>多标签分类 / 重叠聚类</a:t>
            </a:r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6002781" y="2774315"/>
            <a:ext cx="32004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3068BE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1110" y="1859915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3990" y="2042794"/>
            <a:ext cx="5486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3A097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3990" y="2454275"/>
            <a:ext cx="1093470" cy="37973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 sz="2000"/>
              <a:t>检索调度</a:t>
            </a:r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6523990" y="3002915"/>
            <a:ext cx="1927860" cy="6540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600"/>
              <a:t>意图映射到类簇</a:t>
            </a:r>
            <a:endParaRPr sz="1600"/>
          </a:p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600"/>
              <a:t>渐进式披露 + Top-K</a:t>
            </a:r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8883142" y="2774315"/>
            <a:ext cx="32004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3068BE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1469" y="1859915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4349" y="2042794"/>
            <a:ext cx="5486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3A097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4349" y="2454275"/>
            <a:ext cx="1093470" cy="37973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 sz="2000"/>
              <a:t>持续治理</a:t>
            </a:r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9404349" y="3002915"/>
            <a:ext cx="1905635" cy="6540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600"/>
              <a:t>错误分级</a:t>
            </a:r>
            <a:endParaRPr sz="1600"/>
          </a:p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rPr sz="1600"/>
              <a:t>健康检查 / 人工复核</a:t>
            </a:r>
            <a:endParaRPr sz="1600"/>
          </a:p>
        </p:txBody>
      </p:sp>
      <p:sp>
        <p:nvSpPr>
          <p:cNvPr id="27" name="矩形 26"/>
          <p:cNvSpPr/>
          <p:nvPr/>
        </p:nvSpPr>
        <p:spPr>
          <a:xfrm>
            <a:off x="2871470" y="4901565"/>
            <a:ext cx="6112510" cy="79629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>
              <a:spcAft>
                <a:spcPts val="700"/>
              </a:spcAft>
              <a:defRPr sz="18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 sz="20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核心理念：AI 负责索引与发现，人负责审核与治</a:t>
            </a:r>
            <a:r>
              <a:rPr lang="zh-CN" sz="20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理</a:t>
            </a:r>
            <a:r>
              <a:rPr sz="20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；</a:t>
            </a:r>
            <a:endParaRPr sz="20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  <a:p>
            <a:pPr algn="ctr">
              <a:spcAft>
                <a:spcPts val="700"/>
              </a:spcAft>
              <a:defRPr sz="18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 sz="20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不是让 AI 无监督地自动改写整个技能库。</a:t>
            </a:r>
            <a:endParaRPr lang="zh-CN" altLang="en-US" sz="20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06｜关键机制一：注册防冲突与语义索引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99669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先把 Skill 组织好，减少后续检索中的竞争与混淆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3337560"/>
          </a:xfrm>
          <a:prstGeom prst="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63624"/>
            <a:ext cx="470915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注册阶段：防碰撞排他检查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02536"/>
            <a:ext cx="4709159" cy="2651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1. 对新 Skill 的 metadata 做向量相似度计算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2. 高相似时不直接上线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3. 要求补充消歧专有属性或 Negative Triggers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文档提出的初始阈值：相似度 &gt; 0.90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0749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3337560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563624"/>
            <a:ext cx="470915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索引阶段：多维语义组织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002536"/>
            <a:ext cx="4709159" cy="2651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按业务语义领域组织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按工具/操作载体组织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允许一个 Skill 属于多个类簇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支持重叠聚类，适配跨领域任务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1005840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CC5454"/>
                </a:solidFill>
                <a:latin typeface="微软雅黑" panose="020B0503020204020204" charset="-122"/>
              </a:defRPr>
            </a:pPr>
            <a:r>
              <a:t>注意：0.90 是方案中的初始设想，需通过数据验证，而非已证实的最佳阈值。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07｜关键机制二：索引辅助检索与调度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5393690" cy="3492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800"/>
              <a:t>Skill Index + Progressive Disclosure + 动态 Top-K</a:t>
            </a:r>
            <a:endParaRPr sz="18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165" y="2084831"/>
            <a:ext cx="885190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用户任务</a:t>
            </a:r>
            <a:endParaRPr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2965" y="2560320"/>
            <a:ext cx="1291590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600"/>
              <a:t>自然语言指令</a:t>
            </a:r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2496312" y="2331720"/>
            <a:ext cx="292608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3A09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82880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3750" y="2084831"/>
            <a:ext cx="885190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意图解析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365" y="2560320"/>
            <a:ext cx="1494790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600"/>
              <a:t>识别目标与约束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4782312" y="2331720"/>
            <a:ext cx="292608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3A09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9750" y="2084831"/>
            <a:ext cx="885190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索引粗筛</a:t>
            </a:r>
            <a:endParaRPr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34965" y="2560320"/>
            <a:ext cx="1291590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600"/>
              <a:t>映射语义类簇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7068312" y="2331720"/>
            <a:ext cx="292608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3A09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82880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2565" y="2084831"/>
            <a:ext cx="1088390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细粒度匹配</a:t>
            </a:r>
            <a:endParaRPr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04430" y="2560320"/>
            <a:ext cx="1724660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600"/>
              <a:t>负向规则 + Top-K</a:t>
            </a:r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9354312" y="2331720"/>
            <a:ext cx="292608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3A09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1828800"/>
            <a:ext cx="2011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10165" y="2084831"/>
            <a:ext cx="885190" cy="31813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按需加载</a:t>
            </a:r>
            <a:endParaRPr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81528" y="2560320"/>
            <a:ext cx="1942465" cy="28765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400"/>
              <a:t>加载命中 Skill 完整说明</a:t>
            </a:r>
            <a:endParaRPr sz="1400"/>
          </a:p>
        </p:txBody>
      </p:sp>
      <p:sp>
        <p:nvSpPr>
          <p:cNvPr id="25" name="Rounded Rectangle 24"/>
          <p:cNvSpPr/>
          <p:nvPr/>
        </p:nvSpPr>
        <p:spPr>
          <a:xfrm>
            <a:off x="960120" y="4160520"/>
            <a:ext cx="10195560" cy="914400"/>
          </a:xfrm>
          <a:prstGeom prst="round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389120"/>
            <a:ext cx="9646920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预期收益：减少候选集与无关上下文，提升匹配精度；复合任务可组合多个垂直 Skill。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977765" cy="4876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08｜关键机制三：人</a:t>
            </a:r>
            <a:r>
              <a:rPr lang="zh-CN"/>
              <a:t>工</a:t>
            </a:r>
            <a:r>
              <a:rPr lang="zh-CN"/>
              <a:t>参与管理</a:t>
            </a:r>
            <a:endParaRPr lang="zh-CN"/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5380355" cy="3492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800"/>
              <a:t>按错误发生层级定位，而不是一出错就重做整个 Skill</a:t>
            </a:r>
            <a:endParaRPr sz="18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3383280"/>
          </a:xfrm>
          <a:prstGeom prst="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17904"/>
            <a:ext cx="3154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Skill 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56816"/>
            <a:ext cx="2929890" cy="1264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现象：技能自身报错率高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动作：按月统计错误，超过阈值后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检查 Skill 内容、接口和描述。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73152" cy="3383280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17904"/>
            <a:ext cx="3154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Cluster 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56816"/>
            <a:ext cx="3161665" cy="1264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现象：类别划分或命名不合理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动作：检查命名不统一、Scope 过宽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和语义贪婪。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7160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71600"/>
            <a:ext cx="73152" cy="3383280"/>
          </a:xfrm>
          <a:prstGeom prst="rect">
            <a:avLst/>
          </a:prstGeom>
          <a:solidFill>
            <a:srgbClr val="ED9D45"/>
          </a:solidFill>
          <a:ln>
            <a:solidFill>
              <a:srgbClr val="ED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517904"/>
            <a:ext cx="315468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Retrieval 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956816"/>
            <a:ext cx="3120390" cy="1264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现象：检索选错或召回不足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动作：使用 Negative Examples、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分析高错误类别，并交由人工复核。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100584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异常发现 → 定位层级 → 提出建议 → 人工确认 → 更新与复测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09｜MVP 范围：先验证核心价值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3754755" cy="3492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800"/>
              <a:t>使用 MoSCoW 对功能做优先级划分</a:t>
            </a:r>
            <a:endParaRPr sz="18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3383280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1790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Must｜第一版必需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518" y="2316226"/>
            <a:ext cx="3017520" cy="2697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Metadata 基础检查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版本/更新时间检查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Skill 链接或 API 可用性检查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风险报告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3383280"/>
          </a:xfrm>
          <a:prstGeom prst="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1790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Should｜建议后续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153" y="2316226"/>
            <a:ext cx="3017520" cy="2697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Skill 冲突/重复检测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长对话稳定性测试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3383280"/>
          </a:xfrm>
          <a:prstGeom prst="rect">
            <a:avLst/>
          </a:prstGeom>
          <a:solidFill>
            <a:srgbClr val="ED9D45"/>
          </a:solidFill>
          <a:ln>
            <a:solidFill>
              <a:srgbClr val="ED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17904"/>
            <a:ext cx="301752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Could / Won't｜暂缓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2173" y="2316226"/>
            <a:ext cx="3017520" cy="2697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自动修改 metadata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自动更新或修复 Skill</a:t>
            </a:r>
          </a:p>
          <a:p>
            <a:pPr>
              <a:spcAft>
                <a:spcPts val="700"/>
              </a:spcAft>
              <a:defRPr sz="15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自动重新训练模型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10058400" cy="5943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MVP 原则：先做“发现问题、解释问题、给出建议”，再逐步扩展自动修复。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10｜MVP 验证：实验如何设计？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4415790" cy="3492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800"/>
              <a:t>比较全量工具暴露与索引筛选后的检索表现</a:t>
            </a:r>
            <a:endParaRPr sz="18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58368" y="1508760"/>
            <a:ext cx="254203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658368" y="1508760"/>
            <a:ext cx="73152" cy="2468880"/>
          </a:xfrm>
          <a:prstGeom prst="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59536" y="1655063"/>
            <a:ext cx="2176272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测试集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859536" y="2093976"/>
            <a:ext cx="2176272" cy="1783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GAIA 风格业务诉求</a:t>
            </a:r>
          </a:p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1–20 轮不同深度</a:t>
            </a: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3538728" y="1508760"/>
            <a:ext cx="254203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3538728" y="1508760"/>
            <a:ext cx="73152" cy="2468880"/>
          </a:xfrm>
          <a:prstGeom prst="rect">
            <a:avLst/>
          </a:prstGeom>
          <a:solidFill>
            <a:srgbClr val="ED9D45"/>
          </a:solidFill>
          <a:ln>
            <a:solidFill>
              <a:srgbClr val="ED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3739896" y="1655063"/>
            <a:ext cx="2176272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对照组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3739896" y="2093976"/>
            <a:ext cx="2176272" cy="1783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Gemini 3.1</a:t>
            </a:r>
          </a:p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一次暴露 79 个工具</a:t>
            </a:r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6419088" y="1508760"/>
            <a:ext cx="254203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6419088" y="1508760"/>
            <a:ext cx="73152" cy="2468880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6620255" y="1655063"/>
            <a:ext cx="2176272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实验组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6620510" y="2094230"/>
            <a:ext cx="2250440" cy="9639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Skill Index</a:t>
            </a:r>
          </a:p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语义粗筛 + 负向规则 + Top-4</a:t>
            </a:r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9299448" y="1508760"/>
            <a:ext cx="2542032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9299448" y="1508760"/>
            <a:ext cx="73152" cy="2468880"/>
          </a:xfrm>
          <a:prstGeom prst="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9500616" y="1655063"/>
            <a:ext cx="2176272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记录指标</a:t>
            </a: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9500616" y="2093976"/>
            <a:ext cx="2176272" cy="1783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错误状态、耗时、Token</a:t>
            </a:r>
          </a:p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与工具命中情况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241280" cy="7772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控制重点：跨轮次递增、相似干扰技能、独立调用采样、全流程留痕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11｜实验结果：初步显示长对话抗干扰潜力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4415790" cy="3492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800"/>
              <a:t>关键会话深度的对照数据（取自方案文档）</a:t>
            </a:r>
            <a:endParaRPr sz="18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057400" cy="530352"/>
          </a:xfrm>
          <a:prstGeom prst="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9659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会话深度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371600"/>
            <a:ext cx="2423160" cy="530352"/>
          </a:xfrm>
          <a:prstGeom prst="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444752"/>
            <a:ext cx="233172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全量 79 工具错误率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9" y="1371600"/>
            <a:ext cx="2240280" cy="530352"/>
          </a:xfrm>
          <a:prstGeom prst="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799" y="1444752"/>
            <a:ext cx="214884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SIS Top-4 错误率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59" y="1371600"/>
            <a:ext cx="1828800" cy="530352"/>
          </a:xfrm>
          <a:prstGeom prst="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444752"/>
            <a:ext cx="17373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对照组耗时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59" y="1371600"/>
            <a:ext cx="1828800" cy="530352"/>
          </a:xfrm>
          <a:prstGeom prst="rect">
            <a:avLst/>
          </a:prstGeom>
          <a:solidFill>
            <a:srgbClr val="12223A"/>
          </a:solidFill>
          <a:ln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444752"/>
            <a:ext cx="17373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SIS 耗时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938528"/>
            <a:ext cx="2057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011680"/>
            <a:ext cx="19659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第 8 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1938528"/>
            <a:ext cx="2423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39" y="2011680"/>
            <a:ext cx="233172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79" y="1938528"/>
            <a:ext cx="2240280" cy="530352"/>
          </a:xfrm>
          <a:prstGeom prst="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799" y="2011680"/>
            <a:ext cx="214884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59" y="1938528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011680"/>
            <a:ext cx="17373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636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59" y="1938528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011680"/>
            <a:ext cx="17373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924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505456"/>
            <a:ext cx="2057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578608"/>
            <a:ext cx="19659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第 10 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2505456"/>
            <a:ext cx="2423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39" y="2578608"/>
            <a:ext cx="233172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66.7%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2505456"/>
            <a:ext cx="2240280" cy="530352"/>
          </a:xfrm>
          <a:prstGeom prst="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799" y="2578608"/>
            <a:ext cx="214884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59" y="2505456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2578608"/>
            <a:ext cx="17373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583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59" y="2505456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2578608"/>
            <a:ext cx="17373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1,035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072384"/>
            <a:ext cx="2057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145536"/>
            <a:ext cx="19659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第 15 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3072384"/>
            <a:ext cx="2423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39" y="3145536"/>
            <a:ext cx="233172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79" y="3072384"/>
            <a:ext cx="2240280" cy="530352"/>
          </a:xfrm>
          <a:prstGeom prst="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799" y="3145536"/>
            <a:ext cx="214884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59" y="3072384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3145536"/>
            <a:ext cx="17373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1,209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59" y="3072384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145536"/>
            <a:ext cx="17373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1,611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639312"/>
            <a:ext cx="2057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3712463"/>
            <a:ext cx="19659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第 20 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88920" y="3639312"/>
            <a:ext cx="2423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39" y="3712463"/>
            <a:ext cx="233172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33.3%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79" y="3639312"/>
            <a:ext cx="2240280" cy="530352"/>
          </a:xfrm>
          <a:prstGeom prst="rect">
            <a:avLst/>
          </a:prstGeom>
          <a:solidFill>
            <a:srgbClr val="E0F5F2"/>
          </a:solidFill>
          <a:ln>
            <a:solidFill>
              <a:srgbClr val="E0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799" y="3712463"/>
            <a:ext cx="214884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59" y="3639312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3712463"/>
            <a:ext cx="17373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6,856 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81159" y="3639312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3712463"/>
            <a:ext cx="1737360" cy="45720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1,137 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4572000"/>
            <a:ext cx="10469880" cy="749808"/>
          </a:xfrm>
          <a:prstGeom prst="roundRect">
            <a:avLst/>
          </a:prstGeom>
          <a:solidFill>
            <a:srgbClr val="E6EFFB"/>
          </a:solidFill>
          <a:ln>
            <a:solidFill>
              <a:srgbClr val="E6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4745736"/>
            <a:ext cx="1001268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报告结果：SIS 组在这些测试点错误率为 0%；第 20 轮耗时明显低于对照组。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486400"/>
            <a:ext cx="1042416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CC5454"/>
                </a:solidFill>
                <a:latin typeface="微软雅黑" panose="020B0503020204020204" charset="-122"/>
              </a:defRPr>
            </a:pPr>
            <a:r>
              <a:t>解读边界：样本规模与重复次数有限，结果支持继续验证，不等于已证明普遍有效。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12｜局限与下一步：把假设变成证据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3501390" cy="3492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800"/>
              <a:t>明确现阶段边界，规划下一轮验证</a:t>
            </a:r>
            <a:endParaRPr sz="18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31520" y="1417320"/>
            <a:ext cx="50749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731520" y="1417320"/>
            <a:ext cx="73152" cy="3337560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932688" y="1563624"/>
            <a:ext cx="470915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当前结果能支持什么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968883" y="2514346"/>
            <a:ext cx="4709159" cy="2651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方案具备可实现的技术路径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Top-K 候选裁剪有初步正向信号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错误分级为治理提供了结构</a:t>
            </a: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6217920" y="1417320"/>
            <a:ext cx="50749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17920" y="1417320"/>
            <a:ext cx="73152" cy="3337560"/>
          </a:xfrm>
          <a:prstGeom prst="rect">
            <a:avLst/>
          </a:prstGeom>
          <a:solidFill>
            <a:srgbClr val="ED9D45"/>
          </a:solidFill>
          <a:ln>
            <a:solidFill>
              <a:srgbClr val="ED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419088" y="1563624"/>
            <a:ext cx="4709159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下一步必须验证什么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419088" y="2514346"/>
            <a:ext cx="4709159" cy="2651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扩大 Skill 数量与任务样本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增加独立重复，报告均值与方差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验证 0.90 阈值与 Top-K 大小</a:t>
            </a:r>
          </a:p>
          <a:p>
            <a:pPr>
              <a:spcAft>
                <a:spcPts val="700"/>
              </a:spcAft>
              <a:defRPr sz="16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• 对比不同模型与真实 API 漂移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将“设计假设”与“实验发现”分开报告，避免过度外推。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13｜总结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685800" cy="54864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4752" y="832104"/>
            <a:ext cx="2129790" cy="34925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rPr sz="1800"/>
              <a:t>方案价值与核心贡献</a:t>
            </a:r>
            <a:endParaRPr sz="180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677488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3A097"/>
                </a:solidFill>
                <a:latin typeface="微软雅黑" panose="020B0503020204020204" charset="-122"/>
              </a:defRPr>
            </a:pPr>
            <a:r>
              <a:t>一句话总结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58400" cy="10515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用 Skill Index 缩小检索空间，</a:t>
            </a:r>
          </a:p>
          <a:p>
            <a:pPr algn="ctr">
              <a:spcAft>
                <a:spcPts val="700"/>
              </a:spcAft>
              <a:defRPr sz="2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用人在回路机制保障持续治理。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73152" cy="1325880"/>
          </a:xfrm>
          <a:prstGeom prst="rect">
            <a:avLst/>
          </a:prstGeom>
          <a:solidFill>
            <a:srgbClr val="3068BE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803904"/>
            <a:ext cx="27432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更准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42816"/>
            <a:ext cx="2743200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语义索引 + 负向消歧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65760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3657600"/>
            <a:ext cx="73152" cy="1325880"/>
          </a:xfrm>
          <a:prstGeom prst="rect">
            <a:avLst/>
          </a:prstGeom>
          <a:solidFill>
            <a:srgbClr val="23A097"/>
          </a:solidFill>
          <a:ln>
            <a:solidFill>
              <a:srgbClr val="23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3803904"/>
            <a:ext cx="27432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更稳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4242816"/>
            <a:ext cx="2743200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长对话测试 + 分级报错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65760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3657600"/>
            <a:ext cx="73152" cy="1325880"/>
          </a:xfrm>
          <a:prstGeom prst="rect">
            <a:avLst/>
          </a:prstGeom>
          <a:solidFill>
            <a:srgbClr val="ED9D45"/>
          </a:solidFill>
          <a:ln>
            <a:solidFill>
              <a:srgbClr val="ED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803904"/>
            <a:ext cx="274320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223A"/>
                </a:solidFill>
                <a:latin typeface="微软雅黑" panose="020B0503020204020204" charset="-122"/>
              </a:defRPr>
            </a:pPr>
            <a:r>
              <a:t>可维护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242816"/>
            <a:ext cx="2743200" cy="6400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73242"/>
                </a:solidFill>
                <a:latin typeface="微软雅黑" panose="020B0503020204020204" charset="-122"/>
              </a:defRPr>
            </a:pPr>
            <a:r>
              <a:t>健康检查 + 人工复核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2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3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4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5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6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7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8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9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10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11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12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13.xml><?xml version="1.0" encoding="utf-8"?>
<p:tagLst xmlns:p="http://schemas.openxmlformats.org/presentationml/2006/main">
  <p:tag name="KSO_WM_DIAGRAM_VIRTUALLY_FRAME" val="{&quot;height&quot;:208,&quot;left&quot;:43.65,&quot;top&quot;:111.6,&quot;width&quot;:877.79}"/>
</p:tagLst>
</file>

<file path=ppt/tags/tag14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15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16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17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18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19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20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21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22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23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24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25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26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27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28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29.xml><?xml version="1.0" encoding="utf-8"?>
<p:tagLst xmlns:p="http://schemas.openxmlformats.org/presentationml/2006/main">
  <p:tag name="KSO_WM_DIAGRAM_VIRTUALLY_FRAME" val="{&quot;height&quot;:194.4,&quot;left&quot;:51.839999999999996,&quot;top&quot;:118.8,&quot;width&quot;:880.5600000000001}"/>
</p:tagLst>
</file>

<file path=ppt/tags/tag30.xml><?xml version="1.0" encoding="utf-8"?>
<p:tagLst xmlns:p="http://schemas.openxmlformats.org/presentationml/2006/main">
  <p:tag name="KSO_WM_DIAGRAM_VIRTUALLY_FRAME" val="{&quot;height&quot;:295.18,&quot;left&quot;:57.6,&quot;top&quot;:111.6,&quot;width&quot;:831.6}"/>
</p:tagLst>
</file>

<file path=ppt/tags/tag31.xml><?xml version="1.0" encoding="utf-8"?>
<p:tagLst xmlns:p="http://schemas.openxmlformats.org/presentationml/2006/main">
  <p:tag name="KSO_WM_DIAGRAM_VIRTUALLY_FRAME" val="{&quot;height&quot;:295.18,&quot;left&quot;:57.6,&quot;top&quot;:111.6,&quot;width&quot;:831.6}"/>
</p:tagLst>
</file>

<file path=ppt/tags/tag32.xml><?xml version="1.0" encoding="utf-8"?>
<p:tagLst xmlns:p="http://schemas.openxmlformats.org/presentationml/2006/main">
  <p:tag name="KSO_WM_DIAGRAM_VIRTUALLY_FRAME" val="{&quot;height&quot;:295.18,&quot;left&quot;:57.6,&quot;top&quot;:111.6,&quot;width&quot;:831.6}"/>
</p:tagLst>
</file>

<file path=ppt/tags/tag33.xml><?xml version="1.0" encoding="utf-8"?>
<p:tagLst xmlns:p="http://schemas.openxmlformats.org/presentationml/2006/main">
  <p:tag name="KSO_WM_DIAGRAM_VIRTUALLY_FRAME" val="{&quot;height&quot;:295.18,&quot;left&quot;:57.6,&quot;top&quot;:111.6,&quot;width&quot;:831.6}"/>
</p:tagLst>
</file>

<file path=ppt/tags/tag34.xml><?xml version="1.0" encoding="utf-8"?>
<p:tagLst xmlns:p="http://schemas.openxmlformats.org/presentationml/2006/main">
  <p:tag name="KSO_WM_DIAGRAM_VIRTUALLY_FRAME" val="{&quot;height&quot;:295.18,&quot;left&quot;:57.6,&quot;top&quot;:111.6,&quot;width&quot;:831.6}"/>
</p:tagLst>
</file>

<file path=ppt/tags/tag35.xml><?xml version="1.0" encoding="utf-8"?>
<p:tagLst xmlns:p="http://schemas.openxmlformats.org/presentationml/2006/main">
  <p:tag name="KSO_WM_DIAGRAM_VIRTUALLY_FRAME" val="{&quot;height&quot;:295.18,&quot;left&quot;:57.6,&quot;top&quot;:111.6,&quot;width&quot;:831.6}"/>
</p:tagLst>
</file>

<file path=ppt/tags/tag36.xml><?xml version="1.0" encoding="utf-8"?>
<p:tagLst xmlns:p="http://schemas.openxmlformats.org/presentationml/2006/main">
  <p:tag name="KSO_WM_DIAGRAM_VIRTUALLY_FRAME" val="{&quot;height&quot;:295.18,&quot;left&quot;:57.6,&quot;top&quot;:111.6,&quot;width&quot;:831.6}"/>
</p:tagLst>
</file>

<file path=ppt/tags/tag37.xml><?xml version="1.0" encoding="utf-8"?>
<p:tagLst xmlns:p="http://schemas.openxmlformats.org/presentationml/2006/main">
  <p:tag name="KSO_WM_DIAGRAM_VIRTUALLY_FRAME" val="{&quot;height&quot;:295.18,&quot;left&quot;:57.6,&quot;top&quot;:111.6,&quot;width&quot;:831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2797</Words>
  <Application>WPS 演示</Application>
  <PresentationFormat>On-screen Show (4:3)</PresentationFormat>
  <Paragraphs>400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华文仿宋</vt:lpstr>
      <vt:lpstr>仿宋</vt:lpstr>
      <vt:lpstr>Calibri</vt:lpstr>
      <vt:lpstr>Arial Unicode MS</vt:lpstr>
      <vt:lpstr>KSOF0B79BE30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一叶之秋</cp:lastModifiedBy>
  <cp:revision>4</cp:revision>
  <dcterms:created xsi:type="dcterms:W3CDTF">2013-01-27T09:14:00Z</dcterms:created>
  <dcterms:modified xsi:type="dcterms:W3CDTF">2026-10-12T03:22:33Z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FD7C6C9B62F447B19E478BE0848C4542_13</vt:lpwstr>
  </property>
</Properties>
</file>